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Poppins Semi-Bold" charset="1" panose="00000700000000000000"/>
      <p:regular r:id="rId12"/>
    </p:embeddedFont>
    <p:embeddedFont>
      <p:font typeface="Poppins Medium" charset="1" panose="00000600000000000000"/>
      <p:regular r:id="rId13"/>
    </p:embeddedFont>
    <p:embeddedFont>
      <p:font typeface="Poppins" charset="1" panose="00000500000000000000"/>
      <p:regular r:id="rId14"/>
    </p:embeddedFont>
    <p:embeddedFont>
      <p:font typeface="Poppins Light" charset="1" panose="00000400000000000000"/>
      <p:regular r:id="rId15"/>
    </p:embeddedFont>
    <p:embeddedFont>
      <p:font typeface="IBM Plex Sans" charset="1" panose="020B05030502030002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E3D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210525" y="5138738"/>
            <a:ext cx="18709051" cy="0"/>
          </a:xfrm>
          <a:prstGeom prst="line">
            <a:avLst/>
          </a:prstGeom>
          <a:ln cap="flat" w="9525">
            <a:solidFill>
              <a:srgbClr val="4E73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-210525" y="9850647"/>
            <a:ext cx="18709051" cy="0"/>
          </a:xfrm>
          <a:prstGeom prst="line">
            <a:avLst/>
          </a:prstGeom>
          <a:ln cap="flat" w="9525">
            <a:solidFill>
              <a:srgbClr val="4E73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210525" y="436353"/>
            <a:ext cx="18709051" cy="0"/>
          </a:xfrm>
          <a:prstGeom prst="line">
            <a:avLst/>
          </a:prstGeom>
          <a:ln cap="flat" w="9525">
            <a:solidFill>
              <a:srgbClr val="4E73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333148" y="-2672206"/>
            <a:ext cx="15631411" cy="1563141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3DC6"/>
            </a:solidFill>
            <a:ln w="9525" cap="sq">
              <a:solidFill>
                <a:srgbClr val="4E73E1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68955" y="4365307"/>
            <a:ext cx="13950091" cy="1449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42"/>
              </a:lnSpc>
            </a:pPr>
            <a:r>
              <a:rPr lang="en-US" b="true" sz="4819" spc="-86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Köklerden Göklere</a:t>
            </a:r>
          </a:p>
          <a:p>
            <a:pPr algn="ctr" marL="0" indent="0" lvl="0">
              <a:lnSpc>
                <a:spcPts val="5542"/>
              </a:lnSpc>
            </a:pPr>
            <a:r>
              <a:rPr lang="en-US" b="true" sz="4819" spc="-86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Eğitimi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999445" y="9719199"/>
            <a:ext cx="289110" cy="145735"/>
            <a:chOff x="0" y="0"/>
            <a:chExt cx="385480" cy="194313"/>
          </a:xfrm>
        </p:grpSpPr>
        <p:sp>
          <p:nvSpPr>
            <p:cNvPr name="AutoShape 10" id="10"/>
            <p:cNvSpPr/>
            <p:nvPr/>
          </p:nvSpPr>
          <p:spPr>
            <a:xfrm rot="0">
              <a:off x="0" y="181613"/>
              <a:ext cx="385480" cy="0"/>
            </a:xfrm>
            <a:prstGeom prst="line">
              <a:avLst/>
            </a:prstGeom>
            <a:ln cap="flat" w="12700">
              <a:solidFill>
                <a:srgbClr val="4E73E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 rot="-5400000">
              <a:off x="105109" y="87632"/>
              <a:ext cx="187963" cy="0"/>
            </a:xfrm>
            <a:prstGeom prst="line">
              <a:avLst/>
            </a:prstGeom>
            <a:ln cap="flat" w="12700">
              <a:solidFill>
                <a:srgbClr val="4E73E1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2" id="12"/>
          <p:cNvGrpSpPr/>
          <p:nvPr/>
        </p:nvGrpSpPr>
        <p:grpSpPr>
          <a:xfrm rot="-10800000">
            <a:off x="8999445" y="436353"/>
            <a:ext cx="289110" cy="145735"/>
            <a:chOff x="0" y="0"/>
            <a:chExt cx="385480" cy="194313"/>
          </a:xfrm>
        </p:grpSpPr>
        <p:sp>
          <p:nvSpPr>
            <p:cNvPr name="AutoShape 13" id="13"/>
            <p:cNvSpPr/>
            <p:nvPr/>
          </p:nvSpPr>
          <p:spPr>
            <a:xfrm rot="0">
              <a:off x="0" y="181613"/>
              <a:ext cx="385480" cy="0"/>
            </a:xfrm>
            <a:prstGeom prst="line">
              <a:avLst/>
            </a:prstGeom>
            <a:ln cap="flat" w="12700">
              <a:solidFill>
                <a:srgbClr val="4E73E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 rot="-5400000">
              <a:off x="105109" y="87632"/>
              <a:ext cx="187963" cy="0"/>
            </a:xfrm>
            <a:prstGeom prst="line">
              <a:avLst/>
            </a:prstGeom>
            <a:ln cap="flat" w="12700">
              <a:solidFill>
                <a:srgbClr val="4E73E1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5431418" y="1447800"/>
            <a:ext cx="7425164" cy="36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2"/>
              </a:lnSpc>
              <a:spcBef>
                <a:spcPct val="0"/>
              </a:spcBef>
            </a:pPr>
            <a:r>
              <a:rPr lang="en-US" b="true" sz="2058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Teknofest Milli Teknoloji Akademisi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36271" y="8244205"/>
            <a:ext cx="7425164" cy="36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2"/>
              </a:lnSpc>
              <a:spcBef>
                <a:spcPct val="0"/>
              </a:spcBef>
            </a:pPr>
            <a:r>
              <a:rPr lang="en-US" sz="2058" spc="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Eğitim Haftası: __________ | Eğitmen: __________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36271" y="3748588"/>
            <a:ext cx="7425164" cy="36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2"/>
              </a:lnSpc>
              <a:spcBef>
                <a:spcPct val="0"/>
              </a:spcBef>
            </a:pPr>
            <a:r>
              <a:rPr lang="en-US" sz="2058" spc="82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Ulusal Teknoloji Eğitim Programı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210525" y="5138738"/>
            <a:ext cx="18709051" cy="0"/>
          </a:xfrm>
          <a:prstGeom prst="line">
            <a:avLst/>
          </a:prstGeom>
          <a:ln cap="flat" w="95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-210525" y="9850647"/>
            <a:ext cx="18709051" cy="0"/>
          </a:xfrm>
          <a:prstGeom prst="line">
            <a:avLst/>
          </a:prstGeom>
          <a:ln cap="flat" w="95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210525" y="436353"/>
            <a:ext cx="18709051" cy="0"/>
          </a:xfrm>
          <a:prstGeom prst="line">
            <a:avLst/>
          </a:prstGeom>
          <a:ln cap="flat" w="95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333148" y="-2672206"/>
            <a:ext cx="15631411" cy="1563141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99445" y="9719199"/>
            <a:ext cx="289110" cy="145735"/>
            <a:chOff x="0" y="0"/>
            <a:chExt cx="385480" cy="194313"/>
          </a:xfrm>
        </p:grpSpPr>
        <p:sp>
          <p:nvSpPr>
            <p:cNvPr name="AutoShape 9" id="9"/>
            <p:cNvSpPr/>
            <p:nvPr/>
          </p:nvSpPr>
          <p:spPr>
            <a:xfrm rot="0">
              <a:off x="0" y="181613"/>
              <a:ext cx="385480" cy="0"/>
            </a:xfrm>
            <a:prstGeom prst="line">
              <a:avLst/>
            </a:prstGeom>
            <a:ln cap="flat" w="12700">
              <a:solidFill>
                <a:srgbClr val="D9D9D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 rot="-5400000">
              <a:off x="105109" y="87632"/>
              <a:ext cx="187963" cy="0"/>
            </a:xfrm>
            <a:prstGeom prst="line">
              <a:avLst/>
            </a:prstGeom>
            <a:ln cap="flat" w="12700">
              <a:solidFill>
                <a:srgbClr val="D9D9D9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1" id="11"/>
          <p:cNvGrpSpPr/>
          <p:nvPr/>
        </p:nvGrpSpPr>
        <p:grpSpPr>
          <a:xfrm rot="-10800000">
            <a:off x="8999445" y="436353"/>
            <a:ext cx="289110" cy="145735"/>
            <a:chOff x="0" y="0"/>
            <a:chExt cx="385480" cy="194313"/>
          </a:xfrm>
        </p:grpSpPr>
        <p:sp>
          <p:nvSpPr>
            <p:cNvPr name="AutoShape 12" id="12"/>
            <p:cNvSpPr/>
            <p:nvPr/>
          </p:nvSpPr>
          <p:spPr>
            <a:xfrm rot="0">
              <a:off x="0" y="181613"/>
              <a:ext cx="385480" cy="0"/>
            </a:xfrm>
            <a:prstGeom prst="line">
              <a:avLst/>
            </a:prstGeom>
            <a:ln cap="flat" w="12700">
              <a:solidFill>
                <a:srgbClr val="D9D9D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 rot="-5400000">
              <a:off x="105109" y="87632"/>
              <a:ext cx="187963" cy="0"/>
            </a:xfrm>
            <a:prstGeom prst="line">
              <a:avLst/>
            </a:prstGeom>
            <a:ln cap="flat" w="12700">
              <a:solidFill>
                <a:srgbClr val="D9D9D9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2168955" y="2845711"/>
            <a:ext cx="13950091" cy="290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032"/>
              </a:lnSpc>
            </a:pPr>
            <a:r>
              <a:rPr lang="en-US" b="true" sz="9593" spc="-172">
                <a:solidFill>
                  <a:srgbClr val="181B2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Köklerden Göklere</a:t>
            </a:r>
          </a:p>
          <a:p>
            <a:pPr algn="ctr" marL="0" indent="0" lvl="0">
              <a:lnSpc>
                <a:spcPts val="11032"/>
              </a:lnSpc>
            </a:pPr>
            <a:r>
              <a:rPr lang="en-US" b="true" sz="9593" spc="-172">
                <a:solidFill>
                  <a:srgbClr val="181B2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Eğitim ile Yükseliyoruz.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36131" y="6302330"/>
            <a:ext cx="12425445" cy="968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20"/>
              </a:lnSpc>
              <a:spcBef>
                <a:spcPct val="0"/>
              </a:spcBef>
            </a:pPr>
            <a:r>
              <a:rPr lang="en-US" sz="2728" spc="54">
                <a:solidFill>
                  <a:srgbClr val="181B21"/>
                </a:solidFill>
                <a:latin typeface="Poppins"/>
                <a:ea typeface="Poppins"/>
                <a:cs typeface="Poppins"/>
                <a:sym typeface="Poppins"/>
              </a:rPr>
              <a:t>Milli teknoloji vizyonuyla tasarlanan bu program; katılımcılara temel bilimden ileri teknolojiye uzanan kapsamlı bir eğitim yolculuğu sunar.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01673" y="9167227"/>
            <a:ext cx="592347" cy="44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683"/>
              </a:lnSpc>
            </a:pPr>
            <a:r>
              <a:rPr lang="en-US" sz="2046" spc="40">
                <a:solidFill>
                  <a:srgbClr val="737373"/>
                </a:solidFill>
                <a:latin typeface="Poppins Light"/>
                <a:ea typeface="Poppins Light"/>
                <a:cs typeface="Poppins Light"/>
                <a:sym typeface="Poppins Light"/>
              </a:rPr>
              <a:t>2</a:t>
            </a:r>
          </a:p>
        </p:txBody>
      </p:sp>
      <p:sp>
        <p:nvSpPr>
          <p:cNvPr name="AutoShape 17" id="17"/>
          <p:cNvSpPr/>
          <p:nvPr/>
        </p:nvSpPr>
        <p:spPr>
          <a:xfrm flipV="true">
            <a:off x="-645424" y="1033462"/>
            <a:ext cx="1893342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5627636" y="127426"/>
            <a:ext cx="1304776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Eğitmen Adı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627636" y="553513"/>
            <a:ext cx="1336923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Eğitim Tarihi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8294" y="338088"/>
            <a:ext cx="1458962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Eğitim Başlığı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210525" y="5138738"/>
            <a:ext cx="18709051" cy="0"/>
          </a:xfrm>
          <a:prstGeom prst="line">
            <a:avLst/>
          </a:prstGeom>
          <a:ln cap="flat" w="95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-210525" y="9850647"/>
            <a:ext cx="18709051" cy="0"/>
          </a:xfrm>
          <a:prstGeom prst="line">
            <a:avLst/>
          </a:prstGeom>
          <a:ln cap="flat" w="95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210525" y="436353"/>
            <a:ext cx="18709051" cy="0"/>
          </a:xfrm>
          <a:prstGeom prst="line">
            <a:avLst/>
          </a:prstGeom>
          <a:ln cap="flat" w="95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333148" y="-2672206"/>
            <a:ext cx="15631411" cy="1563141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99445" y="9719199"/>
            <a:ext cx="289110" cy="145735"/>
            <a:chOff x="0" y="0"/>
            <a:chExt cx="385480" cy="194313"/>
          </a:xfrm>
        </p:grpSpPr>
        <p:sp>
          <p:nvSpPr>
            <p:cNvPr name="AutoShape 9" id="9"/>
            <p:cNvSpPr/>
            <p:nvPr/>
          </p:nvSpPr>
          <p:spPr>
            <a:xfrm rot="0">
              <a:off x="0" y="181613"/>
              <a:ext cx="385480" cy="0"/>
            </a:xfrm>
            <a:prstGeom prst="line">
              <a:avLst/>
            </a:prstGeom>
            <a:ln cap="flat" w="12700">
              <a:solidFill>
                <a:srgbClr val="D9D9D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 rot="-5400000">
              <a:off x="105109" y="87632"/>
              <a:ext cx="187963" cy="0"/>
            </a:xfrm>
            <a:prstGeom prst="line">
              <a:avLst/>
            </a:prstGeom>
            <a:ln cap="flat" w="12700">
              <a:solidFill>
                <a:srgbClr val="D9D9D9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1" id="11"/>
          <p:cNvGrpSpPr/>
          <p:nvPr/>
        </p:nvGrpSpPr>
        <p:grpSpPr>
          <a:xfrm rot="-10800000">
            <a:off x="8999445" y="436353"/>
            <a:ext cx="289110" cy="145735"/>
            <a:chOff x="0" y="0"/>
            <a:chExt cx="385480" cy="194313"/>
          </a:xfrm>
        </p:grpSpPr>
        <p:sp>
          <p:nvSpPr>
            <p:cNvPr name="AutoShape 12" id="12"/>
            <p:cNvSpPr/>
            <p:nvPr/>
          </p:nvSpPr>
          <p:spPr>
            <a:xfrm rot="0">
              <a:off x="0" y="181613"/>
              <a:ext cx="385480" cy="0"/>
            </a:xfrm>
            <a:prstGeom prst="line">
              <a:avLst/>
            </a:prstGeom>
            <a:ln cap="flat" w="12700">
              <a:solidFill>
                <a:srgbClr val="D9D9D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 rot="-5400000">
              <a:off x="105109" y="87632"/>
              <a:ext cx="187963" cy="0"/>
            </a:xfrm>
            <a:prstGeom prst="line">
              <a:avLst/>
            </a:prstGeom>
            <a:ln cap="flat" w="12700">
              <a:solidFill>
                <a:srgbClr val="D9D9D9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805137" y="1220542"/>
            <a:ext cx="6291908" cy="2288280"/>
            <a:chOff x="0" y="0"/>
            <a:chExt cx="1657128" cy="6026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57128" cy="602675"/>
            </a:xfrm>
            <a:custGeom>
              <a:avLst/>
              <a:gdLst/>
              <a:ahLst/>
              <a:cxnLst/>
              <a:rect r="r" b="b" t="t" l="l"/>
              <a:pathLst>
                <a:path h="602675" w="1657128">
                  <a:moveTo>
                    <a:pt x="49218" y="0"/>
                  </a:moveTo>
                  <a:lnTo>
                    <a:pt x="1607910" y="0"/>
                  </a:lnTo>
                  <a:cubicBezTo>
                    <a:pt x="1620963" y="0"/>
                    <a:pt x="1633482" y="5185"/>
                    <a:pt x="1642713" y="14416"/>
                  </a:cubicBezTo>
                  <a:cubicBezTo>
                    <a:pt x="1651943" y="23646"/>
                    <a:pt x="1657128" y="36165"/>
                    <a:pt x="1657128" y="49218"/>
                  </a:cubicBezTo>
                  <a:lnTo>
                    <a:pt x="1657128" y="553456"/>
                  </a:lnTo>
                  <a:cubicBezTo>
                    <a:pt x="1657128" y="566510"/>
                    <a:pt x="1651943" y="579029"/>
                    <a:pt x="1642713" y="588259"/>
                  </a:cubicBezTo>
                  <a:cubicBezTo>
                    <a:pt x="1633482" y="597489"/>
                    <a:pt x="1620963" y="602675"/>
                    <a:pt x="1607910" y="602675"/>
                  </a:cubicBezTo>
                  <a:lnTo>
                    <a:pt x="49218" y="602675"/>
                  </a:lnTo>
                  <a:cubicBezTo>
                    <a:pt x="36165" y="602675"/>
                    <a:pt x="23646" y="597489"/>
                    <a:pt x="14416" y="588259"/>
                  </a:cubicBezTo>
                  <a:cubicBezTo>
                    <a:pt x="5185" y="579029"/>
                    <a:pt x="0" y="566510"/>
                    <a:pt x="0" y="553456"/>
                  </a:cubicBezTo>
                  <a:lnTo>
                    <a:pt x="0" y="49218"/>
                  </a:lnTo>
                  <a:cubicBezTo>
                    <a:pt x="0" y="36165"/>
                    <a:pt x="5185" y="23646"/>
                    <a:pt x="14416" y="14416"/>
                  </a:cubicBezTo>
                  <a:cubicBezTo>
                    <a:pt x="23646" y="5185"/>
                    <a:pt x="36165" y="0"/>
                    <a:pt x="49218" y="0"/>
                  </a:cubicBezTo>
                  <a:close/>
                </a:path>
              </a:pathLst>
            </a:custGeom>
            <a:solidFill>
              <a:srgbClr val="E6EBF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657128" cy="631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308635" y="1868180"/>
            <a:ext cx="993005" cy="993005"/>
            <a:chOff x="0" y="0"/>
            <a:chExt cx="1324007" cy="1324007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324007" cy="1324007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E3DC6">
                  <a:alpha val="14902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61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89532" y="191586"/>
              <a:ext cx="940834" cy="940834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E3DC6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61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21468" y="349768"/>
              <a:ext cx="676962" cy="3195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159"/>
                </a:lnSpc>
              </a:pPr>
              <a:r>
                <a:rPr lang="en-US" sz="1199" spc="23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805137" y="3994597"/>
            <a:ext cx="6291908" cy="2288280"/>
            <a:chOff x="0" y="0"/>
            <a:chExt cx="1657128" cy="60267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57128" cy="602675"/>
            </a:xfrm>
            <a:custGeom>
              <a:avLst/>
              <a:gdLst/>
              <a:ahLst/>
              <a:cxnLst/>
              <a:rect r="r" b="b" t="t" l="l"/>
              <a:pathLst>
                <a:path h="602675" w="1657128">
                  <a:moveTo>
                    <a:pt x="49218" y="0"/>
                  </a:moveTo>
                  <a:lnTo>
                    <a:pt x="1607910" y="0"/>
                  </a:lnTo>
                  <a:cubicBezTo>
                    <a:pt x="1620963" y="0"/>
                    <a:pt x="1633482" y="5185"/>
                    <a:pt x="1642713" y="14416"/>
                  </a:cubicBezTo>
                  <a:cubicBezTo>
                    <a:pt x="1651943" y="23646"/>
                    <a:pt x="1657128" y="36165"/>
                    <a:pt x="1657128" y="49218"/>
                  </a:cubicBezTo>
                  <a:lnTo>
                    <a:pt x="1657128" y="553456"/>
                  </a:lnTo>
                  <a:cubicBezTo>
                    <a:pt x="1657128" y="566510"/>
                    <a:pt x="1651943" y="579029"/>
                    <a:pt x="1642713" y="588259"/>
                  </a:cubicBezTo>
                  <a:cubicBezTo>
                    <a:pt x="1633482" y="597489"/>
                    <a:pt x="1620963" y="602675"/>
                    <a:pt x="1607910" y="602675"/>
                  </a:cubicBezTo>
                  <a:lnTo>
                    <a:pt x="49218" y="602675"/>
                  </a:lnTo>
                  <a:cubicBezTo>
                    <a:pt x="36165" y="602675"/>
                    <a:pt x="23646" y="597489"/>
                    <a:pt x="14416" y="588259"/>
                  </a:cubicBezTo>
                  <a:cubicBezTo>
                    <a:pt x="5185" y="579029"/>
                    <a:pt x="0" y="566510"/>
                    <a:pt x="0" y="553456"/>
                  </a:cubicBezTo>
                  <a:lnTo>
                    <a:pt x="0" y="49218"/>
                  </a:lnTo>
                  <a:cubicBezTo>
                    <a:pt x="0" y="36165"/>
                    <a:pt x="5185" y="23646"/>
                    <a:pt x="14416" y="14416"/>
                  </a:cubicBezTo>
                  <a:cubicBezTo>
                    <a:pt x="23646" y="5185"/>
                    <a:pt x="36165" y="0"/>
                    <a:pt x="49218" y="0"/>
                  </a:cubicBezTo>
                  <a:close/>
                </a:path>
              </a:pathLst>
            </a:custGeom>
            <a:solidFill>
              <a:srgbClr val="E6EBF9"/>
            </a:solidFill>
            <a:ln cap="rnd">
              <a:noFill/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657128" cy="631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308635" y="4642235"/>
            <a:ext cx="993005" cy="993005"/>
            <a:chOff x="0" y="0"/>
            <a:chExt cx="1324007" cy="1324007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324007" cy="1324007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E3DC6">
                  <a:alpha val="14902"/>
                </a:srgbClr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61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189532" y="191586"/>
              <a:ext cx="940834" cy="940834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E3DC6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61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321468" y="349768"/>
              <a:ext cx="676962" cy="3195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159"/>
                </a:lnSpc>
              </a:pPr>
              <a:r>
                <a:rPr lang="en-US" sz="1199" spc="23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805137" y="6768653"/>
            <a:ext cx="6291908" cy="2288280"/>
            <a:chOff x="0" y="0"/>
            <a:chExt cx="1657128" cy="60267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657128" cy="602675"/>
            </a:xfrm>
            <a:custGeom>
              <a:avLst/>
              <a:gdLst/>
              <a:ahLst/>
              <a:cxnLst/>
              <a:rect r="r" b="b" t="t" l="l"/>
              <a:pathLst>
                <a:path h="602675" w="1657128">
                  <a:moveTo>
                    <a:pt x="49218" y="0"/>
                  </a:moveTo>
                  <a:lnTo>
                    <a:pt x="1607910" y="0"/>
                  </a:lnTo>
                  <a:cubicBezTo>
                    <a:pt x="1620963" y="0"/>
                    <a:pt x="1633482" y="5185"/>
                    <a:pt x="1642713" y="14416"/>
                  </a:cubicBezTo>
                  <a:cubicBezTo>
                    <a:pt x="1651943" y="23646"/>
                    <a:pt x="1657128" y="36165"/>
                    <a:pt x="1657128" y="49218"/>
                  </a:cubicBezTo>
                  <a:lnTo>
                    <a:pt x="1657128" y="553456"/>
                  </a:lnTo>
                  <a:cubicBezTo>
                    <a:pt x="1657128" y="566510"/>
                    <a:pt x="1651943" y="579029"/>
                    <a:pt x="1642713" y="588259"/>
                  </a:cubicBezTo>
                  <a:cubicBezTo>
                    <a:pt x="1633482" y="597489"/>
                    <a:pt x="1620963" y="602675"/>
                    <a:pt x="1607910" y="602675"/>
                  </a:cubicBezTo>
                  <a:lnTo>
                    <a:pt x="49218" y="602675"/>
                  </a:lnTo>
                  <a:cubicBezTo>
                    <a:pt x="36165" y="602675"/>
                    <a:pt x="23646" y="597489"/>
                    <a:pt x="14416" y="588259"/>
                  </a:cubicBezTo>
                  <a:cubicBezTo>
                    <a:pt x="5185" y="579029"/>
                    <a:pt x="0" y="566510"/>
                    <a:pt x="0" y="553456"/>
                  </a:cubicBezTo>
                  <a:lnTo>
                    <a:pt x="0" y="49218"/>
                  </a:lnTo>
                  <a:cubicBezTo>
                    <a:pt x="0" y="36165"/>
                    <a:pt x="5185" y="23646"/>
                    <a:pt x="14416" y="14416"/>
                  </a:cubicBezTo>
                  <a:cubicBezTo>
                    <a:pt x="23646" y="5185"/>
                    <a:pt x="36165" y="0"/>
                    <a:pt x="49218" y="0"/>
                  </a:cubicBezTo>
                  <a:close/>
                </a:path>
              </a:pathLst>
            </a:custGeom>
            <a:solidFill>
              <a:srgbClr val="E6EBF9"/>
            </a:solidFill>
            <a:ln cap="rnd">
              <a:noFill/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657128" cy="631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308635" y="7416290"/>
            <a:ext cx="993005" cy="993005"/>
            <a:chOff x="0" y="0"/>
            <a:chExt cx="1324007" cy="1324007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1324007" cy="1324007"/>
              <a:chOff x="0" y="0"/>
              <a:chExt cx="812800" cy="8128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E3DC6">
                  <a:alpha val="14902"/>
                </a:srgbClr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61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189532" y="191586"/>
              <a:ext cx="940834" cy="940834"/>
              <a:chOff x="0" y="0"/>
              <a:chExt cx="812800" cy="812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E3DC6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61"/>
                  </a:lnSpc>
                </a:pP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321468" y="349768"/>
              <a:ext cx="676962" cy="3195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159"/>
                </a:lnSpc>
              </a:pPr>
              <a:r>
                <a:rPr lang="en-US" sz="1199" spc="23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3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7201673" y="9224377"/>
            <a:ext cx="592347" cy="25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68"/>
              </a:lnSpc>
            </a:pPr>
            <a:r>
              <a:rPr lang="en-US" sz="1204" spc="24">
                <a:solidFill>
                  <a:srgbClr val="737373"/>
                </a:solidFill>
                <a:latin typeface="Poppins Light"/>
                <a:ea typeface="Poppins Light"/>
                <a:cs typeface="Poppins Light"/>
                <a:sym typeface="Poppins Light"/>
              </a:rPr>
              <a:t>3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707019" y="1737937"/>
            <a:ext cx="4752841" cy="417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6"/>
              </a:lnSpc>
              <a:spcBef>
                <a:spcPct val="0"/>
              </a:spcBef>
            </a:pPr>
            <a:r>
              <a:rPr lang="en-US" sz="1204" spc="24">
                <a:solidFill>
                  <a:srgbClr val="181B21"/>
                </a:solidFill>
                <a:latin typeface="Poppins"/>
                <a:ea typeface="Poppins"/>
                <a:cs typeface="Poppins"/>
                <a:sym typeface="Poppins"/>
              </a:rPr>
              <a:t>Köklere Dönüş: Temel bilim, matematik ve mühendislik kavramlarının keşfi ile sağlam bir altyapı oluşturulması.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707019" y="4511993"/>
            <a:ext cx="4752841" cy="417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6"/>
              </a:lnSpc>
              <a:spcBef>
                <a:spcPct val="0"/>
              </a:spcBef>
            </a:pPr>
            <a:r>
              <a:rPr lang="en-US" sz="1204" spc="24">
                <a:solidFill>
                  <a:srgbClr val="181B21"/>
                </a:solidFill>
                <a:latin typeface="Poppins"/>
                <a:ea typeface="Poppins"/>
                <a:cs typeface="Poppins"/>
                <a:sym typeface="Poppins"/>
              </a:rPr>
              <a:t>Yükseliş: Teknoloji ve inovasyon odaklı proje geliştirme süreçleri ile teorinin pratiğe dönüştürülmesi.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362931" y="4404298"/>
            <a:ext cx="4873346" cy="1449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42"/>
              </a:lnSpc>
            </a:pPr>
            <a:r>
              <a:rPr lang="en-US" b="true" sz="4819" spc="-86">
                <a:solidFill>
                  <a:srgbClr val="181B2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Eğitim</a:t>
            </a:r>
          </a:p>
          <a:p>
            <a:pPr algn="l" marL="0" indent="0" lvl="0">
              <a:lnSpc>
                <a:spcPts val="5542"/>
              </a:lnSpc>
            </a:pPr>
            <a:r>
              <a:rPr lang="en-US" b="true" sz="4819" spc="-86">
                <a:solidFill>
                  <a:srgbClr val="181B2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Süreci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707019" y="7286048"/>
            <a:ext cx="4752841" cy="417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6"/>
              </a:lnSpc>
            </a:pPr>
            <a:r>
              <a:rPr lang="en-US" sz="1204" spc="24">
                <a:solidFill>
                  <a:srgbClr val="181B21"/>
                </a:solidFill>
                <a:latin typeface="Poppins"/>
                <a:ea typeface="Poppins"/>
                <a:cs typeface="Poppins"/>
                <a:sym typeface="Poppins"/>
              </a:rPr>
              <a:t>Göklere Ulaşmak: Milli teknoloji vizyonuyla özgün projeler geliştirip ulusal platformlarda sergilenmesi.</a:t>
            </a:r>
          </a:p>
        </p:txBody>
      </p:sp>
      <p:sp>
        <p:nvSpPr>
          <p:cNvPr name="AutoShape 52" id="52"/>
          <p:cNvSpPr/>
          <p:nvPr/>
        </p:nvSpPr>
        <p:spPr>
          <a:xfrm rot="-5400000">
            <a:off x="4666344" y="5133975"/>
            <a:ext cx="5548110" cy="0"/>
          </a:xfrm>
          <a:prstGeom prst="line">
            <a:avLst/>
          </a:prstGeom>
          <a:ln cap="flat" w="95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3" id="53"/>
          <p:cNvGrpSpPr/>
          <p:nvPr/>
        </p:nvGrpSpPr>
        <p:grpSpPr>
          <a:xfrm rot="0">
            <a:off x="7435637" y="2237928"/>
            <a:ext cx="477598" cy="256876"/>
            <a:chOff x="0" y="0"/>
            <a:chExt cx="636797" cy="342501"/>
          </a:xfrm>
        </p:grpSpPr>
        <p:sp>
          <p:nvSpPr>
            <p:cNvPr name="AutoShape 54" id="54"/>
            <p:cNvSpPr/>
            <p:nvPr/>
          </p:nvSpPr>
          <p:spPr>
            <a:xfrm rot="-10800000">
              <a:off x="0" y="162655"/>
              <a:ext cx="625957" cy="0"/>
            </a:xfrm>
            <a:prstGeom prst="line">
              <a:avLst/>
            </a:prstGeom>
            <a:ln cap="flat" w="12700">
              <a:solidFill>
                <a:srgbClr val="D9D9D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5" id="55"/>
            <p:cNvSpPr/>
            <p:nvPr/>
          </p:nvSpPr>
          <p:spPr>
            <a:xfrm rot="-8100000">
              <a:off x="426054" y="83573"/>
              <a:ext cx="241640" cy="0"/>
            </a:xfrm>
            <a:prstGeom prst="line">
              <a:avLst/>
            </a:prstGeom>
            <a:ln cap="rnd" w="12700">
              <a:solidFill>
                <a:srgbClr val="D9D9D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6" id="56"/>
            <p:cNvSpPr/>
            <p:nvPr/>
          </p:nvSpPr>
          <p:spPr>
            <a:xfrm rot="8100000">
              <a:off x="426054" y="246228"/>
              <a:ext cx="241640" cy="0"/>
            </a:xfrm>
            <a:prstGeom prst="line">
              <a:avLst/>
            </a:prstGeom>
            <a:ln cap="rnd" w="12700">
              <a:solidFill>
                <a:srgbClr val="D9D9D9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7440382" y="5010300"/>
            <a:ext cx="472852" cy="256876"/>
            <a:chOff x="0" y="0"/>
            <a:chExt cx="630470" cy="342501"/>
          </a:xfrm>
        </p:grpSpPr>
        <p:sp>
          <p:nvSpPr>
            <p:cNvPr name="AutoShape 58" id="58"/>
            <p:cNvSpPr/>
            <p:nvPr/>
          </p:nvSpPr>
          <p:spPr>
            <a:xfrm rot="10787543">
              <a:off x="21" y="163778"/>
              <a:ext cx="619611" cy="0"/>
            </a:xfrm>
            <a:prstGeom prst="line">
              <a:avLst/>
            </a:prstGeom>
            <a:ln cap="flat" w="12700">
              <a:solidFill>
                <a:srgbClr val="D9D9D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9" id="59"/>
            <p:cNvSpPr/>
            <p:nvPr/>
          </p:nvSpPr>
          <p:spPr>
            <a:xfrm rot="-8100000">
              <a:off x="419727" y="83573"/>
              <a:ext cx="241640" cy="0"/>
            </a:xfrm>
            <a:prstGeom prst="line">
              <a:avLst/>
            </a:prstGeom>
            <a:ln cap="rnd" w="12700">
              <a:solidFill>
                <a:srgbClr val="D9D9D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0" id="60"/>
            <p:cNvSpPr/>
            <p:nvPr/>
          </p:nvSpPr>
          <p:spPr>
            <a:xfrm rot="8100000">
              <a:off x="419727" y="246228"/>
              <a:ext cx="241640" cy="0"/>
            </a:xfrm>
            <a:prstGeom prst="line">
              <a:avLst/>
            </a:prstGeom>
            <a:ln cap="rnd" w="12700">
              <a:solidFill>
                <a:srgbClr val="D9D9D9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7435637" y="7782671"/>
            <a:ext cx="477598" cy="256876"/>
            <a:chOff x="0" y="0"/>
            <a:chExt cx="636797" cy="342501"/>
          </a:xfrm>
        </p:grpSpPr>
        <p:sp>
          <p:nvSpPr>
            <p:cNvPr name="AutoShape 62" id="62"/>
            <p:cNvSpPr/>
            <p:nvPr/>
          </p:nvSpPr>
          <p:spPr>
            <a:xfrm rot="-10800000">
              <a:off x="0" y="162655"/>
              <a:ext cx="625957" cy="0"/>
            </a:xfrm>
            <a:prstGeom prst="line">
              <a:avLst/>
            </a:prstGeom>
            <a:ln cap="flat" w="12700">
              <a:solidFill>
                <a:srgbClr val="D9D9D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3" id="63"/>
            <p:cNvSpPr/>
            <p:nvPr/>
          </p:nvSpPr>
          <p:spPr>
            <a:xfrm rot="-8100000">
              <a:off x="426054" y="83573"/>
              <a:ext cx="241640" cy="0"/>
            </a:xfrm>
            <a:prstGeom prst="line">
              <a:avLst/>
            </a:prstGeom>
            <a:ln cap="rnd" w="12700">
              <a:solidFill>
                <a:srgbClr val="D9D9D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4" id="64"/>
            <p:cNvSpPr/>
            <p:nvPr/>
          </p:nvSpPr>
          <p:spPr>
            <a:xfrm rot="8100000">
              <a:off x="426054" y="246228"/>
              <a:ext cx="241640" cy="0"/>
            </a:xfrm>
            <a:prstGeom prst="line">
              <a:avLst/>
            </a:prstGeom>
            <a:ln cap="rnd" w="12700">
              <a:solidFill>
                <a:srgbClr val="D9D9D9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AutoShape 65" id="65"/>
          <p:cNvSpPr/>
          <p:nvPr/>
        </p:nvSpPr>
        <p:spPr>
          <a:xfrm flipV="true">
            <a:off x="-645424" y="1033462"/>
            <a:ext cx="1893342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6" id="66"/>
          <p:cNvSpPr txBox="true"/>
          <p:nvPr/>
        </p:nvSpPr>
        <p:spPr>
          <a:xfrm rot="0">
            <a:off x="15627636" y="127426"/>
            <a:ext cx="1304776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Eğitmen Adı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5627636" y="553513"/>
            <a:ext cx="1336923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Eğitim Tarihi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28294" y="338088"/>
            <a:ext cx="1458962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Eğitim Başlığı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210525" y="5138738"/>
            <a:ext cx="18709051" cy="0"/>
          </a:xfrm>
          <a:prstGeom prst="line">
            <a:avLst/>
          </a:prstGeom>
          <a:ln cap="flat" w="95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-210525" y="9850647"/>
            <a:ext cx="18709051" cy="0"/>
          </a:xfrm>
          <a:prstGeom prst="line">
            <a:avLst/>
          </a:prstGeom>
          <a:ln cap="flat" w="95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210525" y="436353"/>
            <a:ext cx="18709051" cy="0"/>
          </a:xfrm>
          <a:prstGeom prst="line">
            <a:avLst/>
          </a:prstGeom>
          <a:ln cap="flat" w="95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333148" y="-2672206"/>
            <a:ext cx="15631411" cy="1563141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99445" y="9719199"/>
            <a:ext cx="289110" cy="145735"/>
            <a:chOff x="0" y="0"/>
            <a:chExt cx="385480" cy="194313"/>
          </a:xfrm>
        </p:grpSpPr>
        <p:sp>
          <p:nvSpPr>
            <p:cNvPr name="AutoShape 9" id="9"/>
            <p:cNvSpPr/>
            <p:nvPr/>
          </p:nvSpPr>
          <p:spPr>
            <a:xfrm rot="0">
              <a:off x="0" y="181613"/>
              <a:ext cx="385480" cy="0"/>
            </a:xfrm>
            <a:prstGeom prst="line">
              <a:avLst/>
            </a:prstGeom>
            <a:ln cap="flat" w="12700">
              <a:solidFill>
                <a:srgbClr val="D9D9D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 rot="-5400000">
              <a:off x="105109" y="87632"/>
              <a:ext cx="187963" cy="0"/>
            </a:xfrm>
            <a:prstGeom prst="line">
              <a:avLst/>
            </a:prstGeom>
            <a:ln cap="flat" w="12700">
              <a:solidFill>
                <a:srgbClr val="D9D9D9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1" id="11"/>
          <p:cNvGrpSpPr/>
          <p:nvPr/>
        </p:nvGrpSpPr>
        <p:grpSpPr>
          <a:xfrm rot="-10800000">
            <a:off x="8999445" y="436353"/>
            <a:ext cx="289110" cy="145735"/>
            <a:chOff x="0" y="0"/>
            <a:chExt cx="385480" cy="194313"/>
          </a:xfrm>
        </p:grpSpPr>
        <p:sp>
          <p:nvSpPr>
            <p:cNvPr name="AutoShape 12" id="12"/>
            <p:cNvSpPr/>
            <p:nvPr/>
          </p:nvSpPr>
          <p:spPr>
            <a:xfrm rot="0">
              <a:off x="0" y="181613"/>
              <a:ext cx="385480" cy="0"/>
            </a:xfrm>
            <a:prstGeom prst="line">
              <a:avLst/>
            </a:prstGeom>
            <a:ln cap="flat" w="12700">
              <a:solidFill>
                <a:srgbClr val="D9D9D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 rot="-5400000">
              <a:off x="105109" y="87632"/>
              <a:ext cx="187963" cy="0"/>
            </a:xfrm>
            <a:prstGeom prst="line">
              <a:avLst/>
            </a:prstGeom>
            <a:ln cap="flat" w="12700">
              <a:solidFill>
                <a:srgbClr val="D9D9D9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2423190" y="2958781"/>
            <a:ext cx="4174523" cy="4174523"/>
            <a:chOff x="0" y="0"/>
            <a:chExt cx="4639729" cy="46397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39818" cy="4639818"/>
            </a:xfrm>
            <a:custGeom>
              <a:avLst/>
              <a:gdLst/>
              <a:ahLst/>
              <a:cxnLst/>
              <a:rect r="r" b="b" t="t" l="l"/>
              <a:pathLst>
                <a:path h="4639818" w="4639818">
                  <a:moveTo>
                    <a:pt x="440309" y="0"/>
                  </a:moveTo>
                  <a:cubicBezTo>
                    <a:pt x="197104" y="0"/>
                    <a:pt x="0" y="197104"/>
                    <a:pt x="0" y="440309"/>
                  </a:cubicBezTo>
                  <a:lnTo>
                    <a:pt x="0" y="4199509"/>
                  </a:lnTo>
                  <a:cubicBezTo>
                    <a:pt x="0" y="4442714"/>
                    <a:pt x="197104" y="4639818"/>
                    <a:pt x="440309" y="4639818"/>
                  </a:cubicBezTo>
                  <a:lnTo>
                    <a:pt x="4199509" y="4639818"/>
                  </a:lnTo>
                  <a:cubicBezTo>
                    <a:pt x="4442714" y="4639818"/>
                    <a:pt x="4639818" y="4442714"/>
                    <a:pt x="4639818" y="4199509"/>
                  </a:cubicBezTo>
                  <a:lnTo>
                    <a:pt x="4639818" y="440309"/>
                  </a:lnTo>
                  <a:cubicBezTo>
                    <a:pt x="4639691" y="197104"/>
                    <a:pt x="4442587" y="0"/>
                    <a:pt x="419950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054913" y="2958781"/>
            <a:ext cx="4174523" cy="4174523"/>
            <a:chOff x="0" y="0"/>
            <a:chExt cx="4639729" cy="46397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639818" cy="4639818"/>
            </a:xfrm>
            <a:custGeom>
              <a:avLst/>
              <a:gdLst/>
              <a:ahLst/>
              <a:cxnLst/>
              <a:rect r="r" b="b" t="t" l="l"/>
              <a:pathLst>
                <a:path h="4639818" w="4639818">
                  <a:moveTo>
                    <a:pt x="440309" y="0"/>
                  </a:moveTo>
                  <a:cubicBezTo>
                    <a:pt x="197104" y="0"/>
                    <a:pt x="0" y="197104"/>
                    <a:pt x="0" y="440309"/>
                  </a:cubicBezTo>
                  <a:lnTo>
                    <a:pt x="0" y="4199509"/>
                  </a:lnTo>
                  <a:cubicBezTo>
                    <a:pt x="0" y="4442714"/>
                    <a:pt x="197104" y="4639818"/>
                    <a:pt x="440309" y="4639818"/>
                  </a:cubicBezTo>
                  <a:lnTo>
                    <a:pt x="4199509" y="4639818"/>
                  </a:lnTo>
                  <a:cubicBezTo>
                    <a:pt x="4442714" y="4639818"/>
                    <a:pt x="4639818" y="4442714"/>
                    <a:pt x="4639818" y="4199509"/>
                  </a:cubicBezTo>
                  <a:lnTo>
                    <a:pt x="4639818" y="440309"/>
                  </a:lnTo>
                  <a:cubicBezTo>
                    <a:pt x="4639691" y="197104"/>
                    <a:pt x="4442587" y="0"/>
                    <a:pt x="4199509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686637" y="2958781"/>
            <a:ext cx="4174523" cy="4174523"/>
            <a:chOff x="0" y="0"/>
            <a:chExt cx="4639729" cy="46397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39818" cy="4639818"/>
            </a:xfrm>
            <a:custGeom>
              <a:avLst/>
              <a:gdLst/>
              <a:ahLst/>
              <a:cxnLst/>
              <a:rect r="r" b="b" t="t" l="l"/>
              <a:pathLst>
                <a:path h="4639818" w="4639818">
                  <a:moveTo>
                    <a:pt x="440309" y="0"/>
                  </a:moveTo>
                  <a:cubicBezTo>
                    <a:pt x="197104" y="0"/>
                    <a:pt x="0" y="197104"/>
                    <a:pt x="0" y="440309"/>
                  </a:cubicBezTo>
                  <a:lnTo>
                    <a:pt x="0" y="4199509"/>
                  </a:lnTo>
                  <a:cubicBezTo>
                    <a:pt x="0" y="4442714"/>
                    <a:pt x="197104" y="4639818"/>
                    <a:pt x="440309" y="4639818"/>
                  </a:cubicBezTo>
                  <a:lnTo>
                    <a:pt x="4199509" y="4639818"/>
                  </a:lnTo>
                  <a:cubicBezTo>
                    <a:pt x="4442714" y="4639818"/>
                    <a:pt x="4639818" y="4442714"/>
                    <a:pt x="4639818" y="4199509"/>
                  </a:cubicBezTo>
                  <a:lnTo>
                    <a:pt x="4639818" y="440309"/>
                  </a:lnTo>
                  <a:cubicBezTo>
                    <a:pt x="4639691" y="197104"/>
                    <a:pt x="4442587" y="0"/>
                    <a:pt x="419950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013949" y="6636801"/>
            <a:ext cx="993005" cy="993005"/>
            <a:chOff x="0" y="0"/>
            <a:chExt cx="1324007" cy="1324007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324007" cy="1324007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E3DC6">
                  <a:alpha val="14902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61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89532" y="191586"/>
              <a:ext cx="940834" cy="940834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E3DC6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61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321468" y="330718"/>
              <a:ext cx="676962" cy="398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55"/>
                </a:lnSpc>
              </a:pPr>
              <a:r>
                <a:rPr lang="en-US" sz="1530" spc="3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1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792053" y="6636801"/>
            <a:ext cx="993005" cy="993005"/>
            <a:chOff x="0" y="0"/>
            <a:chExt cx="1324007" cy="1324007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324007" cy="1324007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E3DC6">
                  <a:alpha val="14902"/>
                </a:srgbClr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61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189532" y="191586"/>
              <a:ext cx="940834" cy="940834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E3DC6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61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321468" y="330718"/>
              <a:ext cx="676962" cy="398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55"/>
                </a:lnSpc>
              </a:pPr>
              <a:r>
                <a:rPr lang="en-US" sz="1530" spc="3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281046" y="6636801"/>
            <a:ext cx="993005" cy="993005"/>
            <a:chOff x="0" y="0"/>
            <a:chExt cx="1324007" cy="1324007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1324007" cy="1324007"/>
              <a:chOff x="0" y="0"/>
              <a:chExt cx="812800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E3DC6">
                  <a:alpha val="14902"/>
                </a:srgbClr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61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189532" y="191586"/>
              <a:ext cx="940834" cy="940834"/>
              <a:chOff x="0" y="0"/>
              <a:chExt cx="812800" cy="8128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E3DC6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61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321468" y="330718"/>
              <a:ext cx="676962" cy="3986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55"/>
                </a:lnSpc>
              </a:pPr>
              <a:r>
                <a:rPr lang="en-US" sz="1530" spc="3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3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7201673" y="9195802"/>
            <a:ext cx="592347" cy="33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801"/>
              </a:lnSpc>
            </a:pPr>
            <a:r>
              <a:rPr lang="en-US" sz="1556" spc="31">
                <a:solidFill>
                  <a:srgbClr val="737373"/>
                </a:solidFill>
                <a:latin typeface="Poppins Light"/>
                <a:ea typeface="Poppins Light"/>
                <a:cs typeface="Poppins Light"/>
                <a:sym typeface="Poppins Light"/>
              </a:rPr>
              <a:t>4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815466" y="1590675"/>
            <a:ext cx="6657067" cy="972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60"/>
              </a:lnSpc>
            </a:pPr>
            <a:r>
              <a:rPr lang="en-US" b="true" sz="6226" spc="-112">
                <a:solidFill>
                  <a:srgbClr val="181B2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Eğitim Bileşenleri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423190" y="7827623"/>
            <a:ext cx="4174523" cy="55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79"/>
              </a:lnSpc>
            </a:pPr>
            <a:r>
              <a:rPr lang="en-US" sz="1556" spc="31">
                <a:solidFill>
                  <a:srgbClr val="181B21"/>
                </a:solidFill>
                <a:latin typeface="Poppins"/>
                <a:ea typeface="Poppins"/>
                <a:cs typeface="Poppins"/>
                <a:sym typeface="Poppins"/>
              </a:rPr>
              <a:t>Teori</a:t>
            </a:r>
          </a:p>
          <a:p>
            <a:pPr algn="ctr" marL="0" indent="0" lvl="0">
              <a:lnSpc>
                <a:spcPts val="2179"/>
              </a:lnSpc>
            </a:pPr>
            <a:r>
              <a:rPr lang="en-US" sz="1556" spc="31">
                <a:solidFill>
                  <a:srgbClr val="181B21"/>
                </a:solidFill>
                <a:latin typeface="Poppins"/>
                <a:ea typeface="Poppins"/>
                <a:cs typeface="Poppins"/>
                <a:sym typeface="Poppins"/>
              </a:rPr>
              <a:t>Temel bilgi ve kavramsal altyapı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061592" y="7827623"/>
            <a:ext cx="4174523" cy="82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79"/>
              </a:lnSpc>
              <a:spcBef>
                <a:spcPct val="0"/>
              </a:spcBef>
            </a:pPr>
            <a:r>
              <a:rPr lang="en-US" sz="1556" spc="31">
                <a:solidFill>
                  <a:srgbClr val="181B21"/>
                </a:solidFill>
                <a:latin typeface="Poppins"/>
                <a:ea typeface="Poppins"/>
                <a:cs typeface="Poppins"/>
                <a:sym typeface="Poppins"/>
              </a:rPr>
              <a:t>Uygulama</a:t>
            </a:r>
          </a:p>
          <a:p>
            <a:pPr algn="ctr" marL="0" indent="0" lvl="0">
              <a:lnSpc>
                <a:spcPts val="2179"/>
              </a:lnSpc>
              <a:spcBef>
                <a:spcPct val="0"/>
              </a:spcBef>
            </a:pPr>
            <a:r>
              <a:rPr lang="en-US" sz="1556" spc="31">
                <a:solidFill>
                  <a:srgbClr val="181B21"/>
                </a:solidFill>
                <a:latin typeface="Poppins"/>
                <a:ea typeface="Poppins"/>
                <a:cs typeface="Poppins"/>
                <a:sym typeface="Poppins"/>
              </a:rPr>
              <a:t>Gerçek dünya projeleri ve pratik deneyim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702840" y="7827623"/>
            <a:ext cx="4174523" cy="55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79"/>
              </a:lnSpc>
              <a:spcBef>
                <a:spcPct val="0"/>
              </a:spcBef>
            </a:pPr>
            <a:r>
              <a:rPr lang="en-US" sz="1556" spc="31">
                <a:solidFill>
                  <a:srgbClr val="181B21"/>
                </a:solidFill>
                <a:latin typeface="Poppins"/>
                <a:ea typeface="Poppins"/>
                <a:cs typeface="Poppins"/>
                <a:sym typeface="Poppins"/>
              </a:rPr>
              <a:t>İnovasyon</a:t>
            </a:r>
          </a:p>
          <a:p>
            <a:pPr algn="ctr" marL="0" indent="0" lvl="0">
              <a:lnSpc>
                <a:spcPts val="2179"/>
              </a:lnSpc>
              <a:spcBef>
                <a:spcPct val="0"/>
              </a:spcBef>
            </a:pPr>
            <a:r>
              <a:rPr lang="en-US" sz="1556" spc="31">
                <a:solidFill>
                  <a:srgbClr val="181B21"/>
                </a:solidFill>
                <a:latin typeface="Poppins"/>
                <a:ea typeface="Poppins"/>
                <a:cs typeface="Poppins"/>
                <a:sym typeface="Poppins"/>
              </a:rPr>
              <a:t>Yaratıcı düşünce ve teknoloji geliştirme</a:t>
            </a:r>
          </a:p>
        </p:txBody>
      </p:sp>
      <p:sp>
        <p:nvSpPr>
          <p:cNvPr name="AutoShape 49" id="49"/>
          <p:cNvSpPr/>
          <p:nvPr/>
        </p:nvSpPr>
        <p:spPr>
          <a:xfrm flipV="true">
            <a:off x="-645424" y="1033462"/>
            <a:ext cx="1893342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0" id="50"/>
          <p:cNvSpPr txBox="true"/>
          <p:nvPr/>
        </p:nvSpPr>
        <p:spPr>
          <a:xfrm rot="0">
            <a:off x="15627636" y="127426"/>
            <a:ext cx="1304776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Eğitmen Adı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5627636" y="553513"/>
            <a:ext cx="1336923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Eğitim Tarihi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28294" y="338088"/>
            <a:ext cx="1458962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Eğitim Başlığı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210525" y="5138738"/>
            <a:ext cx="18709051" cy="0"/>
          </a:xfrm>
          <a:prstGeom prst="line">
            <a:avLst/>
          </a:prstGeom>
          <a:ln cap="flat" w="95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-210525" y="9850647"/>
            <a:ext cx="18709051" cy="0"/>
          </a:xfrm>
          <a:prstGeom prst="line">
            <a:avLst/>
          </a:prstGeom>
          <a:ln cap="flat" w="95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210525" y="436353"/>
            <a:ext cx="18709051" cy="0"/>
          </a:xfrm>
          <a:prstGeom prst="line">
            <a:avLst/>
          </a:prstGeom>
          <a:ln cap="flat" w="95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328294" y="-2676968"/>
            <a:ext cx="15631411" cy="1563141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D9D9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99445" y="9719199"/>
            <a:ext cx="289110" cy="145735"/>
            <a:chOff x="0" y="0"/>
            <a:chExt cx="385480" cy="194313"/>
          </a:xfrm>
        </p:grpSpPr>
        <p:sp>
          <p:nvSpPr>
            <p:cNvPr name="AutoShape 9" id="9"/>
            <p:cNvSpPr/>
            <p:nvPr/>
          </p:nvSpPr>
          <p:spPr>
            <a:xfrm rot="0">
              <a:off x="0" y="181613"/>
              <a:ext cx="385480" cy="0"/>
            </a:xfrm>
            <a:prstGeom prst="line">
              <a:avLst/>
            </a:prstGeom>
            <a:ln cap="flat" w="12700">
              <a:solidFill>
                <a:srgbClr val="D9D9D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 rot="-5400000">
              <a:off x="105109" y="87632"/>
              <a:ext cx="187963" cy="0"/>
            </a:xfrm>
            <a:prstGeom prst="line">
              <a:avLst/>
            </a:prstGeom>
            <a:ln cap="flat" w="12700">
              <a:solidFill>
                <a:srgbClr val="D9D9D9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1" id="11"/>
          <p:cNvGrpSpPr/>
          <p:nvPr/>
        </p:nvGrpSpPr>
        <p:grpSpPr>
          <a:xfrm rot="-10800000">
            <a:off x="8999445" y="436353"/>
            <a:ext cx="289110" cy="145735"/>
            <a:chOff x="0" y="0"/>
            <a:chExt cx="385480" cy="194313"/>
          </a:xfrm>
        </p:grpSpPr>
        <p:sp>
          <p:nvSpPr>
            <p:cNvPr name="AutoShape 12" id="12"/>
            <p:cNvSpPr/>
            <p:nvPr/>
          </p:nvSpPr>
          <p:spPr>
            <a:xfrm rot="0">
              <a:off x="0" y="181613"/>
              <a:ext cx="385480" cy="0"/>
            </a:xfrm>
            <a:prstGeom prst="line">
              <a:avLst/>
            </a:prstGeom>
            <a:ln cap="flat" w="12700">
              <a:solidFill>
                <a:srgbClr val="D9D9D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 rot="-5400000">
              <a:off x="105109" y="87632"/>
              <a:ext cx="187963" cy="0"/>
            </a:xfrm>
            <a:prstGeom prst="line">
              <a:avLst/>
            </a:prstGeom>
            <a:ln cap="flat" w="12700">
              <a:solidFill>
                <a:srgbClr val="D9D9D9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2965110" y="3156525"/>
            <a:ext cx="1547904" cy="154790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3DC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965110" y="5161628"/>
            <a:ext cx="1547904" cy="154790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3DC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965110" y="7166732"/>
            <a:ext cx="1547904" cy="154790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3DC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7201673" y="9148177"/>
            <a:ext cx="592347" cy="51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294"/>
              </a:lnSpc>
            </a:pPr>
            <a:r>
              <a:rPr lang="en-US" sz="2385" spc="47">
                <a:solidFill>
                  <a:srgbClr val="737373"/>
                </a:solidFill>
                <a:latin typeface="Poppins Light"/>
                <a:ea typeface="Poppins Light"/>
                <a:cs typeface="Poppins Light"/>
                <a:sym typeface="Poppins Light"/>
              </a:rPr>
              <a:t>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245233" y="1283801"/>
            <a:ext cx="11797533" cy="1508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032"/>
              </a:lnSpc>
            </a:pPr>
            <a:r>
              <a:rPr lang="en-US" b="true" sz="9593" spc="-172">
                <a:solidFill>
                  <a:srgbClr val="181B2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Pazar Araştırması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35982" y="4883681"/>
            <a:ext cx="5203309" cy="1053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33"/>
              </a:lnSpc>
              <a:spcBef>
                <a:spcPct val="0"/>
              </a:spcBef>
            </a:pPr>
            <a:r>
              <a:rPr lang="en-US" b="true" sz="4796">
                <a:solidFill>
                  <a:srgbClr val="181B2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Eğitim Metrikleri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35982" y="6194321"/>
            <a:ext cx="5203309" cy="252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0"/>
              </a:lnSpc>
              <a:spcBef>
                <a:spcPct val="0"/>
              </a:spcBef>
            </a:pPr>
            <a:r>
              <a:rPr lang="en-US" sz="2385" spc="47">
                <a:solidFill>
                  <a:srgbClr val="181B21"/>
                </a:solidFill>
                <a:latin typeface="Poppins"/>
                <a:ea typeface="Poppins"/>
                <a:cs typeface="Poppins"/>
                <a:sym typeface="Poppins"/>
              </a:rPr>
              <a:t>Eğitim programı katılımcıların demografik, coğrafi ve akademik profillerine göre şekillendirilmiştir. Her katılımcının gelişim süreci bireysel olarak takip edilmektedir.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435982" y="3089850"/>
            <a:ext cx="5203309" cy="126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0"/>
              </a:lnSpc>
              <a:spcBef>
                <a:spcPct val="0"/>
              </a:spcBef>
            </a:pPr>
            <a:r>
              <a:rPr lang="en-US" b="true" sz="2385" spc="47">
                <a:solidFill>
                  <a:srgbClr val="181B2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Eğitim programının etki alanı ve katılımcı istatistikleri aşağıda özetlenmektedir.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984343" y="3475182"/>
            <a:ext cx="3969157" cy="844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0"/>
              </a:lnSpc>
              <a:spcBef>
                <a:spcPct val="0"/>
              </a:spcBef>
            </a:pPr>
            <a:r>
              <a:rPr lang="en-US" sz="2385" spc="47">
                <a:solidFill>
                  <a:srgbClr val="181B21"/>
                </a:solidFill>
                <a:latin typeface="Poppins"/>
                <a:ea typeface="Poppins"/>
                <a:cs typeface="Poppins"/>
                <a:sym typeface="Poppins"/>
              </a:rPr>
              <a:t>Programa katılan</a:t>
            </a:r>
          </a:p>
          <a:p>
            <a:pPr algn="l" marL="0" indent="0" lvl="0">
              <a:lnSpc>
                <a:spcPts val="3340"/>
              </a:lnSpc>
              <a:spcBef>
                <a:spcPct val="0"/>
              </a:spcBef>
            </a:pPr>
            <a:r>
              <a:rPr lang="en-US" sz="2385" spc="47">
                <a:solidFill>
                  <a:srgbClr val="181B21"/>
                </a:solidFill>
                <a:latin typeface="Poppins"/>
                <a:ea typeface="Poppins"/>
                <a:cs typeface="Poppins"/>
                <a:sym typeface="Poppins"/>
              </a:rPr>
              <a:t>öğrenci sayısı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984343" y="5480285"/>
            <a:ext cx="3969157" cy="844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0"/>
              </a:lnSpc>
              <a:spcBef>
                <a:spcPct val="0"/>
              </a:spcBef>
            </a:pPr>
            <a:r>
              <a:rPr lang="en-US" sz="2385" spc="47">
                <a:solidFill>
                  <a:srgbClr val="181B21"/>
                </a:solidFill>
                <a:latin typeface="Poppins"/>
                <a:ea typeface="Poppins"/>
                <a:cs typeface="Poppins"/>
                <a:sym typeface="Poppins"/>
              </a:rPr>
              <a:t>Türkiye genelindeki</a:t>
            </a:r>
          </a:p>
          <a:p>
            <a:pPr algn="l" marL="0" indent="0" lvl="0">
              <a:lnSpc>
                <a:spcPts val="3340"/>
              </a:lnSpc>
              <a:spcBef>
                <a:spcPct val="0"/>
              </a:spcBef>
            </a:pPr>
            <a:r>
              <a:rPr lang="en-US" sz="2385" spc="47">
                <a:solidFill>
                  <a:srgbClr val="181B21"/>
                </a:solidFill>
                <a:latin typeface="Poppins"/>
                <a:ea typeface="Poppins"/>
                <a:cs typeface="Poppins"/>
                <a:sym typeface="Poppins"/>
              </a:rPr>
              <a:t>ortak kurum sayısı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149178" y="3419937"/>
            <a:ext cx="1179768" cy="783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75"/>
              </a:lnSpc>
            </a:pPr>
            <a:r>
              <a:rPr lang="en-US" sz="3597" spc="71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90M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149178" y="5425040"/>
            <a:ext cx="1179768" cy="783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75"/>
              </a:lnSpc>
            </a:pPr>
            <a:r>
              <a:rPr lang="en-US" sz="3597" spc="71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86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984343" y="7485389"/>
            <a:ext cx="3969157" cy="844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0"/>
              </a:lnSpc>
              <a:spcBef>
                <a:spcPct val="0"/>
              </a:spcBef>
            </a:pPr>
            <a:r>
              <a:rPr lang="en-US" sz="2385" spc="47">
                <a:solidFill>
                  <a:srgbClr val="181B21"/>
                </a:solidFill>
                <a:latin typeface="Poppins"/>
                <a:ea typeface="Poppins"/>
                <a:cs typeface="Poppins"/>
                <a:sym typeface="Poppins"/>
              </a:rPr>
              <a:t>Köklerden Göklere</a:t>
            </a:r>
          </a:p>
          <a:p>
            <a:pPr algn="l" marL="0" indent="0" lvl="0">
              <a:lnSpc>
                <a:spcPts val="3340"/>
              </a:lnSpc>
              <a:spcBef>
                <a:spcPct val="0"/>
              </a:spcBef>
            </a:pPr>
            <a:r>
              <a:rPr lang="en-US" sz="2385" spc="47">
                <a:solidFill>
                  <a:srgbClr val="181B21"/>
                </a:solidFill>
                <a:latin typeface="Poppins"/>
                <a:ea typeface="Poppins"/>
                <a:cs typeface="Poppins"/>
                <a:sym typeface="Poppins"/>
              </a:rPr>
              <a:t>yıllık eğitim hacmi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149178" y="7430144"/>
            <a:ext cx="1179768" cy="783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75"/>
              </a:lnSpc>
            </a:pPr>
            <a:r>
              <a:rPr lang="en-US" sz="3597" spc="71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5.6M</a:t>
            </a:r>
          </a:p>
        </p:txBody>
      </p:sp>
      <p:sp>
        <p:nvSpPr>
          <p:cNvPr name="AutoShape 34" id="34"/>
          <p:cNvSpPr/>
          <p:nvPr/>
        </p:nvSpPr>
        <p:spPr>
          <a:xfrm flipV="true">
            <a:off x="-645424" y="1033462"/>
            <a:ext cx="1893342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15627636" y="127426"/>
            <a:ext cx="1304776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Eğitmen Adı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627636" y="553513"/>
            <a:ext cx="1336923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Eğitim Tarihi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28294" y="338088"/>
            <a:ext cx="1458962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Eğitim Başlığı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E3D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210525" y="5138738"/>
            <a:ext cx="18709051" cy="0"/>
          </a:xfrm>
          <a:prstGeom prst="line">
            <a:avLst/>
          </a:prstGeom>
          <a:ln cap="flat" w="9525">
            <a:solidFill>
              <a:srgbClr val="4E73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-210525" y="9850647"/>
            <a:ext cx="18709051" cy="0"/>
          </a:xfrm>
          <a:prstGeom prst="line">
            <a:avLst/>
          </a:prstGeom>
          <a:ln cap="flat" w="9525">
            <a:solidFill>
              <a:srgbClr val="4E73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210525" y="436353"/>
            <a:ext cx="18709051" cy="0"/>
          </a:xfrm>
          <a:prstGeom prst="line">
            <a:avLst/>
          </a:prstGeom>
          <a:ln cap="flat" w="9525">
            <a:solidFill>
              <a:srgbClr val="4E73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333148" y="-2672206"/>
            <a:ext cx="15631411" cy="1563141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3DC6"/>
            </a:solidFill>
            <a:ln w="9525" cap="sq">
              <a:solidFill>
                <a:srgbClr val="4E73E1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99445" y="9719199"/>
            <a:ext cx="289110" cy="145735"/>
            <a:chOff x="0" y="0"/>
            <a:chExt cx="385480" cy="194313"/>
          </a:xfrm>
        </p:grpSpPr>
        <p:sp>
          <p:nvSpPr>
            <p:cNvPr name="AutoShape 9" id="9"/>
            <p:cNvSpPr/>
            <p:nvPr/>
          </p:nvSpPr>
          <p:spPr>
            <a:xfrm rot="0">
              <a:off x="0" y="181613"/>
              <a:ext cx="385480" cy="0"/>
            </a:xfrm>
            <a:prstGeom prst="line">
              <a:avLst/>
            </a:prstGeom>
            <a:ln cap="flat" w="12700">
              <a:solidFill>
                <a:srgbClr val="4E73E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 rot="-5400000">
              <a:off x="105109" y="87632"/>
              <a:ext cx="187963" cy="0"/>
            </a:xfrm>
            <a:prstGeom prst="line">
              <a:avLst/>
            </a:prstGeom>
            <a:ln cap="flat" w="12700">
              <a:solidFill>
                <a:srgbClr val="4E73E1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1" id="11"/>
          <p:cNvGrpSpPr/>
          <p:nvPr/>
        </p:nvGrpSpPr>
        <p:grpSpPr>
          <a:xfrm rot="-10800000">
            <a:off x="8999445" y="436353"/>
            <a:ext cx="289110" cy="145735"/>
            <a:chOff x="0" y="0"/>
            <a:chExt cx="385480" cy="194313"/>
          </a:xfrm>
        </p:grpSpPr>
        <p:sp>
          <p:nvSpPr>
            <p:cNvPr name="AutoShape 12" id="12"/>
            <p:cNvSpPr/>
            <p:nvPr/>
          </p:nvSpPr>
          <p:spPr>
            <a:xfrm rot="0">
              <a:off x="0" y="181613"/>
              <a:ext cx="385480" cy="0"/>
            </a:xfrm>
            <a:prstGeom prst="line">
              <a:avLst/>
            </a:prstGeom>
            <a:ln cap="flat" w="12700">
              <a:solidFill>
                <a:srgbClr val="4E73E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 rot="-5400000">
              <a:off x="105109" y="87632"/>
              <a:ext cx="187963" cy="0"/>
            </a:xfrm>
            <a:prstGeom prst="line">
              <a:avLst/>
            </a:prstGeom>
            <a:ln cap="flat" w="12700">
              <a:solidFill>
                <a:srgbClr val="4E73E1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3311862" y="4355783"/>
            <a:ext cx="11664277" cy="1508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032"/>
              </a:lnSpc>
            </a:pPr>
            <a:r>
              <a:rPr lang="en-US" b="true" sz="9593" spc="-172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Teşekkür ederiz.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31418" y="1419225"/>
            <a:ext cx="7425164" cy="566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Köklerden Göklere Eğitimi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98105" y="7790321"/>
            <a:ext cx="3969157" cy="424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sz="2398" spc="47">
                <a:solidFill>
                  <a:srgbClr val="6A89E6"/>
                </a:solidFill>
                <a:latin typeface="Poppins"/>
                <a:ea typeface="Poppins"/>
                <a:cs typeface="Poppins"/>
                <a:sym typeface="Poppins"/>
              </a:rPr>
              <a:t>Hazırlayan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49338" y="7790321"/>
            <a:ext cx="3969157" cy="424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sz="2398" spc="47">
                <a:solidFill>
                  <a:srgbClr val="6A89E6"/>
                </a:solidFill>
                <a:latin typeface="Poppins"/>
                <a:ea typeface="Poppins"/>
                <a:cs typeface="Poppins"/>
                <a:sym typeface="Poppins"/>
              </a:rPr>
              <a:t>Eğitmen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98105" y="8224318"/>
            <a:ext cx="3969157" cy="566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sz="3197" spc="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Yapan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49338" y="8224318"/>
            <a:ext cx="3969157" cy="566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sz="3197" spc="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Eğitmen Adı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DAHUy2ZNA3k</dc:identifier>
  <dcterms:modified xsi:type="dcterms:W3CDTF">2011-08-01T06:04:30Z</dcterms:modified>
  <cp:revision>1</cp:revision>
  <dc:title>Paragraf metniniz</dc:title>
</cp:coreProperties>
</file>