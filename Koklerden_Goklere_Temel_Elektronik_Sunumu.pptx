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73" r:id="rId4"/>
    <p:sldId id="272" r:id="rId5"/>
    <p:sldId id="271" r:id="rId6"/>
    <p:sldId id="270" r:id="rId7"/>
    <p:sldId id="269" r:id="rId8"/>
    <p:sldId id="268" r:id="rId9"/>
    <p:sldId id="267" r:id="rId10"/>
    <p:sldId id="266" r:id="rId11"/>
    <p:sldId id="265" r:id="rId12"/>
    <p:sldId id="264" r:id="rId13"/>
    <p:sldId id="263" r:id="rId14"/>
    <p:sldId id="262" r:id="rId15"/>
    <p:sldId id="261" r:id="rId16"/>
  </p:sldIdLst>
  <p:sldSz cx="18288000" cy="10287000"/>
  <p:notesSz cx="6858000" cy="9144000"/>
  <p:embeddedFontLst>
    <p:embeddedFont>
      <p:font typeface="Consolas" panose="020B0609020204030204" pitchFamily="49" charset="0"/>
      <p:regular r:id="rId18"/>
      <p:bold r:id="rId19"/>
      <p:italic r:id="rId20"/>
      <p:boldItalic r:id="rId21"/>
    </p:embeddedFont>
    <p:embeddedFont>
      <p:font typeface="IBM Plex Sans" panose="020B0503050203000203" pitchFamily="34" charset="0"/>
      <p:regular r:id="rId22"/>
      <p:bold r:id="rId23"/>
    </p:embeddedFont>
    <p:embeddedFont>
      <p:font typeface="Poppins" panose="00000500000000000000" pitchFamily="2" charset="-94"/>
      <p:regular r:id="rId24"/>
      <p:bold r:id="rId25"/>
    </p:embeddedFont>
    <p:embeddedFont>
      <p:font typeface="Poppins Light" panose="00000400000000000000" pitchFamily="2" charset="-94"/>
      <p:regular r:id="rId26"/>
    </p:embeddedFont>
    <p:embeddedFont>
      <p:font typeface="Poppins Medium" panose="00000600000000000000" pitchFamily="2" charset="-94"/>
      <p:regular r:id="rId27"/>
    </p:embeddedFont>
    <p:embeddedFont>
      <p:font typeface="Poppins Semi-Bold" panose="020B0604020202020204" charset="-9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A250F-F569-4655-B08B-358AF55CBAF2}"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96F1A-52EC-4E40-BAD4-7E70364545B9}" type="slidenum">
              <a:rPr lang="en-US" smtClean="0"/>
              <a:t>‹#›</a:t>
            </a:fld>
            <a:endParaRPr lang="en-US"/>
          </a:p>
        </p:txBody>
      </p:sp>
    </p:spTree>
    <p:extLst>
      <p:ext uri="{BB962C8B-B14F-4D97-AF65-F5344CB8AC3E}">
        <p14:creationId xmlns:p14="http://schemas.microsoft.com/office/powerpoint/2010/main" val="32427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 KAPAK — KÖKLERDEN GÖKLERE: ELEKTRONLARDAN ALGORİTMAYA</a:t>
            </a:r>
          </a:p>
          <a:p>
            <a:r>
              <a:rPr lang="en-US"/>
              <a:t>===================================================================</a:t>
            </a:r>
          </a:p>
          <a:p>
            <a:endParaRPr lang="en-US"/>
          </a:p>
          <a:p>
            <a:r>
              <a:rPr lang="en-US"/>
              <a:t>🎯 BU SAYFADA NE YAPILACAK? (EĞİTMEN SAHNE REHBERİ):</a:t>
            </a:r>
          </a:p>
          <a:p>
            <a:r>
              <a:rPr lang="en-US"/>
              <a:t>1. Sınıfa enerjik bir giriş yapın. Elinize bir telefon, bir Arduino/Deneyap Kart veya basit bir LED alın.</a:t>
            </a:r>
          </a:p>
          <a:p>
            <a:r>
              <a:rPr lang="en-US"/>
              <a:t>2. Öğrencilere şu soruyu yönelterek merak uyandırın: "Elimdeki bu küçük kart veya cebinizdeki telefon, aslında sadece kumdan (silisyumdan) ve bakır tellerden yapılmış cansız bir eşya. Peki nasıl oluyor da içinden geçen görünmez elektronlar, bir İHA'yı uçuran veya sizinle konuşan bir yapay zekaya dönüşüyor?"</a:t>
            </a:r>
          </a:p>
          <a:p>
            <a:r>
              <a:rPr lang="en-US"/>
              <a:t>3. Sunumu başlatırken PowerPoint'te "Sunucu Görünümü (Presenter View)" özelliğini aktif edin (Alt + F5 veya Slayt Gösterisi sekmesinden 'Sunucu Görünümünü Kullan'). Böylece öğrenciler projeksiyonda az yazılı, görsel kartları görürken siz 2. ekranınızda bu detaylı ders rehberini göreceksiniz.</a:t>
            </a:r>
          </a:p>
          <a:p>
            <a:endParaRPr lang="en-US"/>
          </a:p>
          <a:p>
            <a:r>
              <a:rPr lang="en-US"/>
              <a:t>📖 EĞİTMEN ANLATIM REHBERİ:</a:t>
            </a:r>
          </a:p>
          <a:p>
            <a:r>
              <a:rPr lang="en-US"/>
              <a:t>• Bugünkü dersimizin amacı ezber yapmak değil, "Ufuk Turu" yapmak.</a:t>
            </a:r>
          </a:p>
          <a:p>
            <a:r>
              <a:rPr lang="en-US"/>
              <a:t>• Elektriğin en temel parçacığı olan elektrondan başlayıp; devreleri, analog ve dijital dünyayı, 0 ve 1'lerin nereden çıktığını, mantık kapılarını, işlemcileri (CPU, Arduino, ESP32, Deneyap Kart) ve en üstte algoritmayı birbirine bağlayacağız.</a:t>
            </a:r>
          </a:p>
        </p:txBody>
      </p:sp>
      <p:sp>
        <p:nvSpPr>
          <p:cNvPr id="4" name="Slide Number Placeholder 3"/>
          <p:cNvSpPr>
            <a:spLocks noGrp="1"/>
          </p:cNvSpPr>
          <p:nvPr>
            <p:ph type="sldNum" sz="quarter" idx="5"/>
          </p:nvPr>
        </p:nvSpPr>
        <p:spPr/>
        <p:txBody>
          <a:bodyPr/>
          <a:lstStyle/>
          <a:p>
            <a:fld id="{B5396F1A-52EC-4E40-BAD4-7E70364545B9}" type="slidenum">
              <a:rPr lang="en-US" smtClean="0"/>
              <a:t>1</a:t>
            </a:fld>
            <a:endParaRPr lang="en-US"/>
          </a:p>
        </p:txBody>
      </p:sp>
    </p:spTree>
    <p:extLst>
      <p:ext uri="{BB962C8B-B14F-4D97-AF65-F5344CB8AC3E}">
        <p14:creationId xmlns:p14="http://schemas.microsoft.com/office/powerpoint/2010/main" val="408837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2: BÜYÜK RESİM — BİRBİRİNE BAĞIMLI 6 HALKA</a:t>
            </a:r>
          </a:p>
          <a:p>
            <a:r>
              <a:rPr lang="en-US"/>
              <a:t>===================================================================</a:t>
            </a:r>
          </a:p>
          <a:p>
            <a:endParaRPr lang="en-US"/>
          </a:p>
          <a:p>
            <a:r>
              <a:rPr lang="en-US"/>
              <a:t>🎯 BU SAYFADA NE YAPILACAK? (EĞİTMEN SAHNE REHBERİ):</a:t>
            </a:r>
          </a:p>
          <a:p>
            <a:r>
              <a:rPr lang="en-US"/>
              <a:t>1. Ekrandaki 6 numaralı kartı sırayla (01'den 06'ya) işaret ederek teknolojinin nasıl katman katman yükseldiğini gösterin.</a:t>
            </a:r>
          </a:p>
          <a:p>
            <a:r>
              <a:rPr lang="en-US"/>
              <a:t>2. Öğrencilerin çoğu "kod yazmayı" (06) veya "pil takmayı" (01) ayrı dünyalar sanır. Bu slaytta ikisinin aynı zincirin halkaları olduğunu vurgulayın.</a:t>
            </a:r>
          </a:p>
          <a:p>
            <a:endParaRPr lang="en-US"/>
          </a:p>
          <a:p>
            <a:r>
              <a:rPr lang="en-US"/>
              <a:t>📖 EĞİTMEN ANLATIM REHBERİ (6 HALKANIN BAĞLANTISI):</a:t>
            </a:r>
          </a:p>
          <a:p>
            <a:r>
              <a:rPr lang="en-US"/>
              <a:t>• 01 - Elektron &amp; Voltaj: Her şey atomun içindeki elektronların voltaj basıncıyla kabloda akmasıyla başlar. Fiziksel enerji budur.</a:t>
            </a:r>
          </a:p>
          <a:p>
            <a:r>
              <a:rPr lang="en-US"/>
              <a:t>• 02 - Devre &amp; Transistör: Elektriği başıboş bırakamayız; dirençle frenleriz, transistör (mikroskobik anahtar) ile açıp kapatırız.</a:t>
            </a:r>
          </a:p>
          <a:p>
            <a:r>
              <a:rPr lang="en-US"/>
              <a:t>• 03 - Analog ➔ Dijital: Doğadaki ses, sıcaklık, ışık sürekli değişir (Analog). Bilgisayarın hata yapmaması için bunları 0 ve 1'lere (Dijital) çeviririz.</a:t>
            </a:r>
          </a:p>
          <a:p>
            <a:r>
              <a:rPr lang="en-US"/>
              <a:t>• 04 - Mantık Kapıları: 0 ve 1'ler VE (AND), VEYA (OR), DEĞİL (NOT) kapılarından geçerek ilk kez "karar" vermeye başlar.</a:t>
            </a:r>
          </a:p>
          <a:p>
            <a:r>
              <a:rPr lang="en-US"/>
              <a:t>• 05 - İşlemci &amp; Kartlar: Milyonlarca mantık kapısı birleşince CPU, Arduino, ESP32 ve Deneyap Kart doğar.</a:t>
            </a:r>
          </a:p>
          <a:p>
            <a:r>
              <a:rPr lang="en-US"/>
              <a:t>• 06 - Algoritma &amp; Kod: Yazdığımız kodlar, o işlemcinin içindeki kapılara hangi sırayla açılıp kapanacağını söyleyen plandır.</a:t>
            </a:r>
          </a:p>
          <a:p>
            <a:endParaRPr lang="en-US"/>
          </a:p>
          <a:p>
            <a:r>
              <a:rPr lang="en-US"/>
              <a:t>🧠 DÜŞÜNCE DENEYİ #1 (SINIFA SORUN):</a:t>
            </a:r>
          </a:p>
          <a:p>
            <a:r>
              <a:rPr lang="en-US"/>
              <a:t>• SORU: "Çocuklar, bu 6 halkadan 1. Halkayı (Elektriği) çekip çıkarırsak 6. Halkadaki (Algoritmadaki) en gelişmiş yapay zekaya ne olur? Ya da tam tersi, 6. Halkayı (Algoritmayı) silersek dünyanın en pahalı işlemcisine ne olur?"</a:t>
            </a:r>
          </a:p>
          <a:p>
            <a:r>
              <a:rPr lang="en-US"/>
              <a:t>• BEKLENEN CEVAP: "Elektrik (1. Halka) yoksa en zeki algoritma sadece kağıt üzerinde ölü bir yazıdır. Algoritma (6. Halka) yoksa en güçlü işlemci sadece ısınan bir kum (silisyum) parçasıdır! Hepsi birbirine muhtaçtır."</a:t>
            </a:r>
          </a:p>
        </p:txBody>
      </p:sp>
      <p:sp>
        <p:nvSpPr>
          <p:cNvPr id="4" name="Slide Number Placeholder 3"/>
          <p:cNvSpPr>
            <a:spLocks noGrp="1"/>
          </p:cNvSpPr>
          <p:nvPr>
            <p:ph type="sldNum" sz="quarter" idx="5"/>
          </p:nvPr>
        </p:nvSpPr>
        <p:spPr/>
        <p:txBody>
          <a:bodyPr/>
          <a:lstStyle/>
          <a:p>
            <a:fld id="{B5396F1A-52EC-4E40-BAD4-7E70364545B9}" type="slidenum">
              <a:rPr lang="en-US" smtClean="0"/>
              <a:t>2</a:t>
            </a:fld>
            <a:endParaRPr lang="en-US"/>
          </a:p>
        </p:txBody>
      </p:sp>
    </p:spTree>
    <p:extLst>
      <p:ext uri="{BB962C8B-B14F-4D97-AF65-F5344CB8AC3E}">
        <p14:creationId xmlns:p14="http://schemas.microsoft.com/office/powerpoint/2010/main" val="591597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3: 1. HALKA — ELEKTRİK NEDİR, NE DEĞİLDİR? (V, I, R)</a:t>
            </a:r>
          </a:p>
          <a:p>
            <a:r>
              <a:rPr lang="en-US"/>
              <a:t>===================================================================</a:t>
            </a:r>
          </a:p>
          <a:p>
            <a:endParaRPr lang="en-US"/>
          </a:p>
          <a:p>
            <a:r>
              <a:rPr lang="en-US"/>
              <a:t>🎯 BU SAYFADA NE YAPILACAK? (EĞİTMEN SAHNE REHBERİ):</a:t>
            </a:r>
          </a:p>
          <a:p>
            <a:r>
              <a:rPr lang="en-US"/>
              <a:t>1. Sol taraftaki büyük Su Borusu görselini kullanarak Voltaj, Akım ve Direnci canlandırın.</a:t>
            </a:r>
          </a:p>
          <a:p>
            <a:r>
              <a:rPr lang="en-US"/>
              <a:t>2. Elinizde bir şarj kablosu varsa gösterin: "Dışı plastik (yalıtkan - bizi korur), içi bakır (iletken - elektronların otobanı)."</a:t>
            </a:r>
          </a:p>
          <a:p>
            <a:r>
              <a:rPr lang="en-US"/>
              <a:t>3. İsterseniz simülasyon dosyamızdaki (Elektronik_ve_Bilgisayar_Simulasyonu.html) 1. Sekmeyi açıp Voltaj ve Direnç sürgüleriyle oynayarak Ohm Yasasını canlı gösterin.</a:t>
            </a:r>
          </a:p>
          <a:p>
            <a:endParaRPr lang="en-US"/>
          </a:p>
          <a:p>
            <a:r>
              <a:rPr lang="en-US"/>
              <a:t>📖 EĞİTMEN ANLATIM REHBERİ (NEDİR / NE DEĞİLDİR):</a:t>
            </a:r>
          </a:p>
          <a:p>
            <a:r>
              <a:rPr lang="en-US"/>
              <a:t>• ELEKTRİK NEDİR? Atomların etrafındaki serbest elektronların, bir noktadan diğerine doğru düzenli hareket etmesidir.</a:t>
            </a:r>
          </a:p>
          <a:p>
            <a:r>
              <a:rPr lang="en-US"/>
              <a:t>• ELEKTRİK NE DEĞİLDİR?</a:t>
            </a:r>
          </a:p>
          <a:p>
            <a:r>
              <a:rPr lang="en-US"/>
              <a:t>  1) Voltaj ve Akım aynı şey değildir! Voltaj (V), elektronları iten "su basıncıdır". Akım (I / Amper), borudan saniyede geçen "su miktarıdır".</a:t>
            </a:r>
          </a:p>
          <a:p>
            <a:r>
              <a:rPr lang="en-US"/>
              <a:t>  2) Direnç (R / Ohm), borunun daralmasıdır; akımı frenler ve hassas parçaları yanmaktan korur.</a:t>
            </a:r>
          </a:p>
          <a:p>
            <a:r>
              <a:rPr lang="en-US"/>
              <a:t>  3) Ohm Yasası (V = I × R): Basınç (Voltaj) artarsa geçen su (Akım) artar; boru daralırsa (Direnç artarsa) geçen su (Akım) azalır!</a:t>
            </a:r>
          </a:p>
          <a:p>
            <a:endParaRPr lang="en-US"/>
          </a:p>
          <a:p>
            <a:r>
              <a:rPr lang="en-US"/>
              <a:t>🧠 DÜŞÜNCE DENEYİ #2 (SINIFA SORUN):</a:t>
            </a:r>
          </a:p>
          <a:p>
            <a:r>
              <a:rPr lang="en-US"/>
              <a:t>• SORU: "Binlerce voltluk yüksek gerilim tellerine konan kuşlar neden elektrik çarpması yaşamaz?"</a:t>
            </a:r>
          </a:p>
          <a:p>
            <a:r>
              <a:rPr lang="en-US"/>
              <a:t>• BEKLENEN CEVAP: "Çünkü elektrik akımı sadece İKİ NOKTA ARASINDA VOLTAJ (BASINÇ) FARKI varsa akar! Kuşun iki ayağı da aynı teldedir (örneğin sol ayağı da 10.000 Volt, sağ ayağı da 10.000 Volt). Fark 0 Volt olduğu için kuşun vücudundan akım geçmez. Ama kuş kanadını yan tele veya direğe (0 Volt toprağa) değdirirse fark oluşur ve akım geçer!"</a:t>
            </a:r>
          </a:p>
        </p:txBody>
      </p:sp>
      <p:sp>
        <p:nvSpPr>
          <p:cNvPr id="4" name="Slide Number Placeholder 3"/>
          <p:cNvSpPr>
            <a:spLocks noGrp="1"/>
          </p:cNvSpPr>
          <p:nvPr>
            <p:ph type="sldNum" sz="quarter" idx="5"/>
          </p:nvPr>
        </p:nvSpPr>
        <p:spPr/>
        <p:txBody>
          <a:bodyPr/>
          <a:lstStyle/>
          <a:p>
            <a:fld id="{B5396F1A-52EC-4E40-BAD4-7E70364545B9}" type="slidenum">
              <a:rPr lang="en-US" smtClean="0"/>
              <a:t>3</a:t>
            </a:fld>
            <a:endParaRPr lang="en-US"/>
          </a:p>
        </p:txBody>
      </p:sp>
    </p:spTree>
    <p:extLst>
      <p:ext uri="{BB962C8B-B14F-4D97-AF65-F5344CB8AC3E}">
        <p14:creationId xmlns:p14="http://schemas.microsoft.com/office/powerpoint/2010/main" val="2442288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4: 2. HALKA — DEVRE ELEMANLARI: BREADBOARD, DİRENÇ VE LED</a:t>
            </a:r>
          </a:p>
          <a:p>
            <a:r>
              <a:rPr lang="en-US"/>
              <a:t>===================================================================</a:t>
            </a:r>
          </a:p>
          <a:p>
            <a:endParaRPr lang="en-US"/>
          </a:p>
          <a:p>
            <a:r>
              <a:rPr lang="en-US"/>
              <a:t>🎯 BU SAYFADA NE YAPILACAK? (EĞİTMEN SAHNE REHBERİ):</a:t>
            </a:r>
          </a:p>
          <a:p>
            <a:r>
              <a:rPr lang="en-US"/>
              <a:t>1. Öğrencilere fiziksel bir Breadboard, bir LED ve bir Direnç gösterin (veya ekrandaki 3 görsel kartı işaret edin).</a:t>
            </a:r>
          </a:p>
          <a:p>
            <a:r>
              <a:rPr lang="en-US"/>
              <a:t>2. LED'in bacaklarına dikkat çekin: "Biri uzun, biri kısa! Neden üretici bacaklardan birini uzun yapmış?" diye sorun.</a:t>
            </a:r>
          </a:p>
          <a:p>
            <a:r>
              <a:rPr lang="en-US"/>
              <a:t>3. Simülasyon programımızdaki (Elektronik_ve_Bilgisayar_Simulasyonu.html) 1. Sekmede direnci 0 Ohm'a çekip LED'in nasıl patladığını canlı gösterin!</a:t>
            </a:r>
          </a:p>
          <a:p>
            <a:endParaRPr lang="en-US"/>
          </a:p>
          <a:p>
            <a:r>
              <a:rPr lang="en-US"/>
              <a:t>📖 EĞİTMEN ANLATIM REHBERİ (NEDİR / NE DEĞİLDİR):</a:t>
            </a:r>
          </a:p>
          <a:p>
            <a:r>
              <a:rPr lang="en-US"/>
              <a:t>• DEVRE NEDİR? Elektronların pilin (+) ucundan çıkıp devre elemanlarından geçerek (-) ucuna kesintisiz döndüğü kapalı yoldur.</a:t>
            </a:r>
          </a:p>
          <a:p>
            <a:r>
              <a:rPr lang="en-US"/>
              <a:t>• DEVRE NE DEĞİLDİR? Tek bir kabloyla enerji gitmez! Dönüş yolu (GND / Eksi) bağlı değilse elektronlar hareket etmez (Açık devre).</a:t>
            </a:r>
          </a:p>
          <a:p>
            <a:r>
              <a:rPr lang="en-US"/>
              <a:t>• SERİ vs. PARALEL BAĞLANTI:</a:t>
            </a:r>
          </a:p>
          <a:p>
            <a:r>
              <a:rPr lang="en-US"/>
              <a:t>  - Seri: Elemanlar el ele tek sıra dizilir. Biri bozulursa yol kopar, hepsi söner.</a:t>
            </a:r>
          </a:p>
          <a:p>
            <a:r>
              <a:rPr lang="en-US"/>
              <a:t>  - Paralel: Her elemana ayrı kol gider. Evlerimizdeki prizler ve lambalar paraleldir; mutfak lambasını kapatınca televizyon kapanmaz!</a:t>
            </a:r>
          </a:p>
          <a:p>
            <a:r>
              <a:rPr lang="en-US"/>
              <a:t>• BREADBOARD NEDİR? Lehim yapmadan devre kurmamızı sağlayan, içinde gizli metal kıskaçlar olan deney tahtasıdır. Kenardaki kırmızı/mavi güç şeritleri yatay, ortadaki harfli delikler ise 5'erli dikey birbirine bağlıdır.</a:t>
            </a:r>
          </a:p>
          <a:p>
            <a:r>
              <a:rPr lang="en-US"/>
              <a:t>• LED NEDİR? "Işık Yayan Diyot"tur. Sıradan ampul değildir; elektriği sadece TEK YÖNDE geçirir. Uzun bacak (+) Anot, kısa bacak (-) Katottur.</a:t>
            </a:r>
          </a:p>
          <a:p>
            <a:endParaRPr lang="en-US"/>
          </a:p>
          <a:p>
            <a:r>
              <a:rPr lang="en-US"/>
              <a:t>🧠 DÜŞÜNCE DENEYİ #3 (SINIFA SORUN):</a:t>
            </a:r>
          </a:p>
          <a:p>
            <a:r>
              <a:rPr lang="en-US"/>
              <a:t>• SORU: "2 Volt ile çalışan kırmızı bir LED'i, 9 Voltluk pile doğrudan (dirençsiz) bağlarsak ne olur? Peki LED'i ters takarsak ne olur?"</a:t>
            </a:r>
          </a:p>
          <a:p>
            <a:r>
              <a:rPr lang="en-US"/>
              <a:t>• BEKLENEN CEVAP: "Direnç olmadan bağlarsak Ohm Yasasına (I = V/R) göre direnç neredeyse sıfır olduğu için devasa bir akım geçer ve LED milisaniyeler içinde yanıp bozulur! Ters takarsak LED tek yönlü bir kapı (diyot) olduğu için akımı engeller ve hiç yanmaz."</a:t>
            </a:r>
          </a:p>
        </p:txBody>
      </p:sp>
      <p:sp>
        <p:nvSpPr>
          <p:cNvPr id="4" name="Slide Number Placeholder 3"/>
          <p:cNvSpPr>
            <a:spLocks noGrp="1"/>
          </p:cNvSpPr>
          <p:nvPr>
            <p:ph type="sldNum" sz="quarter" idx="5"/>
          </p:nvPr>
        </p:nvSpPr>
        <p:spPr/>
        <p:txBody>
          <a:bodyPr/>
          <a:lstStyle/>
          <a:p>
            <a:fld id="{B5396F1A-52EC-4E40-BAD4-7E70364545B9}" type="slidenum">
              <a:rPr lang="en-US" smtClean="0"/>
              <a:t>4</a:t>
            </a:fld>
            <a:endParaRPr lang="en-US"/>
          </a:p>
        </p:txBody>
      </p:sp>
    </p:spTree>
    <p:extLst>
      <p:ext uri="{BB962C8B-B14F-4D97-AF65-F5344CB8AC3E}">
        <p14:creationId xmlns:p14="http://schemas.microsoft.com/office/powerpoint/2010/main" val="2470114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5: 3. HALKA — ANALOG NEDİR, DİJİTAL NEDİR?</a:t>
            </a:r>
          </a:p>
          <a:p>
            <a:r>
              <a:rPr lang="en-US"/>
              <a:t>===================================================================</a:t>
            </a:r>
          </a:p>
          <a:p>
            <a:endParaRPr lang="en-US"/>
          </a:p>
          <a:p>
            <a:r>
              <a:rPr lang="en-US"/>
              <a:t>🎯 BU SAYFADA NE YAPILACAK? (EĞİTMEN SAHNE REHBERİ):</a:t>
            </a:r>
          </a:p>
          <a:p>
            <a:r>
              <a:rPr lang="en-US"/>
              <a:t>1. Sınıftaki ışık anahtarını (veya elinizi) kullanarak "Dimmerli (ayarlı) lamba = Analog", "Çıt-çıt Aç/Kapa anahtar = Dijital" örneğini verin.</a:t>
            </a:r>
          </a:p>
          <a:p>
            <a:r>
              <a:rPr lang="en-US"/>
              <a:t>2. Simülasyon programımızdaki (Elektronik_ve_Bilgisayar_Simulasyonu.html) 2. Sekmeyi ("Analog vs Dijital") açın ve "Hat Gürültüsü (Parazit)" sürgüsünü artırın! Öğrenciler analog dalganın bozulduğunu ama dijital 0 ve 1'lerin tertemiz kaldığını kendi gözleriyle görsünler.</a:t>
            </a:r>
          </a:p>
          <a:p>
            <a:endParaRPr lang="en-US"/>
          </a:p>
          <a:p>
            <a:r>
              <a:rPr lang="en-US"/>
              <a:t>📖 EĞİTMEN ANLATIM REHBERİ (NEDİR / NE DEĞİLDİR):</a:t>
            </a:r>
          </a:p>
          <a:p>
            <a:r>
              <a:rPr lang="en-US"/>
              <a:t>• ANALOG NEDİR? Zamanla kesintisiz ve sürekli değişen sinyallerdir. Bir rampada yürümek gibidir; her milimetrede durabilirsiniz. Doğadaki her şey (sesimiz, rüzgar, sıcaklık, ışık) analogdur.</a:t>
            </a:r>
          </a:p>
          <a:p>
            <a:r>
              <a:rPr lang="en-US"/>
              <a:t>• DİJİTAL NEDİR? Sadece belirli, net basamakları olan sinyallerdir. Bir merdivenin basamakları gibidir; 1. veya 2. basamakta durabilirsiniz ama 1.47'nci basamak yoktur! Elektronikte sadece iki basamak kullanırız: 0 (0 Volt - Kapalı) ve 1 (5 Volt - Açık).</a:t>
            </a:r>
          </a:p>
          <a:p>
            <a:r>
              <a:rPr lang="en-US"/>
              <a:t>• NE DEĞİLDİR? "Dijital her zaman analogdan daha hassastır" düşüncesi YANLIŞTIR! Doğa sonsuz çözünürlüklüdür (analog), dijital ise doğanın belirli aralıklarla çekilmiş fotoğrafı (örneklenmiş hali) gibidir. Ama dijitalin süper gücü KOPYALANABİLİRLİK ve GÜRÜLTÜ BAĞIŞIKLIĞIDIR.</a:t>
            </a:r>
          </a:p>
          <a:p>
            <a:endParaRPr lang="en-US"/>
          </a:p>
          <a:p>
            <a:r>
              <a:rPr lang="en-US"/>
              <a:t>🧠 DÜŞÜNCE DENEYİ #4 (SINIFA SORUN):</a:t>
            </a:r>
          </a:p>
          <a:p>
            <a:r>
              <a:rPr lang="en-US"/>
              <a:t>• SORU: "Bir arkadaşınıza çok uzun bir kablodan voltaj gönderiyorsunuz. Kablo yolda ısınıyor ve gönderdiğiniz 5.0 Volt, karşıya 4.7 Volt olarak ulaşıyor. Sisteminiz Analog olsaydı ne olurdu? Dijital olsaydı ne olurdu?"</a:t>
            </a:r>
          </a:p>
          <a:p>
            <a:r>
              <a:rPr lang="en-US"/>
              <a:t>• BEKLENEN CEVAP: "Analog sistemde 5.0V yerine 4.7V gelmesi bilginin bozulması demektir (eski kasetlerin kopyalandıkça hışırdaması gibi). Ama Dijital sistemde kural basittir: '2.5 Voltun üstündeki her şey 1 kabul edilir!' Dolayısıyla 4.7 Volt gelse bile bilgisayar onu hatasız şekilde '1' olarak okur ve 1000 kez kopyalasanız bile ses/video hiç bozulmaz!"</a:t>
            </a:r>
          </a:p>
        </p:txBody>
      </p:sp>
      <p:sp>
        <p:nvSpPr>
          <p:cNvPr id="4" name="Slide Number Placeholder 3"/>
          <p:cNvSpPr>
            <a:spLocks noGrp="1"/>
          </p:cNvSpPr>
          <p:nvPr>
            <p:ph type="sldNum" sz="quarter" idx="5"/>
          </p:nvPr>
        </p:nvSpPr>
        <p:spPr/>
        <p:txBody>
          <a:bodyPr/>
          <a:lstStyle/>
          <a:p>
            <a:fld id="{B5396F1A-52EC-4E40-BAD4-7E70364545B9}" type="slidenum">
              <a:rPr lang="en-US" smtClean="0"/>
              <a:t>5</a:t>
            </a:fld>
            <a:endParaRPr lang="en-US"/>
          </a:p>
        </p:txBody>
      </p:sp>
    </p:spTree>
    <p:extLst>
      <p:ext uri="{BB962C8B-B14F-4D97-AF65-F5344CB8AC3E}">
        <p14:creationId xmlns:p14="http://schemas.microsoft.com/office/powerpoint/2010/main" val="88354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6: TRANSİSTÖR VE İKİLİK (BINARY 0-1) SİSTEM</a:t>
            </a:r>
          </a:p>
          <a:p>
            <a:r>
              <a:rPr lang="en-US"/>
              <a:t>===================================================================</a:t>
            </a:r>
          </a:p>
          <a:p>
            <a:endParaRPr lang="en-US"/>
          </a:p>
          <a:p>
            <a:r>
              <a:rPr lang="en-US"/>
              <a:t>🎯 BU SAYFADA NE YAPILACAK? (EĞİTMEN SAHNE REHBERİ):</a:t>
            </a:r>
          </a:p>
          <a:p>
            <a:r>
              <a:rPr lang="en-US"/>
              <a:t>1. Üstteki görselde Transistörün "Parmakla değil, elektrik sinyaliyle çalışan süper hızlı bir anahtar" olduğunu gösterin.</a:t>
            </a:r>
          </a:p>
          <a:p>
            <a:r>
              <a:rPr lang="en-US"/>
              <a:t>2. Tahtaya veya ekrana 4 fenerin ağırlıklarını işaret edin: 8 - 4 - 2 - 1.</a:t>
            </a:r>
          </a:p>
          <a:p>
            <a:r>
              <a:rPr lang="en-US"/>
              <a:t>3. Sınıftan 4 gönüllü öğrenciyi ayağa kaldırın (veya ellerini kaldırmalarını isteyin): El havada = 1, El aşağıda = 0. Sınıfa "Bana 6 sayısını yapın (0110)", "Bana 13 sayısını yapın (1101)" diyerek canlı Binary oyunu oynatın!</a:t>
            </a:r>
          </a:p>
          <a:p>
            <a:endParaRPr lang="en-US"/>
          </a:p>
          <a:p>
            <a:r>
              <a:rPr lang="en-US"/>
              <a:t>📖 EĞİTMEN ANLATIM REHBERİ:</a:t>
            </a:r>
          </a:p>
          <a:p>
            <a:r>
              <a:rPr lang="en-US"/>
              <a:t>• TRANSİSTÖR NEDİR? İçinde hareketli yay veya mekanik parça olmayan, yarı-iletken (silisyum) maddeden yapılmış elektronik anahtardır. Orta bacağına (Base) küçük bir voltaj verdiğinizde anahtarı kapatır (1), voltajı kestiğinizde anahtarı açar (0). Bugün tek bir işlemcinin içinde 10 ila 100 MİLYAR adet transistör vardır!</a:t>
            </a:r>
          </a:p>
          <a:p>
            <a:r>
              <a:rPr lang="en-US"/>
              <a:t>• NEDEN 10'LUK SİSTEM DEĞİL DE 2'LİK (BINARY) SİSTEM?</a:t>
            </a:r>
          </a:p>
          <a:p>
            <a:r>
              <a:rPr lang="en-US"/>
              <a:t>  İnsanlar 10'luk sistem kullanır çünkü 10 parmağımız vardır. Bilgisayar 10'luk sistem kullansaydı; 0V, 0.5V, 1.0V, 1.5V ... gibi 10 farklı voltaj seviyesini ayırt etmesi gerekirdi. Pil biraz zayıflasa 7 sayısı 6'ya dönüşür, bilgisayar sürekli yanlış hesap yapardı! Oysa "Elektrik Var (1) / Elektrik Yok (0)" ayrımında hata yapmak imkansızdır.</a:t>
            </a:r>
          </a:p>
          <a:p>
            <a:endParaRPr lang="en-US"/>
          </a:p>
          <a:p>
            <a:r>
              <a:rPr lang="en-US"/>
              <a:t>🧠 DÜŞÜNCE DENEYİ #5 (SINIFA SORUN):</a:t>
            </a:r>
          </a:p>
          <a:p>
            <a:r>
              <a:rPr lang="en-US"/>
              <a:t>• SORU: "Elinizde sadece 4 adet el feneri (4 Bit) var. Normalde 4 fenerle sadece 4'e kadar sayabileceğinizi sanırsınız. Peki Binary ağırlık kuralıyla (8 - 4 - 2 - 1) 0'dan kaça kadar tüm sayıları gösterebilirsiniz?"</a:t>
            </a:r>
          </a:p>
          <a:p>
            <a:r>
              <a:rPr lang="en-US"/>
              <a:t>• BEKLENEN CEVAP: "Hepsi sönükken 0000 = 0, hepsi yanıkken 1111 = 8 + 4 + 2 + 1 = 15! Yani 4 fenerle tam 16 farklı durumu (0..15) gösterebiliriz!"</a:t>
            </a:r>
          </a:p>
        </p:txBody>
      </p:sp>
      <p:sp>
        <p:nvSpPr>
          <p:cNvPr id="4" name="Slide Number Placeholder 3"/>
          <p:cNvSpPr>
            <a:spLocks noGrp="1"/>
          </p:cNvSpPr>
          <p:nvPr>
            <p:ph type="sldNum" sz="quarter" idx="5"/>
          </p:nvPr>
        </p:nvSpPr>
        <p:spPr/>
        <p:txBody>
          <a:bodyPr/>
          <a:lstStyle/>
          <a:p>
            <a:fld id="{B5396F1A-52EC-4E40-BAD4-7E70364545B9}" type="slidenum">
              <a:rPr lang="en-US" smtClean="0"/>
              <a:t>6</a:t>
            </a:fld>
            <a:endParaRPr lang="en-US"/>
          </a:p>
        </p:txBody>
      </p:sp>
    </p:spTree>
    <p:extLst>
      <p:ext uri="{BB962C8B-B14F-4D97-AF65-F5344CB8AC3E}">
        <p14:creationId xmlns:p14="http://schemas.microsoft.com/office/powerpoint/2010/main" val="3765088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7: 4. HALKA — MANTIK KAPILARI (VE, VEYA, DEĞİL, XOR)</a:t>
            </a:r>
          </a:p>
          <a:p>
            <a:r>
              <a:rPr lang="en-US"/>
              <a:t>===================================================================</a:t>
            </a:r>
          </a:p>
          <a:p>
            <a:endParaRPr lang="en-US"/>
          </a:p>
          <a:p>
            <a:r>
              <a:rPr lang="en-US"/>
              <a:t>🎯 BU SAYFADA NE YAPILACAK? (EĞİTMEN SAHNE REHBERİ):</a:t>
            </a:r>
          </a:p>
          <a:p>
            <a:r>
              <a:rPr lang="en-US"/>
              <a:t>1. Ekrandaki 4 büyük Mantık Kapısı kartını gösterin. Öğrencilere "Cansız elektrik sinyalleri ilk kez burada DÜŞÜNMEYE ve KARAR VERMEYE başlıyor!" deyin.</a:t>
            </a:r>
          </a:p>
          <a:p>
            <a:r>
              <a:rPr lang="en-US"/>
              <a:t>2. Simülasyon programımızdaki (Elektronik_ve_Bilgisayar_Simulasyonu.html) 3. Sekmeyi ("Mantık Kapıları") açarak A ve B anahtarlarına tıklayın, doğruluk tablosunun nasıl canlandığını gösterin.</a:t>
            </a:r>
          </a:p>
          <a:p>
            <a:endParaRPr lang="en-US"/>
          </a:p>
          <a:p>
            <a:r>
              <a:rPr lang="en-US"/>
              <a:t>📖 EĞİTMEN ANLATIM REHBERİ:</a:t>
            </a:r>
          </a:p>
          <a:p>
            <a:r>
              <a:rPr lang="en-US"/>
              <a:t>• MANTIK KAPISI NEDİR? İçinde birkaç transistör barındıran, girişindeki 1 ve 0'lara bakarak çıkışta 1 mi yoksa 0 mı üreteceğine karar veren devre bloklarıdır.</a:t>
            </a:r>
          </a:p>
          <a:p>
            <a:r>
              <a:rPr lang="en-US"/>
              <a:t>  1) VE (AND) Kapısı: İki anahtarın SERİ bağlanması gibidir. Lamba yanması için hem A=1 HEM DE B=1 olmalıdır. (Örn: Arabada emniyet kemeri takılı VE kontağa basılıysa).</a:t>
            </a:r>
          </a:p>
          <a:p>
            <a:r>
              <a:rPr lang="en-US"/>
              <a:t>  2) VEYA (OR) Kapısı: İki anahtarın PARALEL bağlanması gibidir. A=1 VEYA B=1 olması yeterlidir. (Örn: Ön kapı VEYA arka kapı zili).</a:t>
            </a:r>
          </a:p>
          <a:p>
            <a:r>
              <a:rPr lang="en-US"/>
              <a:t>  3) DEĞİL (NOT) Kapısı: Ters çeviricidir. Giriş 1 ise çıkış 0; giriş 0 ise çıkış 1 olur.</a:t>
            </a:r>
          </a:p>
          <a:p>
            <a:r>
              <a:rPr lang="en-US"/>
              <a:t>  4) ÖZEL VEYA (XOR) Kapısı: "Farklıysa 1, aynıysa 0" kapısıdır. Bilgisayarların toplama işlemi yapmasını sağlayan en kritik kapıdır!</a:t>
            </a:r>
          </a:p>
          <a:p>
            <a:endParaRPr lang="en-US"/>
          </a:p>
          <a:p>
            <a:r>
              <a:rPr lang="en-US"/>
              <a:t>🧠 DÜŞÜNCE DENEYİ #6 (SINIFA SORUN):</a:t>
            </a:r>
          </a:p>
          <a:p>
            <a:r>
              <a:rPr lang="en-US"/>
              <a:t>• SORU: "Hiç kod yazmadan, sadece mantık kapılarıyla 'Hava Karanlık (Işık=0) olduğunda VE Bahçede Hareket (Hareket=1) olduğunda yanan' bir lamba tasarlayabilir misiniz?"</a:t>
            </a:r>
          </a:p>
          <a:p>
            <a:r>
              <a:rPr lang="en-US"/>
              <a:t>• BEKLENEN CEVAP: "Evet! Önce Işık sensöründen gelen '0' sinyalini bir DEĞİL (NOT) kapısına sokarız, çıkış '1' olur. Sonra bu '1' ile Hareket sensöründen gelen '1' sinyalini bir VE (AND) kapısına bağlarız: 1 VE 1 = 1 (Lamba Yanar)!"</a:t>
            </a:r>
          </a:p>
        </p:txBody>
      </p:sp>
      <p:sp>
        <p:nvSpPr>
          <p:cNvPr id="4" name="Slide Number Placeholder 3"/>
          <p:cNvSpPr>
            <a:spLocks noGrp="1"/>
          </p:cNvSpPr>
          <p:nvPr>
            <p:ph type="sldNum" sz="quarter" idx="5"/>
          </p:nvPr>
        </p:nvSpPr>
        <p:spPr/>
        <p:txBody>
          <a:bodyPr/>
          <a:lstStyle/>
          <a:p>
            <a:fld id="{B5396F1A-52EC-4E40-BAD4-7E70364545B9}" type="slidenum">
              <a:rPr lang="en-US" smtClean="0"/>
              <a:t>7</a:t>
            </a:fld>
            <a:endParaRPr lang="en-US"/>
          </a:p>
        </p:txBody>
      </p:sp>
    </p:spTree>
    <p:extLst>
      <p:ext uri="{BB962C8B-B14F-4D97-AF65-F5344CB8AC3E}">
        <p14:creationId xmlns:p14="http://schemas.microsoft.com/office/powerpoint/2010/main" val="1167653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8: 7-SEGMENT EKRAN VE KARNAUGH İLE SADELEŞTİRME</a:t>
            </a:r>
          </a:p>
          <a:p>
            <a:r>
              <a:rPr lang="en-US"/>
              <a:t>===================================================================</a:t>
            </a:r>
          </a:p>
          <a:p>
            <a:endParaRPr lang="en-US"/>
          </a:p>
          <a:p>
            <a:r>
              <a:rPr lang="en-US"/>
              <a:t>🎯 BU SAYFADA NE YAPILACAK? (EĞİTMEN SAHNE REHBERİ):</a:t>
            </a:r>
          </a:p>
          <a:p>
            <a:r>
              <a:rPr lang="en-US"/>
              <a:t>1. Sol taraftaki 7-Segment şemasında a, b, c, d, e, f, g harflerini gösterin. Asansörlerde, mikrodalga fırınlarda ve dijital saatlerde gördüğümüz ekranın aslında sadece 7 adet LED olduğunu anlatın.</a:t>
            </a:r>
          </a:p>
          <a:p>
            <a:r>
              <a:rPr lang="en-US"/>
              <a:t>2. Simülasyon programımızdaki (Elektronik_ve_Bilgisayar_Simulasyonu.html) 4. Sekmeyi açıp 8-4-2-1 butonlarıyla rakamları canlı oluşturun.</a:t>
            </a:r>
          </a:p>
          <a:p>
            <a:endParaRPr lang="en-US"/>
          </a:p>
          <a:p>
            <a:r>
              <a:rPr lang="en-US"/>
              <a:t>📖 EĞİTMEN ANLATIM REHBERİ (NEDİR / NE DEĞİLDİR):</a:t>
            </a:r>
          </a:p>
          <a:p>
            <a:r>
              <a:rPr lang="en-US"/>
              <a:t>• 7-SEGMENT EKRAN NASIL ÇALIŞIR? Bilgisayarın içindeki sayı örneğin 3'tür (Binary: 0011). Ancak insan gözü "0011" görmek istemez, ekranda "3" rakamını görmek ister. Aradaki Mantık Kapısı ağı (Decoder), 0011 girişini görünce a, b, c, d ve g LED'lerine "1" gönderir; f ve e LED'lerine "0" gönderir. Böylece ekranda "3" beliriş olur!</a:t>
            </a:r>
          </a:p>
          <a:p>
            <a:r>
              <a:rPr lang="en-US"/>
              <a:t>• KARNAUGH HARİTASI NEDİR? Geçen seneki sunumumuzda da yer alan mühendislik sırrıdır! Bir devreyi 20 tane mantık kapısıyla da yapabilirsiniz, Karnaugh haritasıyla ortak 1'leri gruplayıp sadeleştirerek 4 tane kapıyla da aynı işi yapabilirsiniz. Mühendislik, en az malzemeyle en verimli devreyi kurma sanatıdır.</a:t>
            </a:r>
          </a:p>
          <a:p>
            <a:endParaRPr lang="en-US"/>
          </a:p>
          <a:p>
            <a:r>
              <a:rPr lang="en-US"/>
              <a:t>🧠 DÜŞÜNCE DENEYİ #7 (SINIFA SORUN):</a:t>
            </a:r>
          </a:p>
          <a:p>
            <a:r>
              <a:rPr lang="en-US"/>
              <a:t>• SORU: "Soldaki a-b-c-d-e-f-g harflerine bakın: Ekranda '1' yazmak için hangileri yanmalı? '8' yazmak için hangileri yanmalı? '0' yazmak için hangisi SÖNÜK kalmalı?"</a:t>
            </a:r>
          </a:p>
          <a:p>
            <a:r>
              <a:rPr lang="en-US"/>
              <a:t>• BEKLENEN CEVAP:</a:t>
            </a:r>
          </a:p>
          <a:p>
            <a:r>
              <a:rPr lang="en-US"/>
              <a:t>  - '1' için: Sadece sağdaki b ve c yanar!</a:t>
            </a:r>
          </a:p>
          <a:p>
            <a:r>
              <a:rPr lang="en-US"/>
              <a:t>  - '8' için: Hepsi (a, b, c, d, e, f, g) yanar!</a:t>
            </a:r>
          </a:p>
          <a:p>
            <a:r>
              <a:rPr lang="en-US"/>
              <a:t>  - '0' için: Ortadaki 'g' hariç hepsi yanar!</a:t>
            </a:r>
          </a:p>
        </p:txBody>
      </p:sp>
      <p:sp>
        <p:nvSpPr>
          <p:cNvPr id="4" name="Slide Number Placeholder 3"/>
          <p:cNvSpPr>
            <a:spLocks noGrp="1"/>
          </p:cNvSpPr>
          <p:nvPr>
            <p:ph type="sldNum" sz="quarter" idx="5"/>
          </p:nvPr>
        </p:nvSpPr>
        <p:spPr/>
        <p:txBody>
          <a:bodyPr/>
          <a:lstStyle/>
          <a:p>
            <a:fld id="{B5396F1A-52EC-4E40-BAD4-7E70364545B9}" type="slidenum">
              <a:rPr lang="en-US" smtClean="0"/>
              <a:t>8</a:t>
            </a:fld>
            <a:endParaRPr lang="en-US"/>
          </a:p>
        </p:txBody>
      </p:sp>
    </p:spTree>
    <p:extLst>
      <p:ext uri="{BB962C8B-B14F-4D97-AF65-F5344CB8AC3E}">
        <p14:creationId xmlns:p14="http://schemas.microsoft.com/office/powerpoint/2010/main" val="4142106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9: 5. HALKA — BİLGİSAYAR NASIL İŞLER? (GİRDİ ➔ CPU ➔ ÇIKTI)</a:t>
            </a:r>
          </a:p>
          <a:p>
            <a:r>
              <a:rPr lang="en-US"/>
              <a:t>===================================================================</a:t>
            </a:r>
          </a:p>
          <a:p>
            <a:endParaRPr lang="en-US"/>
          </a:p>
          <a:p>
            <a:r>
              <a:rPr lang="en-US"/>
              <a:t>🎯 BU SAYFADA NE YAPILACAK? (EĞİTMEN SAHNE REHBERİ):</a:t>
            </a:r>
          </a:p>
          <a:p>
            <a:r>
              <a:rPr lang="en-US"/>
              <a:t>1. Üstteki blok şemayı soldan sağa takip edin: GİRDİ (Sensör/Klavye) ➔ İŞLEMCİ (CPU) &amp; BELLEK (RAM) ➔ ÇIKTI (Ekran/Motor).</a:t>
            </a:r>
          </a:p>
          <a:p>
            <a:r>
              <a:rPr lang="en-US"/>
              <a:t>2. Öğrencilere "Bilgisayarın içinde düşünen küçük bir insan yok; sadece saniyede milyarlarca kez çalışan mantık kapıları var!" vurgusunu yapın.</a:t>
            </a:r>
          </a:p>
          <a:p>
            <a:endParaRPr lang="en-US"/>
          </a:p>
          <a:p>
            <a:r>
              <a:rPr lang="en-US"/>
              <a:t>📖 EĞİTMEN ANLATIM REHBERİ (NEDİR / NE DEĞİLDİR):</a:t>
            </a:r>
          </a:p>
          <a:p>
            <a:r>
              <a:rPr lang="en-US"/>
              <a:t>• CPU (Merkezi İşlem Birimi) NEDİR? İçinde milyarlarca transistör ve mantık kapısı bulunan, komutları sırayla işleyen beyindir. İki ana bölümden oluşur:</a:t>
            </a:r>
          </a:p>
          <a:p>
            <a:r>
              <a:rPr lang="en-US"/>
              <a:t>  1) ALU (Arithmetic Logic Unit): Sadece 0 ve 1'lerle toplama, çıkarma ve karşılaştırma (VE, VEYA, XOR) yapan bölümdür.</a:t>
            </a:r>
          </a:p>
          <a:p>
            <a:r>
              <a:rPr lang="en-US"/>
              <a:t>  2) Kontrol Birimi (Control Unit): Sıradaki komutu RAM'den getiren ve trafiği yöneten orkestra şefidir.</a:t>
            </a:r>
          </a:p>
          <a:p>
            <a:r>
              <a:rPr lang="en-US"/>
              <a:t>• RAM NEDİR, NE DEĞİLDİR? RAM, işlemcinin hemen yanındaki "çalışma masasıdır". Çok hızlıdır ama geçicidir; fişi çektiğiniz an RAM'deki her şey uçup gider. Fotoğraflarınızın saklandığı kalıcı yer ise SSD/Flash bellektir (Kitaplık).</a:t>
            </a:r>
          </a:p>
          <a:p>
            <a:endParaRPr lang="en-US"/>
          </a:p>
          <a:p>
            <a:r>
              <a:rPr lang="en-US"/>
              <a:t>🧠 DÜŞÜNCE DENEYİ #8 (SINIFA SORUN):</a:t>
            </a:r>
          </a:p>
          <a:p>
            <a:r>
              <a:rPr lang="en-US"/>
              <a:t>• SORU: "Klavyede 'A' tuşuna bastığınızda ekranda 'A' harfi çıkana kadar geçen o 1 milisaniyede içeride sırasıyla neler olur?"</a:t>
            </a:r>
          </a:p>
          <a:p>
            <a:r>
              <a:rPr lang="en-US"/>
              <a:t>• BEKLENEN CEVAP:</a:t>
            </a:r>
          </a:p>
          <a:p>
            <a:r>
              <a:rPr lang="en-US"/>
              <a:t>  1) Tuşun altındaki anahtar kapanır (Devre tamamlanır).</a:t>
            </a:r>
          </a:p>
          <a:p>
            <a:r>
              <a:rPr lang="en-US"/>
              <a:t>  2) 'A' harfinin Binary kodu olan '01000001' (65) elektrik darbeleriyle CPU'ya gider.</a:t>
            </a:r>
          </a:p>
          <a:p>
            <a:r>
              <a:rPr lang="en-US"/>
              <a:t>  3) CPU, RAM'deki programa bakar: 'Bu harfi ekrana çiz!'</a:t>
            </a:r>
          </a:p>
          <a:p>
            <a:r>
              <a:rPr lang="en-US"/>
              <a:t>  4) Ekran kartı piksellerin LED'lerini yakarak gözümüze 'A' harfini gösterir!</a:t>
            </a:r>
          </a:p>
        </p:txBody>
      </p:sp>
      <p:sp>
        <p:nvSpPr>
          <p:cNvPr id="4" name="Slide Number Placeholder 3"/>
          <p:cNvSpPr>
            <a:spLocks noGrp="1"/>
          </p:cNvSpPr>
          <p:nvPr>
            <p:ph type="sldNum" sz="quarter" idx="5"/>
          </p:nvPr>
        </p:nvSpPr>
        <p:spPr/>
        <p:txBody>
          <a:bodyPr/>
          <a:lstStyle/>
          <a:p>
            <a:fld id="{B5396F1A-52EC-4E40-BAD4-7E70364545B9}" type="slidenum">
              <a:rPr lang="en-US" smtClean="0"/>
              <a:t>9</a:t>
            </a:fld>
            <a:endParaRPr lang="en-US"/>
          </a:p>
        </p:txBody>
      </p:sp>
    </p:spTree>
    <p:extLst>
      <p:ext uri="{BB962C8B-B14F-4D97-AF65-F5344CB8AC3E}">
        <p14:creationId xmlns:p14="http://schemas.microsoft.com/office/powerpoint/2010/main" val="1359751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10: İŞLEMCİDEN KARTLARA — CPU, ARDUINO, ESP32 VE DENEYAP KART</a:t>
            </a:r>
          </a:p>
          <a:p>
            <a:r>
              <a:rPr lang="en-US"/>
              <a:t>===================================================================</a:t>
            </a:r>
          </a:p>
          <a:p>
            <a:endParaRPr lang="en-US"/>
          </a:p>
          <a:p>
            <a:r>
              <a:rPr lang="en-US"/>
              <a:t>🎯 BU SAYFADA NE YAPILACAK? (EĞİTMEN SAHNE REHBERİ):</a:t>
            </a:r>
          </a:p>
          <a:p>
            <a:r>
              <a:rPr lang="en-US"/>
              <a:t>1. Varsa masanıza gerçek bir Arduino Uno, bir ESP32 ve bir Deneyap Kart çıkarıp öğrencilere gösterin.</a:t>
            </a:r>
          </a:p>
          <a:p>
            <a:r>
              <a:rPr lang="en-US"/>
              <a:t>2. Üstteki 4 sütunlu görsel üzerinden hızlarını (16 MHz vs 240 MHz vs 4 GHz) ve kullanım amaçlarını karşılaştırın.</a:t>
            </a:r>
          </a:p>
          <a:p>
            <a:r>
              <a:rPr lang="en-US"/>
              <a:t>3. Simülasyon programımızdaki (Elektronik_ve_Bilgisayar_Simulasyonu.html) 6. Sekmeyi ("CPU • Arduino • ESP32 • Deneyap") açıp kartların üzerine tıklayarak canlı karşılaştırmayı gösterin.</a:t>
            </a:r>
          </a:p>
          <a:p>
            <a:endParaRPr lang="en-US"/>
          </a:p>
          <a:p>
            <a:r>
              <a:rPr lang="en-US"/>
              <a:t>📖 EĞİTMEN ANLATIM REHBERİ (NEDİR / NE DEĞİLDİR):</a:t>
            </a:r>
          </a:p>
          <a:p>
            <a:r>
              <a:rPr lang="en-US"/>
              <a:t>1) BİLGİSAYAR İŞLEMCİSİ (CPU - Intel/AMD/Apple M):</a:t>
            </a:r>
          </a:p>
          <a:p>
            <a:r>
              <a:rPr lang="en-US"/>
              <a:t>   • Nedir? Saniyede milyarlarca işlem (GHz) yapan, Windows/Linux çalıştıran, aynı anda oyun, tarayıcı ve video açabilen süper güçlü beyindir.</a:t>
            </a:r>
          </a:p>
          <a:p>
            <a:r>
              <a:rPr lang="en-US"/>
              <a:t>   • Ne Değildir? Üzerine doğrudan LED veya mesafe sensörü bağlayamazsınız! Yanında anakart, harici RAM, SSD ve dev bir soğutucu fan gerekir.</a:t>
            </a:r>
          </a:p>
          <a:p>
            <a:endParaRPr lang="en-US"/>
          </a:p>
          <a:p>
            <a:r>
              <a:rPr lang="en-US"/>
              <a:t>2) ARDUINO UNO (ATmega328P - 16 MHz):</a:t>
            </a:r>
          </a:p>
          <a:p>
            <a:r>
              <a:rPr lang="en-US"/>
              <a:t>   • Nedir? Elektronik ve robotik öğrenmenin en klasik başlangıç kartıdır. Sensör okur, LED yakar, motor sürer.</a:t>
            </a:r>
          </a:p>
          <a:p>
            <a:r>
              <a:rPr lang="en-US"/>
              <a:t>   • Ne Değildir? İçinde Wi-Fi veya Bluetooth YOKTUR! Hafızası (2 KB RAM) çok küçüktür; kamera görüntüsü işleyemez veya internete tek başına bağlanamaz.</a:t>
            </a:r>
          </a:p>
          <a:p>
            <a:endParaRPr lang="en-US"/>
          </a:p>
          <a:p>
            <a:r>
              <a:rPr lang="en-US"/>
              <a:t>3) ESP32 (240 MHz Çift Çekirdek):</a:t>
            </a:r>
          </a:p>
          <a:p>
            <a:r>
              <a:rPr lang="en-US"/>
              <a:t>   • Nedir? Arduino'dan 15 kat daha hızlı, 260 kat daha fazla RAM'e (520 KB) sahip, içinde dahili Wi-Fi ve Bluetooth bulunan IoT (Nesnelerin İnterneti) canavarıdır.</a:t>
            </a:r>
          </a:p>
          <a:p>
            <a:r>
              <a:rPr lang="en-US"/>
              <a:t>   • Ne Değildir? Bir masaüstü bilgisayar değildir; yine C++/MicroPython koduyla programlanan bir mikrodenetleyicidir.</a:t>
            </a:r>
          </a:p>
          <a:p>
            <a:endParaRPr lang="en-US"/>
          </a:p>
          <a:p>
            <a:r>
              <a:rPr lang="en-US"/>
              <a:t>4) DENEYAP KART (240 MHz + Yerli Ekosistem):</a:t>
            </a:r>
          </a:p>
          <a:p>
            <a:r>
              <a:rPr lang="en-US"/>
              <a:t>   • Nedir? Türkiye Teknoloji Takımı (T3 Vakfı) tarafından geliştirilen, kalbinde güçlü ESP32 işlemcisi taşıyan MİLLİ geliştirme kartımızdır! Üstelik üzerinde dahili Wi-Fi/Bluetooth'un yanı sıra dahili İvmeölçer/Jiroskop (IMU), dahili Mikrofon ve Kamera konektörü hazır gelir; lehim gerektirmeyen I2C soketleriyle TEKNOFEST yarışmaları için tasarlanmıştır.</a:t>
            </a:r>
          </a:p>
          <a:p>
            <a:endParaRPr lang="en-US"/>
          </a:p>
          <a:p>
            <a:r>
              <a:rPr lang="en-US"/>
              <a:t>⚠ ÇOK ÖNEMLİ "NE DEĞİLDİR" UYARISI:</a:t>
            </a:r>
          </a:p>
          <a:p>
            <a:r>
              <a:rPr lang="en-US"/>
              <a:t>   Hiçbir mikrodenetleyici kart (Arduino/ESP32/Deneyap) bir "Güç Kaynağı" DEĞİLDİR! Pinlerinden sadece çok küçük bir sinyal akımı (20-40 mA) çıkar. Büyük bir robot motorunu doğrudan karta bağlarsanız kart yanar; araya mutlaka "Motor Sürücü" konulmalıdır!</a:t>
            </a:r>
          </a:p>
          <a:p>
            <a:endParaRPr lang="en-US"/>
          </a:p>
          <a:p>
            <a:r>
              <a:rPr lang="en-US"/>
              <a:t>🧠 DÜŞÜNCE DENEYİ #9 (SINIFA SORUN):</a:t>
            </a:r>
          </a:p>
          <a:p>
            <a:r>
              <a:rPr lang="en-US"/>
              <a:t>• SORU: "Telefondan Wi-Fi ile kontrol edilen ve havada dengede durması gereken bir TEKNOFEST İHA prototipi yapıyorsunuz. Neden Arduino Uno yerine Deneyap Kart / ESP32 seçmelisiniz?"</a:t>
            </a:r>
          </a:p>
          <a:p>
            <a:r>
              <a:rPr lang="en-US"/>
              <a:t>• BEKLENEN CEVAP: "Çünkü Arduino Uno'da Wi-Fi yoktur ve 16 MHz hızı uçuş dengesi için yavaştır. Deneyap Kart'ta ise hem 240 MHz çift çekirdekli ESP32 işlemci, hem dahili Wi-Fi/Bluetooth, hem de uçağın eğimini ölçen dahili İvmeölçer/Jiroskop (IMU) hazır bulunur!"</a:t>
            </a:r>
          </a:p>
        </p:txBody>
      </p:sp>
      <p:sp>
        <p:nvSpPr>
          <p:cNvPr id="4" name="Slide Number Placeholder 3"/>
          <p:cNvSpPr>
            <a:spLocks noGrp="1"/>
          </p:cNvSpPr>
          <p:nvPr>
            <p:ph type="sldNum" sz="quarter" idx="5"/>
          </p:nvPr>
        </p:nvSpPr>
        <p:spPr/>
        <p:txBody>
          <a:bodyPr/>
          <a:lstStyle/>
          <a:p>
            <a:fld id="{B5396F1A-52EC-4E40-BAD4-7E70364545B9}" type="slidenum">
              <a:rPr lang="en-US" smtClean="0"/>
              <a:t>10</a:t>
            </a:fld>
            <a:endParaRPr lang="en-US"/>
          </a:p>
        </p:txBody>
      </p:sp>
    </p:spTree>
    <p:extLst>
      <p:ext uri="{BB962C8B-B14F-4D97-AF65-F5344CB8AC3E}">
        <p14:creationId xmlns:p14="http://schemas.microsoft.com/office/powerpoint/2010/main" val="804031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11: 6. HALKA — ALGORİTMA NEDİR, NE DEĞİLDİR?</a:t>
            </a:r>
          </a:p>
          <a:p>
            <a:r>
              <a:rPr lang="en-US"/>
              <a:t>===================================================================</a:t>
            </a:r>
          </a:p>
          <a:p>
            <a:endParaRPr lang="en-US"/>
          </a:p>
          <a:p>
            <a:r>
              <a:rPr lang="en-US"/>
              <a:t>🎯 BU SAYFADA NE YAPILACAK? (EĞİTMEN SAHNE REHBERİ):</a:t>
            </a:r>
          </a:p>
          <a:p>
            <a:r>
              <a:rPr lang="en-US"/>
              <a:t>1. Sol taraftaki Akış Şemasını (Başla ➔ Sensör Oku ➔ Karar Ver ➔ Çıktı Üret) gösterin.</a:t>
            </a:r>
          </a:p>
          <a:p>
            <a:r>
              <a:rPr lang="en-US"/>
              <a:t>2. Sağ alttaki 3 satırlık kodu gösterip şu bağlantıyı kurun: "Yazdığınız bu 'EĞER (Işık &lt; 300)' satırı var ya, işte o satır Deneyap Kart'ın içindeki mantık kapılarına ve transistörlere gidip LED bacağına 5 Volt (1) gönderiyor!"</a:t>
            </a:r>
          </a:p>
          <a:p>
            <a:r>
              <a:rPr lang="en-US"/>
              <a:t>3. İsterseniz sınıfta eğlenceli "Robot Eğitmen" dramasını yapın: Öğrencilerden size "Masadaki su şişesini alıp kapağını açma" algoritması söylemelerini isteyin; eksik söyledikleri her adımda (örn. 'elini uzat' demeden 'şişeyi tut' derlerse) olduğunuz yerde elinizi açıp kapatarak bilgisayarın belirsiz komutu nasıl anlamadığını gösterin!</a:t>
            </a:r>
          </a:p>
          <a:p>
            <a:endParaRPr lang="en-US"/>
          </a:p>
          <a:p>
            <a:r>
              <a:rPr lang="en-US"/>
              <a:t>📖 EĞİTMEN ANLATIM REHBERİ (NEDİR / NE DEĞİLDİR):</a:t>
            </a:r>
          </a:p>
          <a:p>
            <a:r>
              <a:rPr lang="en-US"/>
              <a:t>• ALGORİTMA NEDİR? Bir sorunu çözmek veya bir hedefe ulaşmak için tasarlanan; kesin, sıralı ve sonlu adımlar planıdır.</a:t>
            </a:r>
          </a:p>
          <a:p>
            <a:r>
              <a:rPr lang="en-US"/>
              <a:t>• ALGORİTMA NE DEĞİLDİR?</a:t>
            </a:r>
          </a:p>
          <a:p>
            <a:r>
              <a:rPr lang="en-US"/>
              <a:t>  1) Algoritma "Programlama Dili" (C++, Python, Blok Kod) DEĞİLDİR! Algoritma işin mantığı ve tarifidir. Algoritmayı kağıt üzerinde Türkçe de kurabilirsiniz; sonra onu C++ veya Python diline tercüme edersiniz.</a:t>
            </a:r>
          </a:p>
          <a:p>
            <a:r>
              <a:rPr lang="en-US"/>
              <a:t>  2) Belirsiz ifadeler algoritma olamaz!</a:t>
            </a:r>
          </a:p>
          <a:p>
            <a:endParaRPr lang="en-US"/>
          </a:p>
          <a:p>
            <a:r>
              <a:rPr lang="en-US"/>
              <a:t>🧠 DÜŞÜNCE DENEYİ #10 (SINIFA SORUN):</a:t>
            </a:r>
          </a:p>
          <a:p>
            <a:r>
              <a:rPr lang="en-US"/>
              <a:t>• SORU: "Bir yemek tarifinde 'Yemeğe göz kararı tuz atın ve biraz pişirin' yazıyor. Bir mutfak robotuna bu komutu verirseniz neden hata verir? Bunu gerçek bir algoritmaya nasıl çeviririz?"</a:t>
            </a:r>
          </a:p>
          <a:p>
            <a:r>
              <a:rPr lang="en-US"/>
              <a:t>• BEKLENEN CEVAP: "Çünkü işlemcideki mantık kapıları 'göz kararı' veya 'biraz' kelimesini 0 ve 1'e çeviremez! Algoritma KESİN olmalıdır: '5 gram tuz ekle VE sıcaklık 180 dereceye ulaşana kadar 20 dakika ısıtıcıyı çalıştır (1).'"</a:t>
            </a:r>
          </a:p>
        </p:txBody>
      </p:sp>
      <p:sp>
        <p:nvSpPr>
          <p:cNvPr id="4" name="Slide Number Placeholder 3"/>
          <p:cNvSpPr>
            <a:spLocks noGrp="1"/>
          </p:cNvSpPr>
          <p:nvPr>
            <p:ph type="sldNum" sz="quarter" idx="5"/>
          </p:nvPr>
        </p:nvSpPr>
        <p:spPr/>
        <p:txBody>
          <a:bodyPr/>
          <a:lstStyle/>
          <a:p>
            <a:fld id="{B5396F1A-52EC-4E40-BAD4-7E70364545B9}" type="slidenum">
              <a:rPr lang="en-US" smtClean="0"/>
              <a:t>11</a:t>
            </a:fld>
            <a:endParaRPr lang="en-US"/>
          </a:p>
        </p:txBody>
      </p:sp>
    </p:spTree>
    <p:extLst>
      <p:ext uri="{BB962C8B-B14F-4D97-AF65-F5344CB8AC3E}">
        <p14:creationId xmlns:p14="http://schemas.microsoft.com/office/powerpoint/2010/main" val="1278385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12: GERÇEK DÜNYA — TEKNOFEST PROJELERİ NASIL ÇALIŞIR?</a:t>
            </a:r>
          </a:p>
          <a:p>
            <a:r>
              <a:rPr lang="en-US"/>
              <a:t>===================================================================</a:t>
            </a:r>
          </a:p>
          <a:p>
            <a:endParaRPr lang="en-US"/>
          </a:p>
          <a:p>
            <a:r>
              <a:rPr lang="en-US"/>
              <a:t>🎯 BU SAYFADA NE YAPILACAK? (EĞİTMEN SAHNE REHBERİ):</a:t>
            </a:r>
          </a:p>
          <a:p>
            <a:r>
              <a:rPr lang="en-US"/>
              <a:t>1. Öğrencilere TEKNOFEST'te yarışan ağabeylerinin/ablalarının yaptığı o devasa İHA'ların, otonom araçların ve akıllı tarım sistemlerinin aslında bugün öğrendiğimiz 4 adımlı zincirle (Sensör ➔ Dijital ➔ İşlemci ➔ Algoritma) çalıştığını gösterin.</a:t>
            </a:r>
          </a:p>
          <a:p>
            <a:r>
              <a:rPr lang="en-US"/>
              <a:t>2. Her kartta 6 halkanın nasıl birleştiğini işaret edin.</a:t>
            </a:r>
          </a:p>
          <a:p>
            <a:endParaRPr lang="en-US"/>
          </a:p>
          <a:p>
            <a:r>
              <a:rPr lang="en-US"/>
              <a:t>📖 EĞİTMEN ANLATIM REHBERİ:</a:t>
            </a:r>
          </a:p>
          <a:p>
            <a:r>
              <a:rPr lang="en-US"/>
              <a:t>• Otonom Çizgi İzleyen Robot: Yerdeki siyah bandı nasıl görür? Altındaki kızılötesi LED ışık gönderir. Beyaz zemin ışığı yansıtır (0), siyah çizgi ışığı emer (1). Deneyap Kart bu 0 ve 1'lere bakarak sağ veya sol tekerleğe elektrik verir!</a:t>
            </a:r>
          </a:p>
          <a:p>
            <a:r>
              <a:rPr lang="en-US"/>
              <a:t>• İnsansız Hava Aracı (İHA): Havada rüzgar çıktığında İHA nasıl devrilmez? İçindeki IMU sensörü eğimi ölçer (Analog ➔ Dijital). İşlemci saniyede yüzlerce kez algoritmayı çalıştırır: "Sol kanat 3 derece aşağı indiyse sol motorun voltajını artır!"</a:t>
            </a:r>
          </a:p>
          <a:p>
            <a:r>
              <a:rPr lang="en-US"/>
              <a:t>• Akıllı Tarım Sistemi: Topraktaki nemi elektriğin iletkenliğiyle ölçer (1. Halka: İletkenlik!). Toprak kurudukça direnç artar, voltaj değişir, ESP32/Deneyap Kart su pompasını çalıştırır ve çiftçinin telefonuna Wi-Fi ile bildirim atar.</a:t>
            </a:r>
          </a:p>
          <a:p>
            <a:endParaRPr lang="en-US"/>
          </a:p>
          <a:p>
            <a:r>
              <a:rPr lang="en-US"/>
              <a:t>🧠 DÜŞÜNCE DENEYİ #11 (SINIFA SORUN):</a:t>
            </a:r>
          </a:p>
          <a:p>
            <a:r>
              <a:rPr lang="en-US"/>
              <a:t>• SORU: "Havada uçan bir İHA'nın motorları sağlam, pili dolu ama 'Sensör (3. Halka)' verisi koptu. Ne olur? Ya da sensör sağlam ama 'Algoritma (6. Halka)' durdu. Ne olur?"</a:t>
            </a:r>
          </a:p>
          <a:p>
            <a:r>
              <a:rPr lang="en-US"/>
              <a:t>• BEKLENEN CEVAP: "Sensör koparsa İHA 'kör' olur; eğildiğini fark edemez ve düşer. Algoritma durursa İHA eğildiğini bilir ama motorlara hangi komutu vereceğini hesaplayamaz, yine düşer! Bütün halkalar aynı anda çalışmak zorundadır."</a:t>
            </a:r>
          </a:p>
        </p:txBody>
      </p:sp>
      <p:sp>
        <p:nvSpPr>
          <p:cNvPr id="4" name="Slide Number Placeholder 3"/>
          <p:cNvSpPr>
            <a:spLocks noGrp="1"/>
          </p:cNvSpPr>
          <p:nvPr>
            <p:ph type="sldNum" sz="quarter" idx="5"/>
          </p:nvPr>
        </p:nvSpPr>
        <p:spPr/>
        <p:txBody>
          <a:bodyPr/>
          <a:lstStyle/>
          <a:p>
            <a:fld id="{B5396F1A-52EC-4E40-BAD4-7E70364545B9}" type="slidenum">
              <a:rPr lang="en-US" smtClean="0"/>
              <a:t>12</a:t>
            </a:fld>
            <a:endParaRPr lang="en-US"/>
          </a:p>
        </p:txBody>
      </p:sp>
    </p:spTree>
    <p:extLst>
      <p:ext uri="{BB962C8B-B14F-4D97-AF65-F5344CB8AC3E}">
        <p14:creationId xmlns:p14="http://schemas.microsoft.com/office/powerpoint/2010/main" val="2364932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13: UYGULAMALI SİMÜLASYON LABORATUVARI (CANLI DEMO ZAMANI!)</a:t>
            </a:r>
          </a:p>
          <a:p>
            <a:r>
              <a:rPr lang="en-US"/>
              <a:t>===================================================================</a:t>
            </a:r>
          </a:p>
          <a:p>
            <a:endParaRPr lang="en-US"/>
          </a:p>
          <a:p>
            <a:r>
              <a:rPr lang="en-US"/>
              <a:t>🎯 BU SAYFADA NE YAPILACAK? (EĞİTMEN SAHNE REHBERİ):</a:t>
            </a:r>
          </a:p>
          <a:p>
            <a:r>
              <a:rPr lang="en-US"/>
              <a:t>1. Bu slayta geldiğinizde PowerPoint'i alta alıp masaüstündeki Elektronik_ve_Bilgisayar_Simulasyonu.html dosyasını tam ekran açın!</a:t>
            </a:r>
          </a:p>
          <a:p>
            <a:r>
              <a:rPr lang="en-US"/>
              <a:t>2. Öğrencilerle birlikte sırasıyla şu 5 dakikalık canlı deneyi yapın:</a:t>
            </a:r>
          </a:p>
          <a:p>
            <a:r>
              <a:rPr lang="en-US"/>
              <a:t>   • Deney 1 (Sekme 1 - Elektrik &amp; LED): Anahtarı kapatıp elektronların akışını gösterin. Direnci 0 Ohm'a çekip LED'in nasıl patladığını gösterin!</a:t>
            </a:r>
          </a:p>
          <a:p>
            <a:r>
              <a:rPr lang="en-US"/>
              <a:t>   • Deney 2 (Sekme 2 - Analog vs Dijital): Gürültü (Parazit) sürgüsünü %80'e çekin, dijital 1 ve 0'ların nasıl bozulmadan korunduğunu gösterin.</a:t>
            </a:r>
          </a:p>
          <a:p>
            <a:r>
              <a:rPr lang="en-US"/>
              <a:t>   • Deney 3 (Sekme 3 - Mantık Kapıları): Öğrencilerden birini tahtaya kaldırıp VE, VEYA, DEĞİL kapılarını test ettirin.</a:t>
            </a:r>
          </a:p>
          <a:p>
            <a:r>
              <a:rPr lang="en-US"/>
              <a:t>   • Deney 4 (Sekme 4 - Binary &amp; 7-Segment): 8-4-2-1 butonlarıyla öğrencilerin yaşlarını veya şanslı rakamlarını Binary olarak yazdırın.</a:t>
            </a:r>
          </a:p>
          <a:p>
            <a:r>
              <a:rPr lang="en-US"/>
              <a:t>   • Deney 5 (Sekme 5 - Algoritma): Otonom Gece Lambası ve Park Sensörü senaryolarında sensör sürgüsüyle oynayarak algoritmanın nasıl karar verdiğini gösterin.</a:t>
            </a:r>
          </a:p>
          <a:p>
            <a:endParaRPr lang="en-US"/>
          </a:p>
          <a:p>
            <a:r>
              <a:rPr lang="en-US"/>
              <a:t>📖 EĞİTMEN ANLATIM REHBERİ:</a:t>
            </a:r>
          </a:p>
          <a:p>
            <a:r>
              <a:rPr lang="en-US"/>
              <a:t>• Öğrencilere evde kendi bilgisayarlarında "Tinkercad Circuits" (internetli) veya "SimulIDE" (internetsiz) kullanarak hiçbir malzemeyi yakmadan yüzlerce devre kurabileceklerini söyleyin.</a:t>
            </a:r>
          </a:p>
        </p:txBody>
      </p:sp>
      <p:sp>
        <p:nvSpPr>
          <p:cNvPr id="4" name="Slide Number Placeholder 3"/>
          <p:cNvSpPr>
            <a:spLocks noGrp="1"/>
          </p:cNvSpPr>
          <p:nvPr>
            <p:ph type="sldNum" sz="quarter" idx="5"/>
          </p:nvPr>
        </p:nvSpPr>
        <p:spPr/>
        <p:txBody>
          <a:bodyPr/>
          <a:lstStyle/>
          <a:p>
            <a:fld id="{B5396F1A-52EC-4E40-BAD4-7E70364545B9}" type="slidenum">
              <a:rPr lang="en-US" smtClean="0"/>
              <a:t>13</a:t>
            </a:fld>
            <a:endParaRPr lang="en-US"/>
          </a:p>
        </p:txBody>
      </p:sp>
    </p:spTree>
    <p:extLst>
      <p:ext uri="{BB962C8B-B14F-4D97-AF65-F5344CB8AC3E}">
        <p14:creationId xmlns:p14="http://schemas.microsoft.com/office/powerpoint/2010/main" val="3006229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14: NASIL BAŞLANIR? İLK 3 PROJENİZ VE BÜTÜNSEL ÖZET</a:t>
            </a:r>
          </a:p>
          <a:p>
            <a:r>
              <a:rPr lang="en-US"/>
              <a:t>===================================================================</a:t>
            </a:r>
          </a:p>
          <a:p>
            <a:endParaRPr lang="en-US"/>
          </a:p>
          <a:p>
            <a:r>
              <a:rPr lang="en-US"/>
              <a:t>🎯 BU SAYFADA NE YAPILACAK? (EĞİTMEN SAHNE REHBERİ):</a:t>
            </a:r>
          </a:p>
          <a:p>
            <a:r>
              <a:rPr lang="en-US"/>
              <a:t>1. Sol taraftaki 3 proje basamağını (Gece Lambası ➔ Park Sensörü ➔ Güvenlik Robotu) göstererek öğrencilere "Bunların hepsini bugün öğrendiğiniz bilgilerle kurabilirsiniz!" özgüvenini verin.</a:t>
            </a:r>
          </a:p>
          <a:p>
            <a:r>
              <a:rPr lang="en-US"/>
              <a:t>2. Sağdaki lacivert özet kutusundaki 6 maddeyi sınıfla birlikte yüksek sesle tekrar edin.</a:t>
            </a:r>
          </a:p>
          <a:p>
            <a:endParaRPr lang="en-US"/>
          </a:p>
          <a:p>
            <a:r>
              <a:rPr lang="en-US"/>
              <a:t>📖 EĞİTMEN ANLATIM REHBERİ:</a:t>
            </a:r>
          </a:p>
          <a:p>
            <a:r>
              <a:rPr lang="en-US"/>
              <a:t>• 1. Proje (Gece Lambası): Sadece 10 satır kod! LDR ışık sensöründen analog veriyi oku, eğer 300'den küçükse LED'e 1 (5V) gönder.</a:t>
            </a:r>
          </a:p>
          <a:p>
            <a:r>
              <a:rPr lang="en-US"/>
              <a:t>• 2. Proje (Park Sensörü): Ultrasonik sensör ses dalgası gönderip engelden yansıma süresini ölçer. Mesafe azaldıkça ekranda yazar ve uyarı verir.</a:t>
            </a:r>
          </a:p>
          <a:p>
            <a:r>
              <a:rPr lang="en-US"/>
              <a:t>• 3. Proje (Otonom Güvenlik): PIR sensörü ortamdaki kızılötesi ısı hareketini yakalar, Buzzer ve LED ile alarm çalar.</a:t>
            </a:r>
          </a:p>
          <a:p>
            <a:endParaRPr lang="en-US"/>
          </a:p>
          <a:p>
            <a:r>
              <a:rPr lang="en-US"/>
              <a:t>🧠 SON DÜŞÜNCE DENEYİ (SINIFA VERİLECEK KAPANIŞ MESAJI):</a:t>
            </a:r>
          </a:p>
          <a:p>
            <a:r>
              <a:rPr lang="en-US"/>
              <a:t>• "Arkadaşlar, bugün bir breadboard üzerinde küçücük bir LED'i yakmak için kurduğunuz devre ve yazdığınız 3 satırlık 'EĞER (IF)' algoritması var ya; Türkiye'nin göklerde uçan İHA'larının, SİHA'larının ve uzay roketlerinin çalıştığı temel mantıkla BİREBİR AYNIDIR! Sadece sensör sayısı ve algoritma satırı artar, ama temel asla değişmez. Kökleri öğrendiniz, şimdi göklere çıkma sırası sizde!"</a:t>
            </a:r>
          </a:p>
        </p:txBody>
      </p:sp>
      <p:sp>
        <p:nvSpPr>
          <p:cNvPr id="4" name="Slide Number Placeholder 3"/>
          <p:cNvSpPr>
            <a:spLocks noGrp="1"/>
          </p:cNvSpPr>
          <p:nvPr>
            <p:ph type="sldNum" sz="quarter" idx="5"/>
          </p:nvPr>
        </p:nvSpPr>
        <p:spPr/>
        <p:txBody>
          <a:bodyPr/>
          <a:lstStyle/>
          <a:p>
            <a:fld id="{B5396F1A-52EC-4E40-BAD4-7E70364545B9}" type="slidenum">
              <a:rPr lang="en-US" smtClean="0"/>
              <a:t>14</a:t>
            </a:fld>
            <a:endParaRPr lang="en-US"/>
          </a:p>
        </p:txBody>
      </p:sp>
    </p:spTree>
    <p:extLst>
      <p:ext uri="{BB962C8B-B14F-4D97-AF65-F5344CB8AC3E}">
        <p14:creationId xmlns:p14="http://schemas.microsoft.com/office/powerpoint/2010/main" val="860199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SLAYT 15: KAPANIŞ — SORU &amp; CEVAP VE ATÖLYE GEÇİŞİ</a:t>
            </a:r>
          </a:p>
          <a:p>
            <a:r>
              <a:rPr lang="en-US"/>
              <a:t>===================================================================</a:t>
            </a:r>
          </a:p>
          <a:p>
            <a:endParaRPr lang="en-US"/>
          </a:p>
          <a:p>
            <a:r>
              <a:rPr lang="en-US"/>
              <a:t>🎯 BU SAYFADA NE YAPILACAK? (EĞİTMEN SAHNE REHBERİ):</a:t>
            </a:r>
          </a:p>
          <a:p>
            <a:r>
              <a:rPr lang="en-US"/>
              <a:t>1. Öğrencilerden gelen soruları alın.</a:t>
            </a:r>
          </a:p>
          <a:p>
            <a:r>
              <a:rPr lang="en-US"/>
              <a:t>2. Ardından öğrencileri gruplara ayırarak (veya bilgisayar başına geçirerek) ilk devrelerini ve algoritmalarını kurmaları için uygulama atölyesini başlatın!</a:t>
            </a:r>
          </a:p>
        </p:txBody>
      </p:sp>
      <p:sp>
        <p:nvSpPr>
          <p:cNvPr id="4" name="Slide Number Placeholder 3"/>
          <p:cNvSpPr>
            <a:spLocks noGrp="1"/>
          </p:cNvSpPr>
          <p:nvPr>
            <p:ph type="sldNum" sz="quarter" idx="5"/>
          </p:nvPr>
        </p:nvSpPr>
        <p:spPr/>
        <p:txBody>
          <a:bodyPr/>
          <a:lstStyle/>
          <a:p>
            <a:fld id="{B5396F1A-52EC-4E40-BAD4-7E70364545B9}" type="slidenum">
              <a:rPr lang="en-US" smtClean="0"/>
              <a:t>15</a:t>
            </a:fld>
            <a:endParaRPr lang="en-US"/>
          </a:p>
        </p:txBody>
      </p:sp>
    </p:spTree>
    <p:extLst>
      <p:ext uri="{BB962C8B-B14F-4D97-AF65-F5344CB8AC3E}">
        <p14:creationId xmlns:p14="http://schemas.microsoft.com/office/powerpoint/2010/main" val="3927312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3DC6"/>
        </a:solidFill>
        <a:effectLst/>
      </p:bgPr>
    </p:bg>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4E73E1"/>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4E73E1"/>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4E73E1"/>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3DC6"/>
            </a:solidFill>
            <a:ln w="9525" cap="sq">
              <a:solidFill>
                <a:srgbClr val="4E73E1"/>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523999" y="4190999"/>
            <a:ext cx="15240000" cy="1410643"/>
          </a:xfrm>
          <a:prstGeom prst="rect">
            <a:avLst/>
          </a:prstGeom>
        </p:spPr>
        <p:txBody>
          <a:bodyPr lIns="0" tIns="0" rIns="0" bIns="0" rtlCol="0" anchor="t">
            <a:spAutoFit/>
          </a:bodyPr>
          <a:lstStyle/>
          <a:p>
            <a:pPr marL="0" lvl="0" indent="0" algn="ctr">
              <a:lnSpc>
                <a:spcPts val="5542"/>
              </a:lnSpc>
            </a:pPr>
            <a:r>
              <a:rPr lang="en-US" sz="4600" b="1" spc="-86">
                <a:solidFill>
                  <a:srgbClr val="FFFFFF"/>
                </a:solidFill>
                <a:latin typeface="Poppins Semi-Bold"/>
                <a:ea typeface="Poppins Semi-Bold"/>
                <a:cs typeface="Poppins Semi-Bold"/>
                <a:sym typeface="Poppins Semi-Bold"/>
              </a:rPr>
              <a:t>Köklerden Göklere:</a:t>
            </a:r>
          </a:p>
          <a:p>
            <a:pPr marL="0" lvl="0" indent="0" algn="ctr">
              <a:lnSpc>
                <a:spcPts val="5542"/>
              </a:lnSpc>
            </a:pPr>
            <a:r>
              <a:rPr lang="en-US" sz="4600" b="1" spc="-86">
                <a:solidFill>
                  <a:srgbClr val="FFFFFF"/>
                </a:solidFill>
                <a:latin typeface="Poppins Semi-Bold"/>
                <a:ea typeface="Poppins Semi-Bold"/>
                <a:cs typeface="Poppins Semi-Bold"/>
                <a:sym typeface="Poppins Semi-Bold"/>
              </a:rPr>
              <a:t>Elektronlardan Algoritmaya</a:t>
            </a:r>
          </a:p>
        </p:txBody>
      </p:sp>
      <p:grpSp>
        <p:nvGrpSpPr>
          <p:cNvPr id="9" name="Group 9"/>
          <p:cNvGrpSpPr/>
          <p:nvPr/>
        </p:nvGrpSpPr>
        <p:grpSpPr>
          <a:xfrm>
            <a:off x="8999445" y="9719199"/>
            <a:ext cx="289110" cy="145735"/>
            <a:chOff x="0" y="0"/>
            <a:chExt cx="385480" cy="194313"/>
          </a:xfrm>
        </p:grpSpPr>
        <p:sp>
          <p:nvSpPr>
            <p:cNvPr id="10" name="AutoShape 10"/>
            <p:cNvSpPr/>
            <p:nvPr/>
          </p:nvSpPr>
          <p:spPr>
            <a:xfrm>
              <a:off x="0" y="181613"/>
              <a:ext cx="385480" cy="0"/>
            </a:xfrm>
            <a:prstGeom prst="line">
              <a:avLst/>
            </a:prstGeom>
            <a:ln w="12700" cap="flat">
              <a:solidFill>
                <a:srgbClr val="4E73E1"/>
              </a:solidFill>
              <a:prstDash val="solid"/>
              <a:headEnd type="none" w="sm" len="sm"/>
              <a:tailEnd type="none" w="sm" len="sm"/>
            </a:ln>
          </p:spPr>
        </p:sp>
        <p:sp>
          <p:nvSpPr>
            <p:cNvPr id="11" name="AutoShape 11"/>
            <p:cNvSpPr/>
            <p:nvPr/>
          </p:nvSpPr>
          <p:spPr>
            <a:xfrm rot="-5400000">
              <a:off x="105109" y="87632"/>
              <a:ext cx="187963" cy="0"/>
            </a:xfrm>
            <a:prstGeom prst="line">
              <a:avLst/>
            </a:prstGeom>
            <a:ln w="12700" cap="flat">
              <a:solidFill>
                <a:srgbClr val="4E73E1"/>
              </a:solidFill>
              <a:prstDash val="solid"/>
              <a:headEnd type="none" w="sm" len="sm"/>
              <a:tailEnd type="none" w="sm" len="sm"/>
            </a:ln>
          </p:spPr>
        </p:sp>
      </p:grpSp>
      <p:grpSp>
        <p:nvGrpSpPr>
          <p:cNvPr id="12" name="Group 12"/>
          <p:cNvGrpSpPr/>
          <p:nvPr/>
        </p:nvGrpSpPr>
        <p:grpSpPr>
          <a:xfrm rot="-10800000">
            <a:off x="8999445" y="436353"/>
            <a:ext cx="289110" cy="145735"/>
            <a:chOff x="0" y="0"/>
            <a:chExt cx="385480" cy="194313"/>
          </a:xfrm>
        </p:grpSpPr>
        <p:sp>
          <p:nvSpPr>
            <p:cNvPr id="13" name="AutoShape 13"/>
            <p:cNvSpPr/>
            <p:nvPr/>
          </p:nvSpPr>
          <p:spPr>
            <a:xfrm>
              <a:off x="0" y="181613"/>
              <a:ext cx="385480" cy="0"/>
            </a:xfrm>
            <a:prstGeom prst="line">
              <a:avLst/>
            </a:prstGeom>
            <a:ln w="12700" cap="flat">
              <a:solidFill>
                <a:srgbClr val="4E73E1"/>
              </a:solidFill>
              <a:prstDash val="solid"/>
              <a:headEnd type="none" w="sm" len="sm"/>
              <a:tailEnd type="none" w="sm" len="sm"/>
            </a:ln>
          </p:spPr>
        </p:sp>
        <p:sp>
          <p:nvSpPr>
            <p:cNvPr id="14" name="AutoShape 14"/>
            <p:cNvSpPr/>
            <p:nvPr/>
          </p:nvSpPr>
          <p:spPr>
            <a:xfrm rot="-5400000">
              <a:off x="105109" y="87632"/>
              <a:ext cx="187963" cy="0"/>
            </a:xfrm>
            <a:prstGeom prst="line">
              <a:avLst/>
            </a:prstGeom>
            <a:ln w="12700" cap="flat">
              <a:solidFill>
                <a:srgbClr val="4E73E1"/>
              </a:solidFill>
              <a:prstDash val="solid"/>
              <a:headEnd type="none" w="sm" len="sm"/>
              <a:tailEnd type="none" w="sm" len="sm"/>
            </a:ln>
          </p:spPr>
        </p:sp>
      </p:grpSp>
      <p:sp>
        <p:nvSpPr>
          <p:cNvPr id="15" name="TextBox 15"/>
          <p:cNvSpPr txBox="1"/>
          <p:nvPr/>
        </p:nvSpPr>
        <p:spPr>
          <a:xfrm>
            <a:off x="5431418" y="1447800"/>
            <a:ext cx="7425164" cy="366808"/>
          </a:xfrm>
          <a:prstGeom prst="rect">
            <a:avLst/>
          </a:prstGeom>
        </p:spPr>
        <p:txBody>
          <a:bodyPr lIns="0" tIns="0" rIns="0" bIns="0" rtlCol="0" anchor="t">
            <a:spAutoFit/>
          </a:bodyPr>
          <a:lstStyle/>
          <a:p>
            <a:pPr marL="0" lvl="0" indent="0" algn="ctr">
              <a:lnSpc>
                <a:spcPts val="2882"/>
              </a:lnSpc>
              <a:spcBef>
                <a:spcPct val="0"/>
              </a:spcBef>
            </a:pPr>
            <a:r>
              <a:rPr lang="en-US" sz="2058" b="1">
                <a:solidFill>
                  <a:srgbClr val="FFFFFF"/>
                </a:solidFill>
                <a:latin typeface="Poppins Medium"/>
                <a:ea typeface="Poppins Medium"/>
                <a:cs typeface="Poppins Medium"/>
                <a:sym typeface="Poppins Medium"/>
              </a:rPr>
              <a:t>Teknofest Milli Teknoloji Akademisi</a:t>
            </a:r>
          </a:p>
        </p:txBody>
      </p:sp>
      <p:sp>
        <p:nvSpPr>
          <p:cNvPr id="16" name="TextBox 16"/>
          <p:cNvSpPr txBox="1"/>
          <p:nvPr/>
        </p:nvSpPr>
        <p:spPr>
          <a:xfrm>
            <a:off x="2286000" y="8255000"/>
            <a:ext cx="13716000" cy="339965"/>
          </a:xfrm>
          <a:prstGeom prst="rect">
            <a:avLst/>
          </a:prstGeom>
        </p:spPr>
        <p:txBody>
          <a:bodyPr lIns="0" tIns="0" rIns="0" bIns="0" rtlCol="0" anchor="t">
            <a:spAutoFit/>
          </a:bodyPr>
          <a:lstStyle/>
          <a:p>
            <a:pPr marL="0" lvl="0" indent="0" algn="ctr">
              <a:lnSpc>
                <a:spcPts val="2882"/>
              </a:lnSpc>
              <a:spcBef>
                <a:spcPct val="0"/>
              </a:spcBef>
            </a:pPr>
            <a:r>
              <a:rPr lang="en-US" sz="1700" spc="41">
                <a:solidFill>
                  <a:srgbClr val="FFFFFF"/>
                </a:solidFill>
                <a:latin typeface="Poppins"/>
                <a:ea typeface="Poppins"/>
                <a:cs typeface="Poppins"/>
                <a:sym typeface="Poppins"/>
              </a:rPr>
              <a:t>Eğitim Haftası: 5. Hafta   |   Eğitmen: Taha Deniz Akgül (Deneyap Isparta)</a:t>
            </a:r>
          </a:p>
        </p:txBody>
      </p:sp>
      <p:sp>
        <p:nvSpPr>
          <p:cNvPr id="17" name="TextBox 17"/>
          <p:cNvSpPr txBox="1"/>
          <p:nvPr/>
        </p:nvSpPr>
        <p:spPr>
          <a:xfrm>
            <a:off x="2286000" y="3492500"/>
            <a:ext cx="13716000" cy="347146"/>
          </a:xfrm>
          <a:prstGeom prst="rect">
            <a:avLst/>
          </a:prstGeom>
        </p:spPr>
        <p:txBody>
          <a:bodyPr lIns="0" tIns="0" rIns="0" bIns="0" rtlCol="0" anchor="t">
            <a:spAutoFit/>
          </a:bodyPr>
          <a:lstStyle/>
          <a:p>
            <a:pPr marL="0" lvl="0" indent="0" algn="ctr">
              <a:lnSpc>
                <a:spcPts val="2882"/>
              </a:lnSpc>
              <a:spcBef>
                <a:spcPct val="0"/>
              </a:spcBef>
            </a:pPr>
            <a:r>
              <a:rPr lang="en-US" sz="1900" spc="82">
                <a:solidFill>
                  <a:srgbClr val="FFFFFF"/>
                </a:solidFill>
                <a:latin typeface="Poppins Light"/>
                <a:ea typeface="Poppins Light"/>
                <a:cs typeface="Poppins Light"/>
                <a:sym typeface="Poppins Light"/>
              </a:rPr>
              <a:t>Ulusal Teknoloji Eğitim Programı  •  Temel Elektronik &amp; Algoritma</a:t>
            </a:r>
          </a:p>
        </p:txBody>
      </p:sp>
      <p:sp>
        <p:nvSpPr>
          <p:cNvPr id="18" name="Rectangle: Rounded Corners 17">
            <a:extLst>
              <a:ext uri="{FF2B5EF4-FFF2-40B4-BE49-F238E27FC236}">
                <a16:creationId xmlns:a16="http://schemas.microsoft.com/office/drawing/2014/main" id="{7AA2B373-5464-97DE-78D1-82618E5D75FD}"/>
              </a:ext>
            </a:extLst>
          </p:cNvPr>
          <p:cNvSpPr/>
          <p:nvPr/>
        </p:nvSpPr>
        <p:spPr>
          <a:xfrm>
            <a:off x="3556000" y="6667500"/>
            <a:ext cx="11176000" cy="685800"/>
          </a:xfrm>
          <a:prstGeom prst="roundRect">
            <a:avLst>
              <a:gd name="adj" fmla="val 40000"/>
            </a:avLst>
          </a:prstGeom>
          <a:solidFill>
            <a:srgbClr val="0A2574"/>
          </a:solidFill>
          <a:ln w="1905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FFFFFF"/>
                </a:solidFill>
                <a:latin typeface="Poppins" panose="00000500000000000000" pitchFamily="2" charset="-94"/>
              </a:rPr>
              <a:t>⚡ Elektrik   ➔   🌊 Analog/Dijital   ➔   🔘 Transistör   ➔   🚪 Kapılar   ➔   🧠 İşlemci   ➔   💻 Algoritma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2</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21" name="Rectangle: Rounded Corners 20">
            <a:extLst>
              <a:ext uri="{FF2B5EF4-FFF2-40B4-BE49-F238E27FC236}">
                <a16:creationId xmlns:a16="http://schemas.microsoft.com/office/drawing/2014/main" id="{BDC0638B-4879-CDD6-F746-786C1EA5692A}"/>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UFUK TURU  •  BÜTÜNSEL BAKIŞ</a:t>
            </a:r>
          </a:p>
        </p:txBody>
      </p:sp>
      <p:sp>
        <p:nvSpPr>
          <p:cNvPr id="22" name="TextBox 21">
            <a:extLst>
              <a:ext uri="{FF2B5EF4-FFF2-40B4-BE49-F238E27FC236}">
                <a16:creationId xmlns:a16="http://schemas.microsoft.com/office/drawing/2014/main" id="{F8D6D38F-B66D-88BA-7561-B6C07BDCA8A4}"/>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Büyük Resim: Birbirine Bağımlı 6 Halka</a:t>
            </a:r>
          </a:p>
        </p:txBody>
      </p:sp>
      <p:sp>
        <p:nvSpPr>
          <p:cNvPr id="23" name="TextBox 22">
            <a:extLst>
              <a:ext uri="{FF2B5EF4-FFF2-40B4-BE49-F238E27FC236}">
                <a16:creationId xmlns:a16="http://schemas.microsoft.com/office/drawing/2014/main" id="{94D8258E-1C92-D929-27C6-87532552FFC5}"/>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Bir halkayı çekerseniz tüm teknoloji zinciri durur!</a:t>
            </a:r>
          </a:p>
        </p:txBody>
      </p:sp>
      <p:sp>
        <p:nvSpPr>
          <p:cNvPr id="24" name="Rectangle: Rounded Corners 23">
            <a:extLst>
              <a:ext uri="{FF2B5EF4-FFF2-40B4-BE49-F238E27FC236}">
                <a16:creationId xmlns:a16="http://schemas.microsoft.com/office/drawing/2014/main" id="{D1E8B6B6-BCF9-D6CF-BAFE-8D64492E9689}"/>
              </a:ext>
            </a:extLst>
          </p:cNvPr>
          <p:cNvSpPr/>
          <p:nvPr/>
        </p:nvSpPr>
        <p:spPr>
          <a:xfrm>
            <a:off x="952500" y="2616200"/>
            <a:ext cx="5207000" cy="2514600"/>
          </a:xfrm>
          <a:prstGeom prst="roundRect">
            <a:avLst>
              <a:gd name="adj" fmla="val 7000"/>
            </a:avLst>
          </a:prstGeom>
          <a:solidFill>
            <a:srgbClr val="FFFFFF"/>
          </a:solidFill>
          <a:ln w="317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3B8F57FE-4C10-4389-A49B-04698008B003}"/>
              </a:ext>
            </a:extLst>
          </p:cNvPr>
          <p:cNvSpPr/>
          <p:nvPr/>
        </p:nvSpPr>
        <p:spPr>
          <a:xfrm>
            <a:off x="952500" y="2616200"/>
            <a:ext cx="5207000" cy="812800"/>
          </a:xfrm>
          <a:prstGeom prst="roundRect">
            <a:avLst>
              <a:gd name="adj" fmla="val 7000"/>
            </a:avLst>
          </a:prstGeom>
          <a:solidFill>
            <a:srgbClr val="E6EBF9"/>
          </a:solidFill>
          <a:ln w="190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EFDB87F7-4942-7C6D-B227-083650E32804}"/>
              </a:ext>
            </a:extLst>
          </p:cNvPr>
          <p:cNvSpPr/>
          <p:nvPr/>
        </p:nvSpPr>
        <p:spPr>
          <a:xfrm>
            <a:off x="1130300" y="2743200"/>
            <a:ext cx="711200" cy="558800"/>
          </a:xfrm>
          <a:prstGeom prst="roundRect">
            <a:avLst>
              <a:gd name="adj" fmla="val 25000"/>
            </a:avLst>
          </a:prstGeom>
          <a:solidFill>
            <a:srgbClr val="0E3DC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01</a:t>
            </a:r>
          </a:p>
        </p:txBody>
      </p:sp>
      <p:sp>
        <p:nvSpPr>
          <p:cNvPr id="27" name="TextBox 26">
            <a:extLst>
              <a:ext uri="{FF2B5EF4-FFF2-40B4-BE49-F238E27FC236}">
                <a16:creationId xmlns:a16="http://schemas.microsoft.com/office/drawing/2014/main" id="{32A78ADA-CB23-52C9-3DEC-1E7C013C0354}"/>
              </a:ext>
            </a:extLst>
          </p:cNvPr>
          <p:cNvSpPr txBox="1"/>
          <p:nvPr/>
        </p:nvSpPr>
        <p:spPr>
          <a:xfrm>
            <a:off x="1968500" y="2819400"/>
            <a:ext cx="4000500" cy="379591"/>
          </a:xfrm>
          <a:prstGeom prst="rect">
            <a:avLst/>
          </a:prstGeom>
          <a:noFill/>
        </p:spPr>
        <p:txBody>
          <a:bodyPr vert="horz" wrap="square" lIns="76200" tIns="50800" rIns="76200" bIns="50800" rtlCol="0">
            <a:spAutoFit/>
          </a:bodyPr>
          <a:lstStyle/>
          <a:p>
            <a:r>
              <a:rPr lang="en-US" b="1">
                <a:solidFill>
                  <a:srgbClr val="0E3DC6"/>
                </a:solidFill>
                <a:latin typeface="Poppins Semi-Bold" panose="020B0604020202020204" charset="-94"/>
              </a:rPr>
              <a:t>ELEKTRON &amp; VOLTAJ</a:t>
            </a:r>
          </a:p>
        </p:txBody>
      </p:sp>
      <p:sp>
        <p:nvSpPr>
          <p:cNvPr id="28" name="TextBox 27">
            <a:extLst>
              <a:ext uri="{FF2B5EF4-FFF2-40B4-BE49-F238E27FC236}">
                <a16:creationId xmlns:a16="http://schemas.microsoft.com/office/drawing/2014/main" id="{30D2D732-4C4B-1A61-5D81-F86609CA9B74}"/>
              </a:ext>
            </a:extLst>
          </p:cNvPr>
          <p:cNvSpPr txBox="1"/>
          <p:nvPr/>
        </p:nvSpPr>
        <p:spPr>
          <a:xfrm>
            <a:off x="1206500" y="36830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Fiziksel Enerji Kaynağı</a:t>
            </a:r>
          </a:p>
        </p:txBody>
      </p:sp>
      <p:sp>
        <p:nvSpPr>
          <p:cNvPr id="29" name="TextBox 28">
            <a:extLst>
              <a:ext uri="{FF2B5EF4-FFF2-40B4-BE49-F238E27FC236}">
                <a16:creationId xmlns:a16="http://schemas.microsoft.com/office/drawing/2014/main" id="{1C875185-6038-FF01-277C-B00FE002D9F4}"/>
              </a:ext>
            </a:extLst>
          </p:cNvPr>
          <p:cNvSpPr txBox="1"/>
          <p:nvPr/>
        </p:nvSpPr>
        <p:spPr>
          <a:xfrm>
            <a:off x="1206500" y="4343400"/>
            <a:ext cx="4699000" cy="325730"/>
          </a:xfrm>
          <a:prstGeom prst="rect">
            <a:avLst/>
          </a:prstGeom>
          <a:noFill/>
        </p:spPr>
        <p:txBody>
          <a:bodyPr vert="horz" wrap="square" lIns="76200" tIns="50800" rIns="76200" bIns="50800" rtlCol="0">
            <a:spAutoFit/>
          </a:bodyPr>
          <a:lstStyle/>
          <a:p>
            <a:pPr algn="ctr"/>
            <a:r>
              <a:rPr lang="en-US" sz="1450">
                <a:solidFill>
                  <a:srgbClr val="5F6978"/>
                </a:solidFill>
                <a:latin typeface="Poppins" panose="00000500000000000000" pitchFamily="2" charset="-94"/>
              </a:rPr>
              <a:t>Volt  •  Amper  •  Ohm</a:t>
            </a:r>
          </a:p>
        </p:txBody>
      </p:sp>
      <p:sp>
        <p:nvSpPr>
          <p:cNvPr id="30" name="Rectangle: Rounded Corners 29">
            <a:extLst>
              <a:ext uri="{FF2B5EF4-FFF2-40B4-BE49-F238E27FC236}">
                <a16:creationId xmlns:a16="http://schemas.microsoft.com/office/drawing/2014/main" id="{69B65AB3-8DB0-6527-4A95-B1DA99523C26}"/>
              </a:ext>
            </a:extLst>
          </p:cNvPr>
          <p:cNvSpPr/>
          <p:nvPr/>
        </p:nvSpPr>
        <p:spPr>
          <a:xfrm>
            <a:off x="6540500" y="2616200"/>
            <a:ext cx="5207000" cy="2514600"/>
          </a:xfrm>
          <a:prstGeom prst="roundRect">
            <a:avLst>
              <a:gd name="adj" fmla="val 7000"/>
            </a:avLst>
          </a:prstGeom>
          <a:solidFill>
            <a:srgbClr val="FFFFFF"/>
          </a:solidFill>
          <a:ln w="317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FB1BD7D9-8ED8-E56D-8290-46DD15D71496}"/>
              </a:ext>
            </a:extLst>
          </p:cNvPr>
          <p:cNvSpPr/>
          <p:nvPr/>
        </p:nvSpPr>
        <p:spPr>
          <a:xfrm>
            <a:off x="6540500" y="2616200"/>
            <a:ext cx="5207000" cy="812800"/>
          </a:xfrm>
          <a:prstGeom prst="roundRect">
            <a:avLst>
              <a:gd name="adj" fmla="val 7000"/>
            </a:avLst>
          </a:prstGeom>
          <a:solidFill>
            <a:srgbClr val="E6EBF9"/>
          </a:solidFill>
          <a:ln w="190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E73905A0-86EF-2CB7-9A1D-EFE541327330}"/>
              </a:ext>
            </a:extLst>
          </p:cNvPr>
          <p:cNvSpPr/>
          <p:nvPr/>
        </p:nvSpPr>
        <p:spPr>
          <a:xfrm>
            <a:off x="6718300" y="2743200"/>
            <a:ext cx="711200" cy="558800"/>
          </a:xfrm>
          <a:prstGeom prst="roundRect">
            <a:avLst>
              <a:gd name="adj" fmla="val 25000"/>
            </a:avLst>
          </a:prstGeom>
          <a:solidFill>
            <a:srgbClr val="0E3DC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02</a:t>
            </a:r>
          </a:p>
        </p:txBody>
      </p:sp>
      <p:sp>
        <p:nvSpPr>
          <p:cNvPr id="33" name="TextBox 32">
            <a:extLst>
              <a:ext uri="{FF2B5EF4-FFF2-40B4-BE49-F238E27FC236}">
                <a16:creationId xmlns:a16="http://schemas.microsoft.com/office/drawing/2014/main" id="{0F5C3081-BA57-3F2F-875D-7D23C3215C93}"/>
              </a:ext>
            </a:extLst>
          </p:cNvPr>
          <p:cNvSpPr txBox="1"/>
          <p:nvPr/>
        </p:nvSpPr>
        <p:spPr>
          <a:xfrm>
            <a:off x="7556500" y="2819400"/>
            <a:ext cx="4000500" cy="379591"/>
          </a:xfrm>
          <a:prstGeom prst="rect">
            <a:avLst/>
          </a:prstGeom>
          <a:noFill/>
        </p:spPr>
        <p:txBody>
          <a:bodyPr vert="horz" wrap="square" lIns="76200" tIns="50800" rIns="76200" bIns="50800" rtlCol="0">
            <a:spAutoFit/>
          </a:bodyPr>
          <a:lstStyle/>
          <a:p>
            <a:r>
              <a:rPr lang="en-US" b="1">
                <a:solidFill>
                  <a:srgbClr val="0E3DC6"/>
                </a:solidFill>
                <a:latin typeface="Poppins Semi-Bold" panose="020B0604020202020204" charset="-94"/>
              </a:rPr>
              <a:t>DEVRE &amp; TRANSİSTÖR</a:t>
            </a:r>
          </a:p>
        </p:txBody>
      </p:sp>
      <p:sp>
        <p:nvSpPr>
          <p:cNvPr id="34" name="TextBox 33">
            <a:extLst>
              <a:ext uri="{FF2B5EF4-FFF2-40B4-BE49-F238E27FC236}">
                <a16:creationId xmlns:a16="http://schemas.microsoft.com/office/drawing/2014/main" id="{D73AD8B3-8E8B-4925-F188-B415364ECBE5}"/>
              </a:ext>
            </a:extLst>
          </p:cNvPr>
          <p:cNvSpPr txBox="1"/>
          <p:nvPr/>
        </p:nvSpPr>
        <p:spPr>
          <a:xfrm>
            <a:off x="6794500" y="36830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Elektriğe Yön Vermek</a:t>
            </a:r>
          </a:p>
        </p:txBody>
      </p:sp>
      <p:sp>
        <p:nvSpPr>
          <p:cNvPr id="35" name="TextBox 34">
            <a:extLst>
              <a:ext uri="{FF2B5EF4-FFF2-40B4-BE49-F238E27FC236}">
                <a16:creationId xmlns:a16="http://schemas.microsoft.com/office/drawing/2014/main" id="{EFA1CDE4-038B-4B8B-1FAA-D67839FE30B2}"/>
              </a:ext>
            </a:extLst>
          </p:cNvPr>
          <p:cNvSpPr txBox="1"/>
          <p:nvPr/>
        </p:nvSpPr>
        <p:spPr>
          <a:xfrm>
            <a:off x="6794500" y="4343400"/>
            <a:ext cx="4699000" cy="325730"/>
          </a:xfrm>
          <a:prstGeom prst="rect">
            <a:avLst/>
          </a:prstGeom>
          <a:noFill/>
        </p:spPr>
        <p:txBody>
          <a:bodyPr vert="horz" wrap="square" lIns="76200" tIns="50800" rIns="76200" bIns="50800" rtlCol="0">
            <a:spAutoFit/>
          </a:bodyPr>
          <a:lstStyle/>
          <a:p>
            <a:pPr algn="ctr"/>
            <a:r>
              <a:rPr lang="en-US" sz="1450">
                <a:solidFill>
                  <a:srgbClr val="5F6978"/>
                </a:solidFill>
                <a:latin typeface="Poppins" panose="00000500000000000000" pitchFamily="2" charset="-94"/>
              </a:rPr>
              <a:t>Direnç  •  LED  •  Anahtar</a:t>
            </a:r>
          </a:p>
        </p:txBody>
      </p:sp>
      <p:sp>
        <p:nvSpPr>
          <p:cNvPr id="36" name="Rectangle: Rounded Corners 35">
            <a:extLst>
              <a:ext uri="{FF2B5EF4-FFF2-40B4-BE49-F238E27FC236}">
                <a16:creationId xmlns:a16="http://schemas.microsoft.com/office/drawing/2014/main" id="{0FD343C3-3409-1001-A164-F4ED4FF40BE2}"/>
              </a:ext>
            </a:extLst>
          </p:cNvPr>
          <p:cNvSpPr/>
          <p:nvPr/>
        </p:nvSpPr>
        <p:spPr>
          <a:xfrm>
            <a:off x="12128500" y="2616200"/>
            <a:ext cx="5207000" cy="2514600"/>
          </a:xfrm>
          <a:prstGeom prst="roundRect">
            <a:avLst>
              <a:gd name="adj" fmla="val 7000"/>
            </a:avLst>
          </a:prstGeom>
          <a:solidFill>
            <a:srgbClr val="FFFFFF"/>
          </a:solidFill>
          <a:ln w="317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223EDD08-9D8C-F463-D21A-AA48500F4ECC}"/>
              </a:ext>
            </a:extLst>
          </p:cNvPr>
          <p:cNvSpPr/>
          <p:nvPr/>
        </p:nvSpPr>
        <p:spPr>
          <a:xfrm>
            <a:off x="12128500" y="2616200"/>
            <a:ext cx="5207000" cy="812800"/>
          </a:xfrm>
          <a:prstGeom prst="roundRect">
            <a:avLst>
              <a:gd name="adj" fmla="val 7000"/>
            </a:avLst>
          </a:prstGeom>
          <a:solidFill>
            <a:srgbClr val="ECFDF5"/>
          </a:solidFill>
          <a:ln w="190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D12ED0A5-2F62-9DF3-27C1-0C633C546A68}"/>
              </a:ext>
            </a:extLst>
          </p:cNvPr>
          <p:cNvSpPr/>
          <p:nvPr/>
        </p:nvSpPr>
        <p:spPr>
          <a:xfrm>
            <a:off x="12306300" y="2743200"/>
            <a:ext cx="711200" cy="558800"/>
          </a:xfrm>
          <a:prstGeom prst="roundRect">
            <a:avLst>
              <a:gd name="adj" fmla="val 25000"/>
            </a:avLst>
          </a:prstGeom>
          <a:solidFill>
            <a:srgbClr val="05966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03</a:t>
            </a:r>
          </a:p>
        </p:txBody>
      </p:sp>
      <p:sp>
        <p:nvSpPr>
          <p:cNvPr id="39" name="TextBox 38">
            <a:extLst>
              <a:ext uri="{FF2B5EF4-FFF2-40B4-BE49-F238E27FC236}">
                <a16:creationId xmlns:a16="http://schemas.microsoft.com/office/drawing/2014/main" id="{E07EF29F-5963-6025-3DE6-49B1A52B293C}"/>
              </a:ext>
            </a:extLst>
          </p:cNvPr>
          <p:cNvSpPr txBox="1"/>
          <p:nvPr/>
        </p:nvSpPr>
        <p:spPr>
          <a:xfrm>
            <a:off x="13144500" y="2819400"/>
            <a:ext cx="4000500" cy="379591"/>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ANALOG ➔ DİJİTAL</a:t>
            </a:r>
          </a:p>
        </p:txBody>
      </p:sp>
      <p:sp>
        <p:nvSpPr>
          <p:cNvPr id="40" name="TextBox 39">
            <a:extLst>
              <a:ext uri="{FF2B5EF4-FFF2-40B4-BE49-F238E27FC236}">
                <a16:creationId xmlns:a16="http://schemas.microsoft.com/office/drawing/2014/main" id="{920D10D7-5B46-5979-3A60-470374A5D7DF}"/>
              </a:ext>
            </a:extLst>
          </p:cNvPr>
          <p:cNvSpPr txBox="1"/>
          <p:nvPr/>
        </p:nvSpPr>
        <p:spPr>
          <a:xfrm>
            <a:off x="12382500" y="36830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Doğadan Makine Diline</a:t>
            </a:r>
          </a:p>
        </p:txBody>
      </p:sp>
      <p:sp>
        <p:nvSpPr>
          <p:cNvPr id="41" name="TextBox 40">
            <a:extLst>
              <a:ext uri="{FF2B5EF4-FFF2-40B4-BE49-F238E27FC236}">
                <a16:creationId xmlns:a16="http://schemas.microsoft.com/office/drawing/2014/main" id="{6522787F-1317-366A-A47C-A72B9B7A51A7}"/>
              </a:ext>
            </a:extLst>
          </p:cNvPr>
          <p:cNvSpPr txBox="1"/>
          <p:nvPr/>
        </p:nvSpPr>
        <p:spPr>
          <a:xfrm>
            <a:off x="12382500" y="4343400"/>
            <a:ext cx="4699000" cy="325730"/>
          </a:xfrm>
          <a:prstGeom prst="rect">
            <a:avLst/>
          </a:prstGeom>
          <a:noFill/>
        </p:spPr>
        <p:txBody>
          <a:bodyPr vert="horz" wrap="square" lIns="76200" tIns="50800" rIns="76200" bIns="50800" rtlCol="0">
            <a:spAutoFit/>
          </a:bodyPr>
          <a:lstStyle/>
          <a:p>
            <a:pPr algn="ctr"/>
            <a:r>
              <a:rPr lang="pl-PL" sz="1450">
                <a:solidFill>
                  <a:srgbClr val="5F6978"/>
                </a:solidFill>
                <a:latin typeface="Poppins" panose="00000500000000000000" pitchFamily="2" charset="-94"/>
              </a:rPr>
              <a:t>Sürekli Dalga  ➔  0 ve 1</a:t>
            </a:r>
            <a:endParaRPr lang="en-US" sz="1450">
              <a:solidFill>
                <a:srgbClr val="5F6978"/>
              </a:solidFill>
              <a:latin typeface="Poppins" panose="00000500000000000000" pitchFamily="2" charset="-94"/>
            </a:endParaRPr>
          </a:p>
        </p:txBody>
      </p:sp>
      <p:sp>
        <p:nvSpPr>
          <p:cNvPr id="42" name="Rectangle: Rounded Corners 41">
            <a:extLst>
              <a:ext uri="{FF2B5EF4-FFF2-40B4-BE49-F238E27FC236}">
                <a16:creationId xmlns:a16="http://schemas.microsoft.com/office/drawing/2014/main" id="{ABADE89F-C041-5E57-5A9F-295D1454F1A6}"/>
              </a:ext>
            </a:extLst>
          </p:cNvPr>
          <p:cNvSpPr/>
          <p:nvPr/>
        </p:nvSpPr>
        <p:spPr>
          <a:xfrm>
            <a:off x="952500" y="5435600"/>
            <a:ext cx="5207000" cy="2514600"/>
          </a:xfrm>
          <a:prstGeom prst="roundRect">
            <a:avLst>
              <a:gd name="adj" fmla="val 7000"/>
            </a:avLst>
          </a:prstGeom>
          <a:solidFill>
            <a:srgbClr val="FFFFFF"/>
          </a:solidFill>
          <a:ln w="317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C6A26D3F-76E5-DD6A-B2BE-3878B97F8323}"/>
              </a:ext>
            </a:extLst>
          </p:cNvPr>
          <p:cNvSpPr/>
          <p:nvPr/>
        </p:nvSpPr>
        <p:spPr>
          <a:xfrm>
            <a:off x="952500" y="5435600"/>
            <a:ext cx="5207000" cy="812800"/>
          </a:xfrm>
          <a:prstGeom prst="roundRect">
            <a:avLst>
              <a:gd name="adj" fmla="val 7000"/>
            </a:avLst>
          </a:prstGeom>
          <a:solidFill>
            <a:srgbClr val="ECFDF5"/>
          </a:solidFill>
          <a:ln w="190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FF73D965-67D5-B99A-ADE8-AC152C0669EB}"/>
              </a:ext>
            </a:extLst>
          </p:cNvPr>
          <p:cNvSpPr/>
          <p:nvPr/>
        </p:nvSpPr>
        <p:spPr>
          <a:xfrm>
            <a:off x="1130300" y="5562600"/>
            <a:ext cx="711200" cy="558800"/>
          </a:xfrm>
          <a:prstGeom prst="roundRect">
            <a:avLst>
              <a:gd name="adj" fmla="val 25000"/>
            </a:avLst>
          </a:prstGeom>
          <a:solidFill>
            <a:srgbClr val="05966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04</a:t>
            </a:r>
          </a:p>
        </p:txBody>
      </p:sp>
      <p:sp>
        <p:nvSpPr>
          <p:cNvPr id="45" name="TextBox 44">
            <a:extLst>
              <a:ext uri="{FF2B5EF4-FFF2-40B4-BE49-F238E27FC236}">
                <a16:creationId xmlns:a16="http://schemas.microsoft.com/office/drawing/2014/main" id="{D95925EF-D956-6519-2614-DDA016EA2AA8}"/>
              </a:ext>
            </a:extLst>
          </p:cNvPr>
          <p:cNvSpPr txBox="1"/>
          <p:nvPr/>
        </p:nvSpPr>
        <p:spPr>
          <a:xfrm>
            <a:off x="1968500" y="5638800"/>
            <a:ext cx="4000500" cy="379591"/>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MANTIK KAPILARI</a:t>
            </a:r>
          </a:p>
        </p:txBody>
      </p:sp>
      <p:sp>
        <p:nvSpPr>
          <p:cNvPr id="46" name="TextBox 45">
            <a:extLst>
              <a:ext uri="{FF2B5EF4-FFF2-40B4-BE49-F238E27FC236}">
                <a16:creationId xmlns:a16="http://schemas.microsoft.com/office/drawing/2014/main" id="{5436A033-2652-160B-9677-5C50BC0B2DB1}"/>
              </a:ext>
            </a:extLst>
          </p:cNvPr>
          <p:cNvSpPr txBox="1"/>
          <p:nvPr/>
        </p:nvSpPr>
        <p:spPr>
          <a:xfrm>
            <a:off x="1206500" y="65024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Elektrikle Karar Vermek</a:t>
            </a:r>
          </a:p>
        </p:txBody>
      </p:sp>
      <p:sp>
        <p:nvSpPr>
          <p:cNvPr id="47" name="TextBox 46">
            <a:extLst>
              <a:ext uri="{FF2B5EF4-FFF2-40B4-BE49-F238E27FC236}">
                <a16:creationId xmlns:a16="http://schemas.microsoft.com/office/drawing/2014/main" id="{2F417B76-E6EF-9DF0-FE49-66EC139F4455}"/>
              </a:ext>
            </a:extLst>
          </p:cNvPr>
          <p:cNvSpPr txBox="1"/>
          <p:nvPr/>
        </p:nvSpPr>
        <p:spPr>
          <a:xfrm>
            <a:off x="1206500" y="7162800"/>
            <a:ext cx="4699000" cy="325730"/>
          </a:xfrm>
          <a:prstGeom prst="rect">
            <a:avLst/>
          </a:prstGeom>
          <a:noFill/>
        </p:spPr>
        <p:txBody>
          <a:bodyPr vert="horz" wrap="square" lIns="76200" tIns="50800" rIns="76200" bIns="50800" rtlCol="0">
            <a:spAutoFit/>
          </a:bodyPr>
          <a:lstStyle/>
          <a:p>
            <a:pPr algn="ctr"/>
            <a:r>
              <a:rPr lang="en-US" sz="1450">
                <a:solidFill>
                  <a:srgbClr val="5F6978"/>
                </a:solidFill>
                <a:latin typeface="Poppins" panose="00000500000000000000" pitchFamily="2" charset="-94"/>
              </a:rPr>
              <a:t>VE (AND)  •  VEYA (OR)  •  DEĞİL</a:t>
            </a:r>
          </a:p>
        </p:txBody>
      </p:sp>
      <p:sp>
        <p:nvSpPr>
          <p:cNvPr id="48" name="Rectangle: Rounded Corners 47">
            <a:extLst>
              <a:ext uri="{FF2B5EF4-FFF2-40B4-BE49-F238E27FC236}">
                <a16:creationId xmlns:a16="http://schemas.microsoft.com/office/drawing/2014/main" id="{541BB45A-49D3-8D70-D1A8-21810231FB2E}"/>
              </a:ext>
            </a:extLst>
          </p:cNvPr>
          <p:cNvSpPr/>
          <p:nvPr/>
        </p:nvSpPr>
        <p:spPr>
          <a:xfrm>
            <a:off x="6540500" y="5435600"/>
            <a:ext cx="5207000" cy="2514600"/>
          </a:xfrm>
          <a:prstGeom prst="roundRect">
            <a:avLst>
              <a:gd name="adj" fmla="val 7000"/>
            </a:avLst>
          </a:prstGeom>
          <a:solidFill>
            <a:srgbClr val="FFFFFF"/>
          </a:solidFill>
          <a:ln w="317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7DFCF03A-774B-A5E5-0447-15563F35D52D}"/>
              </a:ext>
            </a:extLst>
          </p:cNvPr>
          <p:cNvSpPr/>
          <p:nvPr/>
        </p:nvSpPr>
        <p:spPr>
          <a:xfrm>
            <a:off x="6540500" y="5435600"/>
            <a:ext cx="5207000" cy="812800"/>
          </a:xfrm>
          <a:prstGeom prst="roundRect">
            <a:avLst>
              <a:gd name="adj" fmla="val 7000"/>
            </a:avLst>
          </a:prstGeom>
          <a:solidFill>
            <a:srgbClr val="FFF8E7"/>
          </a:solidFill>
          <a:ln w="190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A711FFD6-409B-2233-0A0D-15C7A5D90874}"/>
              </a:ext>
            </a:extLst>
          </p:cNvPr>
          <p:cNvSpPr/>
          <p:nvPr/>
        </p:nvSpPr>
        <p:spPr>
          <a:xfrm>
            <a:off x="6718300" y="5562600"/>
            <a:ext cx="711200" cy="5588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05</a:t>
            </a:r>
          </a:p>
        </p:txBody>
      </p:sp>
      <p:sp>
        <p:nvSpPr>
          <p:cNvPr id="51" name="TextBox 50">
            <a:extLst>
              <a:ext uri="{FF2B5EF4-FFF2-40B4-BE49-F238E27FC236}">
                <a16:creationId xmlns:a16="http://schemas.microsoft.com/office/drawing/2014/main" id="{6256CB50-DE1D-705A-6A20-26624C24116C}"/>
              </a:ext>
            </a:extLst>
          </p:cNvPr>
          <p:cNvSpPr txBox="1"/>
          <p:nvPr/>
        </p:nvSpPr>
        <p:spPr>
          <a:xfrm>
            <a:off x="7556500" y="5638800"/>
            <a:ext cx="4000500" cy="379591"/>
          </a:xfrm>
          <a:prstGeom prst="rect">
            <a:avLst/>
          </a:prstGeom>
          <a:noFill/>
        </p:spPr>
        <p:txBody>
          <a:bodyPr vert="horz" wrap="square" lIns="76200" tIns="50800" rIns="76200" bIns="50800" rtlCol="0">
            <a:spAutoFit/>
          </a:bodyPr>
          <a:lstStyle/>
          <a:p>
            <a:r>
              <a:rPr lang="en-US" b="1">
                <a:solidFill>
                  <a:srgbClr val="D97706"/>
                </a:solidFill>
                <a:latin typeface="Poppins Semi-Bold" panose="020B0604020202020204" charset="-94"/>
              </a:rPr>
              <a:t>İŞLEMCİ &amp; KARTLAR</a:t>
            </a:r>
          </a:p>
        </p:txBody>
      </p:sp>
      <p:sp>
        <p:nvSpPr>
          <p:cNvPr id="52" name="TextBox 51">
            <a:extLst>
              <a:ext uri="{FF2B5EF4-FFF2-40B4-BE49-F238E27FC236}">
                <a16:creationId xmlns:a16="http://schemas.microsoft.com/office/drawing/2014/main" id="{5893B5D0-8503-EA12-9E5C-6B6F645126A7}"/>
              </a:ext>
            </a:extLst>
          </p:cNvPr>
          <p:cNvSpPr txBox="1"/>
          <p:nvPr/>
        </p:nvSpPr>
        <p:spPr>
          <a:xfrm>
            <a:off x="6794500" y="65024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Donanım Beyinleri</a:t>
            </a:r>
          </a:p>
        </p:txBody>
      </p:sp>
      <p:sp>
        <p:nvSpPr>
          <p:cNvPr id="53" name="TextBox 52">
            <a:extLst>
              <a:ext uri="{FF2B5EF4-FFF2-40B4-BE49-F238E27FC236}">
                <a16:creationId xmlns:a16="http://schemas.microsoft.com/office/drawing/2014/main" id="{34157941-2167-B8AA-A0E5-00A97668E016}"/>
              </a:ext>
            </a:extLst>
          </p:cNvPr>
          <p:cNvSpPr txBox="1"/>
          <p:nvPr/>
        </p:nvSpPr>
        <p:spPr>
          <a:xfrm>
            <a:off x="6794500" y="7162800"/>
            <a:ext cx="4699000" cy="325730"/>
          </a:xfrm>
          <a:prstGeom prst="rect">
            <a:avLst/>
          </a:prstGeom>
          <a:noFill/>
        </p:spPr>
        <p:txBody>
          <a:bodyPr vert="horz" wrap="square" lIns="76200" tIns="50800" rIns="76200" bIns="50800" rtlCol="0">
            <a:spAutoFit/>
          </a:bodyPr>
          <a:lstStyle/>
          <a:p>
            <a:pPr algn="ctr"/>
            <a:r>
              <a:rPr lang="en-US" sz="1450">
                <a:solidFill>
                  <a:srgbClr val="5F6978"/>
                </a:solidFill>
                <a:latin typeface="Poppins" panose="00000500000000000000" pitchFamily="2" charset="-94"/>
              </a:rPr>
              <a:t>CPU  •  Arduino  •  ESP32  •  Deneyap</a:t>
            </a:r>
          </a:p>
        </p:txBody>
      </p:sp>
      <p:sp>
        <p:nvSpPr>
          <p:cNvPr id="54" name="Rectangle: Rounded Corners 53">
            <a:extLst>
              <a:ext uri="{FF2B5EF4-FFF2-40B4-BE49-F238E27FC236}">
                <a16:creationId xmlns:a16="http://schemas.microsoft.com/office/drawing/2014/main" id="{CE280FF5-CB27-0B57-ABC9-699552D1E97E}"/>
              </a:ext>
            </a:extLst>
          </p:cNvPr>
          <p:cNvSpPr/>
          <p:nvPr/>
        </p:nvSpPr>
        <p:spPr>
          <a:xfrm>
            <a:off x="12128500" y="5435600"/>
            <a:ext cx="5207000" cy="2514600"/>
          </a:xfrm>
          <a:prstGeom prst="roundRect">
            <a:avLst>
              <a:gd name="adj" fmla="val 7000"/>
            </a:avLst>
          </a:prstGeom>
          <a:solidFill>
            <a:srgbClr val="FFFFFF"/>
          </a:solidFill>
          <a:ln w="31750">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BE39DEB2-F92A-D1D7-7DB6-19AF296A7A65}"/>
              </a:ext>
            </a:extLst>
          </p:cNvPr>
          <p:cNvSpPr/>
          <p:nvPr/>
        </p:nvSpPr>
        <p:spPr>
          <a:xfrm>
            <a:off x="12128500" y="5435600"/>
            <a:ext cx="5207000" cy="812800"/>
          </a:xfrm>
          <a:prstGeom prst="roundRect">
            <a:avLst>
              <a:gd name="adj" fmla="val 7000"/>
            </a:avLst>
          </a:prstGeom>
          <a:solidFill>
            <a:srgbClr val="F3E8FF"/>
          </a:solidFill>
          <a:ln w="19050">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E25276D0-6993-E1AE-9804-5F40B370BC1A}"/>
              </a:ext>
            </a:extLst>
          </p:cNvPr>
          <p:cNvSpPr/>
          <p:nvPr/>
        </p:nvSpPr>
        <p:spPr>
          <a:xfrm>
            <a:off x="12306300" y="5562600"/>
            <a:ext cx="711200" cy="558800"/>
          </a:xfrm>
          <a:prstGeom prst="roundRect">
            <a:avLst>
              <a:gd name="adj" fmla="val 25000"/>
            </a:avLst>
          </a:prstGeom>
          <a:solidFill>
            <a:srgbClr val="7C3AE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latin typeface="Poppins Semi-Bold" panose="020B0604020202020204" charset="-94"/>
              </a:rPr>
              <a:t>06</a:t>
            </a:r>
          </a:p>
        </p:txBody>
      </p:sp>
      <p:sp>
        <p:nvSpPr>
          <p:cNvPr id="57" name="TextBox 56">
            <a:extLst>
              <a:ext uri="{FF2B5EF4-FFF2-40B4-BE49-F238E27FC236}">
                <a16:creationId xmlns:a16="http://schemas.microsoft.com/office/drawing/2014/main" id="{09D1D304-0103-C567-E37D-35A65545D152}"/>
              </a:ext>
            </a:extLst>
          </p:cNvPr>
          <p:cNvSpPr txBox="1"/>
          <p:nvPr/>
        </p:nvSpPr>
        <p:spPr>
          <a:xfrm>
            <a:off x="13144500" y="5638800"/>
            <a:ext cx="4000500" cy="379591"/>
          </a:xfrm>
          <a:prstGeom prst="rect">
            <a:avLst/>
          </a:prstGeom>
          <a:noFill/>
        </p:spPr>
        <p:txBody>
          <a:bodyPr vert="horz" wrap="square" lIns="76200" tIns="50800" rIns="76200" bIns="50800" rtlCol="0">
            <a:spAutoFit/>
          </a:bodyPr>
          <a:lstStyle/>
          <a:p>
            <a:r>
              <a:rPr lang="en-US" b="1">
                <a:solidFill>
                  <a:srgbClr val="7C3AED"/>
                </a:solidFill>
                <a:latin typeface="Poppins Semi-Bold" panose="020B0604020202020204" charset="-94"/>
              </a:rPr>
              <a:t>ALGORİTMA &amp; KOD</a:t>
            </a:r>
          </a:p>
        </p:txBody>
      </p:sp>
      <p:sp>
        <p:nvSpPr>
          <p:cNvPr id="58" name="TextBox 57">
            <a:extLst>
              <a:ext uri="{FF2B5EF4-FFF2-40B4-BE49-F238E27FC236}">
                <a16:creationId xmlns:a16="http://schemas.microsoft.com/office/drawing/2014/main" id="{E2B4C06D-4F68-2945-CCCD-A34B771EE4BD}"/>
              </a:ext>
            </a:extLst>
          </p:cNvPr>
          <p:cNvSpPr txBox="1"/>
          <p:nvPr/>
        </p:nvSpPr>
        <p:spPr>
          <a:xfrm>
            <a:off x="12382500" y="6502400"/>
            <a:ext cx="4699000" cy="379591"/>
          </a:xfrm>
          <a:prstGeom prst="rect">
            <a:avLst/>
          </a:prstGeom>
          <a:noFill/>
        </p:spPr>
        <p:txBody>
          <a:bodyPr vert="horz" wrap="square" lIns="76200" tIns="50800" rIns="76200" bIns="50800" rtlCol="0">
            <a:spAutoFit/>
          </a:bodyPr>
          <a:lstStyle/>
          <a:p>
            <a:pPr algn="ctr"/>
            <a:r>
              <a:rPr lang="en-US" b="1">
                <a:solidFill>
                  <a:srgbClr val="181B21"/>
                </a:solidFill>
                <a:latin typeface="Poppins Semi-Bold" panose="020B0604020202020204" charset="-94"/>
              </a:rPr>
              <a:t>Donanıma Ruh Veren Plan</a:t>
            </a:r>
          </a:p>
        </p:txBody>
      </p:sp>
      <p:sp>
        <p:nvSpPr>
          <p:cNvPr id="59" name="TextBox 58">
            <a:extLst>
              <a:ext uri="{FF2B5EF4-FFF2-40B4-BE49-F238E27FC236}">
                <a16:creationId xmlns:a16="http://schemas.microsoft.com/office/drawing/2014/main" id="{3F9AD837-5859-569A-CFB5-95360C0B6FFB}"/>
              </a:ext>
            </a:extLst>
          </p:cNvPr>
          <p:cNvSpPr txBox="1"/>
          <p:nvPr/>
        </p:nvSpPr>
        <p:spPr>
          <a:xfrm>
            <a:off x="12382500" y="7162800"/>
            <a:ext cx="4699000" cy="325730"/>
          </a:xfrm>
          <a:prstGeom prst="rect">
            <a:avLst/>
          </a:prstGeom>
          <a:noFill/>
        </p:spPr>
        <p:txBody>
          <a:bodyPr vert="horz" wrap="square" lIns="76200" tIns="50800" rIns="76200" bIns="50800" rtlCol="0">
            <a:spAutoFit/>
          </a:bodyPr>
          <a:lstStyle/>
          <a:p>
            <a:pPr algn="ctr"/>
            <a:r>
              <a:rPr lang="en-US" sz="1450">
                <a:solidFill>
                  <a:srgbClr val="5F6978"/>
                </a:solidFill>
                <a:latin typeface="Poppins" panose="00000500000000000000" pitchFamily="2" charset="-94"/>
              </a:rPr>
              <a:t>Adım Adım Mantıksal Komutlar</a:t>
            </a:r>
          </a:p>
        </p:txBody>
      </p:sp>
      <p:sp>
        <p:nvSpPr>
          <p:cNvPr id="60" name="Rectangle: Rounded Corners 59">
            <a:extLst>
              <a:ext uri="{FF2B5EF4-FFF2-40B4-BE49-F238E27FC236}">
                <a16:creationId xmlns:a16="http://schemas.microsoft.com/office/drawing/2014/main" id="{5BE8EF45-8CC3-EEF0-52EE-BFFDAE45B527}"/>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323CABC7-CFCE-8FDB-B4EF-ACF9079377A4}"/>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#1</a:t>
            </a:r>
          </a:p>
        </p:txBody>
      </p:sp>
      <p:sp>
        <p:nvSpPr>
          <p:cNvPr id="62" name="TextBox 61">
            <a:extLst>
              <a:ext uri="{FF2B5EF4-FFF2-40B4-BE49-F238E27FC236}">
                <a16:creationId xmlns:a16="http://schemas.microsoft.com/office/drawing/2014/main" id="{509832CE-0468-D605-938F-4018296FC198}"/>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sv-SE" sz="1600" b="1">
                <a:solidFill>
                  <a:srgbClr val="181B21"/>
                </a:solidFill>
                <a:latin typeface="Poppins Semi-Bold" panose="020B0604020202020204" charset="-94"/>
              </a:rPr>
              <a:t>1. Halka (Elektrik) veya 6. Halka (Algoritma) olmazsa ne olur?</a:t>
            </a:r>
            <a:endParaRPr lang="en-US" sz="1600" b="1">
              <a:solidFill>
                <a:srgbClr val="181B21"/>
              </a:solidFill>
              <a:latin typeface="Poppins Semi-Bold" panose="020B0604020202020204" charset="-9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3</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F63B4EA9-F430-B1C6-CAEF-0D124EB68BBE}"/>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1. HALKA  •  FİZİKSEL TEMEL</a:t>
            </a:r>
          </a:p>
        </p:txBody>
      </p:sp>
      <p:sp>
        <p:nvSpPr>
          <p:cNvPr id="15" name="TextBox 14">
            <a:extLst>
              <a:ext uri="{FF2B5EF4-FFF2-40B4-BE49-F238E27FC236}">
                <a16:creationId xmlns:a16="http://schemas.microsoft.com/office/drawing/2014/main" id="{9E8ED90B-77CA-79A1-E64B-6640C5FC2EDB}"/>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Elektrik: Voltaj, Akım ve Direnç</a:t>
            </a:r>
          </a:p>
        </p:txBody>
      </p:sp>
      <p:sp>
        <p:nvSpPr>
          <p:cNvPr id="21" name="TextBox 20">
            <a:extLst>
              <a:ext uri="{FF2B5EF4-FFF2-40B4-BE49-F238E27FC236}">
                <a16:creationId xmlns:a16="http://schemas.microsoft.com/office/drawing/2014/main" id="{67F3BEB0-8134-E98F-245E-01A31EAB5810}"/>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s-ES" sz="1450">
                <a:solidFill>
                  <a:srgbClr val="5F6978"/>
                </a:solidFill>
                <a:latin typeface="Poppins" panose="00000500000000000000" pitchFamily="2" charset="-94"/>
              </a:rPr>
              <a:t>Su Borusu Analojisi ve Ohm Yasası (V = I × R)</a:t>
            </a:r>
            <a:endParaRPr lang="en-US" sz="1450">
              <a:solidFill>
                <a:srgbClr val="5F6978"/>
              </a:solidFill>
              <a:latin typeface="Poppins" panose="00000500000000000000" pitchFamily="2" charset="-94"/>
            </a:endParaRPr>
          </a:p>
        </p:txBody>
      </p:sp>
      <p:sp>
        <p:nvSpPr>
          <p:cNvPr id="22" name="Rectangle: Rounded Corners 21">
            <a:extLst>
              <a:ext uri="{FF2B5EF4-FFF2-40B4-BE49-F238E27FC236}">
                <a16:creationId xmlns:a16="http://schemas.microsoft.com/office/drawing/2014/main" id="{4DF90BB0-1D17-286D-4291-9E3222CAB846}"/>
              </a:ext>
            </a:extLst>
          </p:cNvPr>
          <p:cNvSpPr/>
          <p:nvPr/>
        </p:nvSpPr>
        <p:spPr>
          <a:xfrm>
            <a:off x="952500" y="2590800"/>
            <a:ext cx="9398000" cy="56134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CA5AAF1-EC16-0F52-41A1-53CD5C63C6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9500" y="2820555"/>
            <a:ext cx="9144000" cy="5153891"/>
          </a:xfrm>
          <a:prstGeom prst="rect">
            <a:avLst/>
          </a:prstGeom>
        </p:spPr>
      </p:pic>
      <p:sp>
        <p:nvSpPr>
          <p:cNvPr id="25" name="Rectangle: Rounded Corners 24">
            <a:extLst>
              <a:ext uri="{FF2B5EF4-FFF2-40B4-BE49-F238E27FC236}">
                <a16:creationId xmlns:a16="http://schemas.microsoft.com/office/drawing/2014/main" id="{0C369C35-3A31-B85D-23F3-A5E72513AC9D}"/>
              </a:ext>
            </a:extLst>
          </p:cNvPr>
          <p:cNvSpPr/>
          <p:nvPr/>
        </p:nvSpPr>
        <p:spPr>
          <a:xfrm>
            <a:off x="10604500" y="2590800"/>
            <a:ext cx="6731000" cy="1727200"/>
          </a:xfrm>
          <a:prstGeom prst="roundRect">
            <a:avLst>
              <a:gd name="adj" fmla="val 7000"/>
            </a:avLst>
          </a:prstGeom>
          <a:solidFill>
            <a:srgbClr val="ECFDF5"/>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4FBADFF-0029-6C5E-47E9-76130774FD8D}"/>
              </a:ext>
            </a:extLst>
          </p:cNvPr>
          <p:cNvSpPr txBox="1"/>
          <p:nvPr/>
        </p:nvSpPr>
        <p:spPr>
          <a:xfrm>
            <a:off x="10858500" y="2717800"/>
            <a:ext cx="6223000" cy="379591"/>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 ELEKTRİK NEDİR?</a:t>
            </a:r>
          </a:p>
        </p:txBody>
      </p:sp>
      <p:sp>
        <p:nvSpPr>
          <p:cNvPr id="27" name="TextBox 26">
            <a:extLst>
              <a:ext uri="{FF2B5EF4-FFF2-40B4-BE49-F238E27FC236}">
                <a16:creationId xmlns:a16="http://schemas.microsoft.com/office/drawing/2014/main" id="{3DA1EC5D-5078-E811-B774-0D697898C5F3}"/>
              </a:ext>
            </a:extLst>
          </p:cNvPr>
          <p:cNvSpPr txBox="1"/>
          <p:nvPr/>
        </p:nvSpPr>
        <p:spPr>
          <a:xfrm>
            <a:off x="10858500" y="3175000"/>
            <a:ext cx="6223000" cy="579646"/>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Elektronların kablodaki düzenli akışıdır.</a:t>
            </a:r>
          </a:p>
          <a:p>
            <a:r>
              <a:rPr lang="en-US" sz="1550">
                <a:solidFill>
                  <a:srgbClr val="181B21"/>
                </a:solidFill>
                <a:latin typeface="Poppins" panose="00000500000000000000" pitchFamily="2" charset="-94"/>
              </a:rPr>
              <a:t>• Enerjiyi ışık, ısı ve harekete taşır.</a:t>
            </a:r>
          </a:p>
        </p:txBody>
      </p:sp>
      <p:sp>
        <p:nvSpPr>
          <p:cNvPr id="28" name="Rectangle: Rounded Corners 27">
            <a:extLst>
              <a:ext uri="{FF2B5EF4-FFF2-40B4-BE49-F238E27FC236}">
                <a16:creationId xmlns:a16="http://schemas.microsoft.com/office/drawing/2014/main" id="{DB397A65-6131-BD25-856A-295DAFC3B212}"/>
              </a:ext>
            </a:extLst>
          </p:cNvPr>
          <p:cNvSpPr/>
          <p:nvPr/>
        </p:nvSpPr>
        <p:spPr>
          <a:xfrm>
            <a:off x="10604500" y="4521200"/>
            <a:ext cx="6731000" cy="1727200"/>
          </a:xfrm>
          <a:prstGeom prst="roundRect">
            <a:avLst>
              <a:gd name="adj" fmla="val 7000"/>
            </a:avLst>
          </a:prstGeom>
          <a:solidFill>
            <a:srgbClr val="FEF2F2"/>
          </a:solidFill>
          <a:ln w="27940">
            <a:solidFill>
              <a:srgbClr val="DC26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E9D8EC2-BFEA-FBFC-B538-1BA97B0024D9}"/>
              </a:ext>
            </a:extLst>
          </p:cNvPr>
          <p:cNvSpPr txBox="1"/>
          <p:nvPr/>
        </p:nvSpPr>
        <p:spPr>
          <a:xfrm>
            <a:off x="10858500" y="4648200"/>
            <a:ext cx="6223000" cy="379591"/>
          </a:xfrm>
          <a:prstGeom prst="rect">
            <a:avLst/>
          </a:prstGeom>
          <a:noFill/>
        </p:spPr>
        <p:txBody>
          <a:bodyPr vert="horz" wrap="square" lIns="76200" tIns="50800" rIns="76200" bIns="50800" rtlCol="0">
            <a:spAutoFit/>
          </a:bodyPr>
          <a:lstStyle/>
          <a:p>
            <a:r>
              <a:rPr lang="en-US" b="1">
                <a:solidFill>
                  <a:srgbClr val="DC2626"/>
                </a:solidFill>
                <a:latin typeface="Poppins Semi-Bold" panose="020B0604020202020204" charset="-94"/>
              </a:rPr>
              <a:t>❌ ELEKTRİK NE DEĞİLDİR?</a:t>
            </a:r>
          </a:p>
        </p:txBody>
      </p:sp>
      <p:sp>
        <p:nvSpPr>
          <p:cNvPr id="30" name="TextBox 29">
            <a:extLst>
              <a:ext uri="{FF2B5EF4-FFF2-40B4-BE49-F238E27FC236}">
                <a16:creationId xmlns:a16="http://schemas.microsoft.com/office/drawing/2014/main" id="{78DE0B29-36EA-5440-E2BD-C3428689683C}"/>
              </a:ext>
            </a:extLst>
          </p:cNvPr>
          <p:cNvSpPr txBox="1"/>
          <p:nvPr/>
        </p:nvSpPr>
        <p:spPr>
          <a:xfrm>
            <a:off x="10858500" y="5105400"/>
            <a:ext cx="6223000" cy="579646"/>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Sihir veya sınırsız güç DEĞİLDİR.</a:t>
            </a:r>
          </a:p>
          <a:p>
            <a:r>
              <a:rPr lang="en-US" sz="1550">
                <a:solidFill>
                  <a:srgbClr val="181B21"/>
                </a:solidFill>
                <a:latin typeface="Poppins" panose="00000500000000000000" pitchFamily="2" charset="-94"/>
              </a:rPr>
              <a:t>• Voltaj ve Akım aynı şey DEĞİLDİR!</a:t>
            </a:r>
          </a:p>
        </p:txBody>
      </p:sp>
      <p:sp>
        <p:nvSpPr>
          <p:cNvPr id="31" name="Rectangle: Rounded Corners 30">
            <a:extLst>
              <a:ext uri="{FF2B5EF4-FFF2-40B4-BE49-F238E27FC236}">
                <a16:creationId xmlns:a16="http://schemas.microsoft.com/office/drawing/2014/main" id="{4575597A-333C-54CB-2575-A8E1B7D4D329}"/>
              </a:ext>
            </a:extLst>
          </p:cNvPr>
          <p:cNvSpPr/>
          <p:nvPr/>
        </p:nvSpPr>
        <p:spPr>
          <a:xfrm>
            <a:off x="10604500" y="6451600"/>
            <a:ext cx="6731000" cy="1752600"/>
          </a:xfrm>
          <a:prstGeom prst="roundRect">
            <a:avLst>
              <a:gd name="adj" fmla="val 7000"/>
            </a:avLst>
          </a:prstGeom>
          <a:solidFill>
            <a:srgbClr val="F4F7FE"/>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1601448-F844-4CB7-AF84-849FE35E15E1}"/>
              </a:ext>
            </a:extLst>
          </p:cNvPr>
          <p:cNvSpPr txBox="1"/>
          <p:nvPr/>
        </p:nvSpPr>
        <p:spPr>
          <a:xfrm>
            <a:off x="10858500" y="6578600"/>
            <a:ext cx="6223000" cy="379591"/>
          </a:xfrm>
          <a:prstGeom prst="rect">
            <a:avLst/>
          </a:prstGeom>
          <a:noFill/>
        </p:spPr>
        <p:txBody>
          <a:bodyPr vert="horz" wrap="square" lIns="76200" tIns="50800" rIns="76200" bIns="50800" rtlCol="0">
            <a:spAutoFit/>
          </a:bodyPr>
          <a:lstStyle/>
          <a:p>
            <a:r>
              <a:rPr lang="en-US" b="1">
                <a:solidFill>
                  <a:srgbClr val="0E3DC6"/>
                </a:solidFill>
                <a:latin typeface="Poppins Semi-Bold" panose="020B0604020202020204" charset="-94"/>
              </a:rPr>
              <a:t>⚡ İLETKEN vs. 🛡 YALITKAN</a:t>
            </a:r>
          </a:p>
        </p:txBody>
      </p:sp>
      <p:sp>
        <p:nvSpPr>
          <p:cNvPr id="33" name="TextBox 32">
            <a:extLst>
              <a:ext uri="{FF2B5EF4-FFF2-40B4-BE49-F238E27FC236}">
                <a16:creationId xmlns:a16="http://schemas.microsoft.com/office/drawing/2014/main" id="{E3477B1F-32EC-66CF-9481-C09B991FDF51}"/>
              </a:ext>
            </a:extLst>
          </p:cNvPr>
          <p:cNvSpPr txBox="1"/>
          <p:nvPr/>
        </p:nvSpPr>
        <p:spPr>
          <a:xfrm>
            <a:off x="10858500" y="7035800"/>
            <a:ext cx="6223000" cy="579646"/>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İletken (Geçirir): Bakır, Altın, Tuzlu Su</a:t>
            </a:r>
          </a:p>
          <a:p>
            <a:r>
              <a:rPr lang="en-US" sz="1550">
                <a:solidFill>
                  <a:srgbClr val="181B21"/>
                </a:solidFill>
                <a:latin typeface="Poppins" panose="00000500000000000000" pitchFamily="2" charset="-94"/>
              </a:rPr>
              <a:t>• Yalıtkan (Durdurur): Plastik, Kauçuk, Cam</a:t>
            </a:r>
          </a:p>
        </p:txBody>
      </p:sp>
      <p:sp>
        <p:nvSpPr>
          <p:cNvPr id="34" name="Rectangle: Rounded Corners 33">
            <a:extLst>
              <a:ext uri="{FF2B5EF4-FFF2-40B4-BE49-F238E27FC236}">
                <a16:creationId xmlns:a16="http://schemas.microsoft.com/office/drawing/2014/main" id="{FC3C1E11-7497-A846-6B12-75D35D8D7541}"/>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4ED14A11-5C7F-DD4B-EF8F-2E516375BE31}"/>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#2</a:t>
            </a:r>
          </a:p>
        </p:txBody>
      </p:sp>
      <p:sp>
        <p:nvSpPr>
          <p:cNvPr id="36" name="TextBox 35">
            <a:extLst>
              <a:ext uri="{FF2B5EF4-FFF2-40B4-BE49-F238E27FC236}">
                <a16:creationId xmlns:a16="http://schemas.microsoft.com/office/drawing/2014/main" id="{216CECD1-A378-2DFD-CAF6-84BFA1B36604}"/>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Kuşlar yüksek gerilim hattına konduğunda neden çarpılmaz?</a:t>
            </a:r>
          </a:p>
        </p:txBody>
      </p:sp>
    </p:spTree>
    <p:extLst>
      <p:ext uri="{BB962C8B-B14F-4D97-AF65-F5344CB8AC3E}">
        <p14:creationId xmlns:p14="http://schemas.microsoft.com/office/powerpoint/2010/main" val="5213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4</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57F2CA2A-6C49-8EFD-12AB-6FBD6B5EAE3B}"/>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2. HALKA  •  ELEKTRONİK DEVRE</a:t>
            </a:r>
          </a:p>
        </p:txBody>
      </p:sp>
      <p:sp>
        <p:nvSpPr>
          <p:cNvPr id="15" name="TextBox 14">
            <a:extLst>
              <a:ext uri="{FF2B5EF4-FFF2-40B4-BE49-F238E27FC236}">
                <a16:creationId xmlns:a16="http://schemas.microsoft.com/office/drawing/2014/main" id="{994EDFDA-E458-3831-7506-C2025297E907}"/>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Devre Elemanları: Breadboard, Direnç ve LED</a:t>
            </a:r>
          </a:p>
        </p:txBody>
      </p:sp>
      <p:sp>
        <p:nvSpPr>
          <p:cNvPr id="21" name="TextBox 20">
            <a:extLst>
              <a:ext uri="{FF2B5EF4-FFF2-40B4-BE49-F238E27FC236}">
                <a16:creationId xmlns:a16="http://schemas.microsoft.com/office/drawing/2014/main" id="{9DFCBAB0-6C87-D196-9E71-279D0B9E55F1}"/>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Kapalı Döngü, Seri vs. Paralel Bağlantı</a:t>
            </a:r>
          </a:p>
        </p:txBody>
      </p:sp>
      <p:sp>
        <p:nvSpPr>
          <p:cNvPr id="22" name="Rectangle: Rounded Corners 21">
            <a:extLst>
              <a:ext uri="{FF2B5EF4-FFF2-40B4-BE49-F238E27FC236}">
                <a16:creationId xmlns:a16="http://schemas.microsoft.com/office/drawing/2014/main" id="{51E3707D-7B69-D27A-8DB6-1D0AD4FDF926}"/>
              </a:ext>
            </a:extLst>
          </p:cNvPr>
          <p:cNvSpPr/>
          <p:nvPr/>
        </p:nvSpPr>
        <p:spPr>
          <a:xfrm>
            <a:off x="952500" y="2590800"/>
            <a:ext cx="5207000" cy="5613400"/>
          </a:xfrm>
          <a:prstGeom prst="roundRect">
            <a:avLst>
              <a:gd name="adj" fmla="val 6000"/>
            </a:avLst>
          </a:prstGeom>
          <a:solidFill>
            <a:srgbClr val="FFFFFF"/>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4A2C5B8C-4423-1644-7625-CFA34CF281B1}"/>
              </a:ext>
            </a:extLst>
          </p:cNvPr>
          <p:cNvSpPr/>
          <p:nvPr/>
        </p:nvSpPr>
        <p:spPr>
          <a:xfrm>
            <a:off x="952500" y="2590800"/>
            <a:ext cx="5207000" cy="685800"/>
          </a:xfrm>
          <a:prstGeom prst="roundRect">
            <a:avLst>
              <a:gd name="adj" fmla="val 6000"/>
            </a:avLst>
          </a:prstGeom>
          <a:solidFill>
            <a:srgbClr val="E6EBF9"/>
          </a:solidFill>
          <a:ln w="190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AF1D766-4C29-095D-21D4-1E3CC6F12341}"/>
              </a:ext>
            </a:extLst>
          </p:cNvPr>
          <p:cNvSpPr txBox="1"/>
          <p:nvPr/>
        </p:nvSpPr>
        <p:spPr>
          <a:xfrm>
            <a:off x="1143000" y="2743200"/>
            <a:ext cx="4826000" cy="379591"/>
          </a:xfrm>
          <a:prstGeom prst="rect">
            <a:avLst/>
          </a:prstGeom>
          <a:noFill/>
        </p:spPr>
        <p:txBody>
          <a:bodyPr vert="horz" wrap="square" lIns="76200" tIns="50800" rIns="76200" bIns="50800" rtlCol="0">
            <a:spAutoFit/>
          </a:bodyPr>
          <a:lstStyle/>
          <a:p>
            <a:pPr algn="ctr"/>
            <a:r>
              <a:rPr lang="en-US" b="1">
                <a:solidFill>
                  <a:srgbClr val="0E3DC6"/>
                </a:solidFill>
                <a:latin typeface="Poppins Semi-Bold" panose="020B0604020202020204" charset="-94"/>
              </a:rPr>
              <a:t>1. Kapalı Döngü &amp; Bağlantı</a:t>
            </a:r>
          </a:p>
        </p:txBody>
      </p:sp>
      <p:pic>
        <p:nvPicPr>
          <p:cNvPr id="26" name="Picture 25">
            <a:extLst>
              <a:ext uri="{FF2B5EF4-FFF2-40B4-BE49-F238E27FC236}">
                <a16:creationId xmlns:a16="http://schemas.microsoft.com/office/drawing/2014/main" id="{B4EBF4F2-802E-617D-9E15-ABA9B9EF9C1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206500" y="3459996"/>
            <a:ext cx="4699000" cy="2605008"/>
          </a:xfrm>
          <a:prstGeom prst="rect">
            <a:avLst/>
          </a:prstGeom>
        </p:spPr>
      </p:pic>
      <p:sp>
        <p:nvSpPr>
          <p:cNvPr id="27" name="TextBox 26">
            <a:extLst>
              <a:ext uri="{FF2B5EF4-FFF2-40B4-BE49-F238E27FC236}">
                <a16:creationId xmlns:a16="http://schemas.microsoft.com/office/drawing/2014/main" id="{5BC179A0-BEDD-3375-41B1-98E8C379E717}"/>
              </a:ext>
            </a:extLst>
          </p:cNvPr>
          <p:cNvSpPr txBox="1"/>
          <p:nvPr/>
        </p:nvSpPr>
        <p:spPr>
          <a:xfrm>
            <a:off x="1206500" y="6286500"/>
            <a:ext cx="4699000" cy="818173"/>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Kapalı Devre: Kesintisiz tam tur</a:t>
            </a:r>
          </a:p>
          <a:p>
            <a:r>
              <a:rPr lang="en-US" sz="1550">
                <a:solidFill>
                  <a:srgbClr val="181B21"/>
                </a:solidFill>
                <a:latin typeface="Poppins" panose="00000500000000000000" pitchFamily="2" charset="-94"/>
              </a:rPr>
              <a:t>• Seri: Tek yol (Biri koparsa söner)</a:t>
            </a:r>
          </a:p>
          <a:p>
            <a:r>
              <a:rPr lang="en-US" sz="1550">
                <a:solidFill>
                  <a:srgbClr val="181B21"/>
                </a:solidFill>
                <a:latin typeface="Poppins" panose="00000500000000000000" pitchFamily="2" charset="-94"/>
              </a:rPr>
              <a:t>• Paralel: Ayrı kollar (Ev tesisatı)</a:t>
            </a:r>
          </a:p>
        </p:txBody>
      </p:sp>
      <p:sp>
        <p:nvSpPr>
          <p:cNvPr id="28" name="Rectangle: Rounded Corners 27">
            <a:extLst>
              <a:ext uri="{FF2B5EF4-FFF2-40B4-BE49-F238E27FC236}">
                <a16:creationId xmlns:a16="http://schemas.microsoft.com/office/drawing/2014/main" id="{6C379FA8-6398-9EAC-1CCE-44FB27B86B4B}"/>
              </a:ext>
            </a:extLst>
          </p:cNvPr>
          <p:cNvSpPr/>
          <p:nvPr/>
        </p:nvSpPr>
        <p:spPr>
          <a:xfrm>
            <a:off x="6540500" y="2590800"/>
            <a:ext cx="5207000" cy="5613400"/>
          </a:xfrm>
          <a:prstGeom prst="roundRect">
            <a:avLst>
              <a:gd name="adj" fmla="val 6000"/>
            </a:avLst>
          </a:prstGeom>
          <a:solidFill>
            <a:srgbClr val="FFFFFF"/>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C2224828-8961-B8FC-7637-909BA94B83A1}"/>
              </a:ext>
            </a:extLst>
          </p:cNvPr>
          <p:cNvSpPr/>
          <p:nvPr/>
        </p:nvSpPr>
        <p:spPr>
          <a:xfrm>
            <a:off x="6540500" y="2590800"/>
            <a:ext cx="5207000" cy="685800"/>
          </a:xfrm>
          <a:prstGeom prst="roundRect">
            <a:avLst>
              <a:gd name="adj" fmla="val 6000"/>
            </a:avLst>
          </a:prstGeom>
          <a:solidFill>
            <a:srgbClr val="ECFDF5"/>
          </a:solidFill>
          <a:ln w="190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BCE5DC0-64F1-BDC6-86B5-225D245AB7D9}"/>
              </a:ext>
            </a:extLst>
          </p:cNvPr>
          <p:cNvSpPr txBox="1"/>
          <p:nvPr/>
        </p:nvSpPr>
        <p:spPr>
          <a:xfrm>
            <a:off x="6731000" y="2743200"/>
            <a:ext cx="4826000" cy="379591"/>
          </a:xfrm>
          <a:prstGeom prst="rect">
            <a:avLst/>
          </a:prstGeom>
          <a:noFill/>
        </p:spPr>
        <p:txBody>
          <a:bodyPr vert="horz" wrap="square" lIns="76200" tIns="50800" rIns="76200" bIns="50800" rtlCol="0">
            <a:spAutoFit/>
          </a:bodyPr>
          <a:lstStyle/>
          <a:p>
            <a:pPr algn="ctr"/>
            <a:r>
              <a:rPr lang="en-US" b="1">
                <a:solidFill>
                  <a:srgbClr val="059669"/>
                </a:solidFill>
                <a:latin typeface="Poppins Semi-Bold" panose="020B0604020202020204" charset="-94"/>
              </a:rPr>
              <a:t>2. Breadboard (Devre Tahtası)</a:t>
            </a:r>
          </a:p>
        </p:txBody>
      </p:sp>
      <p:pic>
        <p:nvPicPr>
          <p:cNvPr id="32" name="Picture 31">
            <a:extLst>
              <a:ext uri="{FF2B5EF4-FFF2-40B4-BE49-F238E27FC236}">
                <a16:creationId xmlns:a16="http://schemas.microsoft.com/office/drawing/2014/main" id="{4540449B-20F6-80A9-9C24-3D2BB3900A63}"/>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150726" y="3429000"/>
            <a:ext cx="3986547" cy="2667000"/>
          </a:xfrm>
          <a:prstGeom prst="rect">
            <a:avLst/>
          </a:prstGeom>
        </p:spPr>
      </p:pic>
      <p:sp>
        <p:nvSpPr>
          <p:cNvPr id="33" name="TextBox 32">
            <a:extLst>
              <a:ext uri="{FF2B5EF4-FFF2-40B4-BE49-F238E27FC236}">
                <a16:creationId xmlns:a16="http://schemas.microsoft.com/office/drawing/2014/main" id="{99BBF489-F898-C753-6D8B-1A04C3C5D0B8}"/>
              </a:ext>
            </a:extLst>
          </p:cNvPr>
          <p:cNvSpPr txBox="1"/>
          <p:nvPr/>
        </p:nvSpPr>
        <p:spPr>
          <a:xfrm>
            <a:off x="6794500" y="6286500"/>
            <a:ext cx="4699000" cy="818173"/>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Lehimsiz hızlı deney tahtası</a:t>
            </a:r>
          </a:p>
          <a:p>
            <a:r>
              <a:rPr lang="en-US" sz="1550">
                <a:solidFill>
                  <a:srgbClr val="181B21"/>
                </a:solidFill>
                <a:latin typeface="Poppins" panose="00000500000000000000" pitchFamily="2" charset="-94"/>
              </a:rPr>
              <a:t>• + / - Hatları: Yatay boydan boya</a:t>
            </a:r>
          </a:p>
          <a:p>
            <a:r>
              <a:rPr lang="en-US" sz="1550">
                <a:solidFill>
                  <a:srgbClr val="181B21"/>
                </a:solidFill>
                <a:latin typeface="Poppins" panose="00000500000000000000" pitchFamily="2" charset="-94"/>
              </a:rPr>
              <a:t>• Orta Delikler: Dikey 5'li grup</a:t>
            </a:r>
          </a:p>
        </p:txBody>
      </p:sp>
      <p:sp>
        <p:nvSpPr>
          <p:cNvPr id="34" name="Rectangle: Rounded Corners 33">
            <a:extLst>
              <a:ext uri="{FF2B5EF4-FFF2-40B4-BE49-F238E27FC236}">
                <a16:creationId xmlns:a16="http://schemas.microsoft.com/office/drawing/2014/main" id="{7ABAACB4-FFCC-DC30-F840-1CBE2BBBE164}"/>
              </a:ext>
            </a:extLst>
          </p:cNvPr>
          <p:cNvSpPr/>
          <p:nvPr/>
        </p:nvSpPr>
        <p:spPr>
          <a:xfrm>
            <a:off x="12128500" y="2590800"/>
            <a:ext cx="5207000" cy="5613400"/>
          </a:xfrm>
          <a:prstGeom prst="roundRect">
            <a:avLst>
              <a:gd name="adj" fmla="val 6000"/>
            </a:avLst>
          </a:prstGeom>
          <a:solidFill>
            <a:srgbClr val="FFFFFF"/>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271B8ADF-B69F-7A2A-1E75-351600A9B5D9}"/>
              </a:ext>
            </a:extLst>
          </p:cNvPr>
          <p:cNvSpPr/>
          <p:nvPr/>
        </p:nvSpPr>
        <p:spPr>
          <a:xfrm>
            <a:off x="12128500" y="2590800"/>
            <a:ext cx="5207000" cy="685800"/>
          </a:xfrm>
          <a:prstGeom prst="roundRect">
            <a:avLst>
              <a:gd name="adj" fmla="val 6000"/>
            </a:avLst>
          </a:prstGeom>
          <a:solidFill>
            <a:srgbClr val="FFF8E7"/>
          </a:solidFill>
          <a:ln w="190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9A58C2E-001A-83FB-FFFE-3A98D42BE773}"/>
              </a:ext>
            </a:extLst>
          </p:cNvPr>
          <p:cNvSpPr txBox="1"/>
          <p:nvPr/>
        </p:nvSpPr>
        <p:spPr>
          <a:xfrm>
            <a:off x="12319000" y="2743200"/>
            <a:ext cx="4826000" cy="379591"/>
          </a:xfrm>
          <a:prstGeom prst="rect">
            <a:avLst/>
          </a:prstGeom>
          <a:noFill/>
        </p:spPr>
        <p:txBody>
          <a:bodyPr vert="horz" wrap="square" lIns="76200" tIns="50800" rIns="76200" bIns="50800" rtlCol="0">
            <a:spAutoFit/>
          </a:bodyPr>
          <a:lstStyle/>
          <a:p>
            <a:pPr algn="ctr"/>
            <a:r>
              <a:rPr lang="en-US" b="1">
                <a:solidFill>
                  <a:srgbClr val="D97706"/>
                </a:solidFill>
                <a:latin typeface="Poppins Semi-Bold" panose="020B0604020202020204" charset="-94"/>
              </a:rPr>
              <a:t>3. LED &amp; Güç Kaynağı</a:t>
            </a:r>
          </a:p>
        </p:txBody>
      </p:sp>
      <p:pic>
        <p:nvPicPr>
          <p:cNvPr id="38" name="Picture 37">
            <a:extLst>
              <a:ext uri="{FF2B5EF4-FFF2-40B4-BE49-F238E27FC236}">
                <a16:creationId xmlns:a16="http://schemas.microsoft.com/office/drawing/2014/main" id="{139B3173-72F9-BD47-D9CA-75DEF1DCE994}"/>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3233206" y="3429000"/>
            <a:ext cx="648088" cy="2667000"/>
          </a:xfrm>
          <a:prstGeom prst="rect">
            <a:avLst/>
          </a:prstGeom>
        </p:spPr>
      </p:pic>
      <p:pic>
        <p:nvPicPr>
          <p:cNvPr id="40" name="Picture 39">
            <a:extLst>
              <a:ext uri="{FF2B5EF4-FFF2-40B4-BE49-F238E27FC236}">
                <a16:creationId xmlns:a16="http://schemas.microsoft.com/office/drawing/2014/main" id="{D8077D25-DF33-E376-46BB-00B08A88B51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5178182" y="3429000"/>
            <a:ext cx="1457136" cy="2667000"/>
          </a:xfrm>
          <a:prstGeom prst="rect">
            <a:avLst/>
          </a:prstGeom>
        </p:spPr>
      </p:pic>
      <p:sp>
        <p:nvSpPr>
          <p:cNvPr id="41" name="TextBox 40">
            <a:extLst>
              <a:ext uri="{FF2B5EF4-FFF2-40B4-BE49-F238E27FC236}">
                <a16:creationId xmlns:a16="http://schemas.microsoft.com/office/drawing/2014/main" id="{982088FD-E6FE-0992-ABEE-C39CED157227}"/>
              </a:ext>
            </a:extLst>
          </p:cNvPr>
          <p:cNvSpPr txBox="1"/>
          <p:nvPr/>
        </p:nvSpPr>
        <p:spPr>
          <a:xfrm>
            <a:off x="12382500" y="6286500"/>
            <a:ext cx="4699000" cy="818173"/>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Uzun Bacak (+ Anot), Kısa (- Katot)</a:t>
            </a:r>
          </a:p>
          <a:p>
            <a:r>
              <a:rPr lang="en-US" sz="1550">
                <a:solidFill>
                  <a:srgbClr val="181B21"/>
                </a:solidFill>
                <a:latin typeface="Poppins" panose="00000500000000000000" pitchFamily="2" charset="-94"/>
              </a:rPr>
              <a:t>• Ters takılırsa ışık vermez!</a:t>
            </a:r>
          </a:p>
          <a:p>
            <a:r>
              <a:rPr lang="en-US" sz="1550">
                <a:solidFill>
                  <a:srgbClr val="181B21"/>
                </a:solidFill>
                <a:latin typeface="Poppins" panose="00000500000000000000" pitchFamily="2" charset="-94"/>
              </a:rPr>
              <a:t>• Dirençsiz takılırsa anında yanar!</a:t>
            </a:r>
          </a:p>
        </p:txBody>
      </p:sp>
      <p:sp>
        <p:nvSpPr>
          <p:cNvPr id="42" name="Rectangle: Rounded Corners 41">
            <a:extLst>
              <a:ext uri="{FF2B5EF4-FFF2-40B4-BE49-F238E27FC236}">
                <a16:creationId xmlns:a16="http://schemas.microsoft.com/office/drawing/2014/main" id="{05ADC4BE-096C-1A84-FA28-9D4660E6941C}"/>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F6750220-33E8-4725-D2B8-46D1657EF8D7}"/>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#3</a:t>
            </a:r>
          </a:p>
        </p:txBody>
      </p:sp>
      <p:sp>
        <p:nvSpPr>
          <p:cNvPr id="44" name="TextBox 43">
            <a:extLst>
              <a:ext uri="{FF2B5EF4-FFF2-40B4-BE49-F238E27FC236}">
                <a16:creationId xmlns:a16="http://schemas.microsoft.com/office/drawing/2014/main" id="{2CCEA806-A75F-9165-1E04-7B20D31F0A50}"/>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LED'i 9V pile dirençsiz bağlarsak veya ters takarsak ne olur?</a:t>
            </a:r>
          </a:p>
        </p:txBody>
      </p:sp>
    </p:spTree>
    <p:extLst>
      <p:ext uri="{BB962C8B-B14F-4D97-AF65-F5344CB8AC3E}">
        <p14:creationId xmlns:p14="http://schemas.microsoft.com/office/powerpoint/2010/main" val="393653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5</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63FB4968-0948-FE9F-CAD5-5AB61F598844}"/>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3. HALKA  •  SİNYAL DÜNYASI</a:t>
            </a:r>
          </a:p>
        </p:txBody>
      </p:sp>
      <p:sp>
        <p:nvSpPr>
          <p:cNvPr id="15" name="TextBox 14">
            <a:extLst>
              <a:ext uri="{FF2B5EF4-FFF2-40B4-BE49-F238E27FC236}">
                <a16:creationId xmlns:a16="http://schemas.microsoft.com/office/drawing/2014/main" id="{AD9FD384-AC58-1996-AE5E-C8F910587FB7}"/>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Analog Nedir, Dijital Nedir?</a:t>
            </a:r>
          </a:p>
        </p:txBody>
      </p:sp>
      <p:sp>
        <p:nvSpPr>
          <p:cNvPr id="21" name="TextBox 20">
            <a:extLst>
              <a:ext uri="{FF2B5EF4-FFF2-40B4-BE49-F238E27FC236}">
                <a16:creationId xmlns:a16="http://schemas.microsoft.com/office/drawing/2014/main" id="{4E7C2BCF-CE31-A7FB-7A11-08BF8DD41AEF}"/>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Sonsuz Ara Değerli Doğa Dalgaları vs. Net 0 ve 1'ler</a:t>
            </a:r>
          </a:p>
        </p:txBody>
      </p:sp>
      <p:sp>
        <p:nvSpPr>
          <p:cNvPr id="22" name="Rectangle: Rounded Corners 21">
            <a:extLst>
              <a:ext uri="{FF2B5EF4-FFF2-40B4-BE49-F238E27FC236}">
                <a16:creationId xmlns:a16="http://schemas.microsoft.com/office/drawing/2014/main" id="{C3ACC16B-910B-AF49-EEAB-EEB35A9FF636}"/>
              </a:ext>
            </a:extLst>
          </p:cNvPr>
          <p:cNvSpPr/>
          <p:nvPr/>
        </p:nvSpPr>
        <p:spPr>
          <a:xfrm>
            <a:off x="952500" y="2590800"/>
            <a:ext cx="9525000" cy="56134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10E480E7-6571-B70A-AC85-FCDD63BBB1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9500" y="2784764"/>
            <a:ext cx="9271000" cy="5225473"/>
          </a:xfrm>
          <a:prstGeom prst="rect">
            <a:avLst/>
          </a:prstGeom>
        </p:spPr>
      </p:pic>
      <p:sp>
        <p:nvSpPr>
          <p:cNvPr id="25" name="Rectangle: Rounded Corners 24">
            <a:extLst>
              <a:ext uri="{FF2B5EF4-FFF2-40B4-BE49-F238E27FC236}">
                <a16:creationId xmlns:a16="http://schemas.microsoft.com/office/drawing/2014/main" id="{8EECE755-340E-9A47-6FA5-27FB3A6A5968}"/>
              </a:ext>
            </a:extLst>
          </p:cNvPr>
          <p:cNvSpPr/>
          <p:nvPr/>
        </p:nvSpPr>
        <p:spPr>
          <a:xfrm>
            <a:off x="10731500" y="2590800"/>
            <a:ext cx="6604000" cy="2692400"/>
          </a:xfrm>
          <a:prstGeom prst="roundRect">
            <a:avLst>
              <a:gd name="adj" fmla="val 7000"/>
            </a:avLst>
          </a:prstGeom>
          <a:solidFill>
            <a:srgbClr val="F4F7FE"/>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3C1621C-7787-9DC4-2FD5-112507768A8F}"/>
              </a:ext>
            </a:extLst>
          </p:cNvPr>
          <p:cNvSpPr txBox="1"/>
          <p:nvPr/>
        </p:nvSpPr>
        <p:spPr>
          <a:xfrm>
            <a:off x="10985500" y="2743200"/>
            <a:ext cx="6096000" cy="410369"/>
          </a:xfrm>
          <a:prstGeom prst="rect">
            <a:avLst/>
          </a:prstGeom>
          <a:noFill/>
        </p:spPr>
        <p:txBody>
          <a:bodyPr vert="horz" wrap="square" lIns="76200" tIns="50800" rIns="76200" bIns="50800" rtlCol="0">
            <a:spAutoFit/>
          </a:bodyPr>
          <a:lstStyle/>
          <a:p>
            <a:r>
              <a:rPr lang="en-US" sz="2000" b="1">
                <a:solidFill>
                  <a:srgbClr val="0E3DC6"/>
                </a:solidFill>
                <a:latin typeface="Poppins Semi-Bold" panose="020B0604020202020204" charset="-94"/>
              </a:rPr>
              <a:t>🌊 ANALOG SİNYAL</a:t>
            </a:r>
          </a:p>
        </p:txBody>
      </p:sp>
      <p:sp>
        <p:nvSpPr>
          <p:cNvPr id="27" name="TextBox 26">
            <a:extLst>
              <a:ext uri="{FF2B5EF4-FFF2-40B4-BE49-F238E27FC236}">
                <a16:creationId xmlns:a16="http://schemas.microsoft.com/office/drawing/2014/main" id="{553AB2AE-EB49-E6B3-D928-79B2C5954586}"/>
              </a:ext>
            </a:extLst>
          </p:cNvPr>
          <p:cNvSpPr txBox="1"/>
          <p:nvPr/>
        </p:nvSpPr>
        <p:spPr>
          <a:xfrm>
            <a:off x="10985500" y="3251200"/>
            <a:ext cx="6096000" cy="818173"/>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Doğanın kendi dilidir (Ses, Sıcaklık, Işık).</a:t>
            </a:r>
          </a:p>
          <a:p>
            <a:r>
              <a:rPr lang="en-US" sz="1550">
                <a:solidFill>
                  <a:srgbClr val="181B21"/>
                </a:solidFill>
                <a:latin typeface="Poppins" panose="00000500000000000000" pitchFamily="2" charset="-94"/>
              </a:rPr>
              <a:t>• Sonsuz ara değer alır (3.14V, 3.15V...).</a:t>
            </a:r>
          </a:p>
          <a:p>
            <a:r>
              <a:rPr lang="en-US" sz="1550">
                <a:solidFill>
                  <a:srgbClr val="181B21"/>
                </a:solidFill>
                <a:latin typeface="Poppins" panose="00000500000000000000" pitchFamily="2" charset="-94"/>
              </a:rPr>
              <a:t>• Gürültü ve parazitten ÇOK ETKİLENİR!</a:t>
            </a:r>
          </a:p>
        </p:txBody>
      </p:sp>
      <p:sp>
        <p:nvSpPr>
          <p:cNvPr id="28" name="Rectangle: Rounded Corners 27">
            <a:extLst>
              <a:ext uri="{FF2B5EF4-FFF2-40B4-BE49-F238E27FC236}">
                <a16:creationId xmlns:a16="http://schemas.microsoft.com/office/drawing/2014/main" id="{EBC5D0A1-E11E-47B1-D4A5-6202B713C367}"/>
              </a:ext>
            </a:extLst>
          </p:cNvPr>
          <p:cNvSpPr/>
          <p:nvPr/>
        </p:nvSpPr>
        <p:spPr>
          <a:xfrm>
            <a:off x="10731500" y="5511800"/>
            <a:ext cx="6604000" cy="2692400"/>
          </a:xfrm>
          <a:prstGeom prst="roundRect">
            <a:avLst>
              <a:gd name="adj" fmla="val 7000"/>
            </a:avLst>
          </a:prstGeom>
          <a:solidFill>
            <a:srgbClr val="ECFDF5"/>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1BEE141-3C9A-1243-1E6A-B345358F9499}"/>
              </a:ext>
            </a:extLst>
          </p:cNvPr>
          <p:cNvSpPr txBox="1"/>
          <p:nvPr/>
        </p:nvSpPr>
        <p:spPr>
          <a:xfrm>
            <a:off x="10985500" y="5664200"/>
            <a:ext cx="6096000" cy="410369"/>
          </a:xfrm>
          <a:prstGeom prst="rect">
            <a:avLst/>
          </a:prstGeom>
          <a:noFill/>
        </p:spPr>
        <p:txBody>
          <a:bodyPr vert="horz" wrap="square" lIns="76200" tIns="50800" rIns="76200" bIns="50800" rtlCol="0">
            <a:spAutoFit/>
          </a:bodyPr>
          <a:lstStyle/>
          <a:p>
            <a:r>
              <a:rPr lang="es-ES" sz="2000" b="1">
                <a:solidFill>
                  <a:srgbClr val="059669"/>
                </a:solidFill>
                <a:latin typeface="Poppins Semi-Bold" panose="020B0604020202020204" charset="-94"/>
              </a:rPr>
              <a:t>⚡ DİJİTAL SİNYAL (0 ve 1)</a:t>
            </a:r>
            <a:endParaRPr lang="en-US" sz="2000" b="1">
              <a:solidFill>
                <a:srgbClr val="059669"/>
              </a:solidFill>
              <a:latin typeface="Poppins Semi-Bold" panose="020B0604020202020204" charset="-94"/>
            </a:endParaRPr>
          </a:p>
        </p:txBody>
      </p:sp>
      <p:sp>
        <p:nvSpPr>
          <p:cNvPr id="30" name="TextBox 29">
            <a:extLst>
              <a:ext uri="{FF2B5EF4-FFF2-40B4-BE49-F238E27FC236}">
                <a16:creationId xmlns:a16="http://schemas.microsoft.com/office/drawing/2014/main" id="{8860B1D1-8A71-7033-543B-A5BADE022E72}"/>
              </a:ext>
            </a:extLst>
          </p:cNvPr>
          <p:cNvSpPr txBox="1"/>
          <p:nvPr/>
        </p:nvSpPr>
        <p:spPr>
          <a:xfrm>
            <a:off x="10985500" y="6172200"/>
            <a:ext cx="6096000" cy="818173"/>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Bilgisayarın dilidir: Sadece 0 (0V) ve 1 (5V).</a:t>
            </a:r>
          </a:p>
          <a:p>
            <a:r>
              <a:rPr lang="en-US" sz="1550">
                <a:solidFill>
                  <a:srgbClr val="181B21"/>
                </a:solidFill>
                <a:latin typeface="Poppins" panose="00000500000000000000" pitchFamily="2" charset="-94"/>
              </a:rPr>
              <a:t>• Ara değer yoktur (Merdiven basamağı).</a:t>
            </a:r>
          </a:p>
          <a:p>
            <a:r>
              <a:rPr lang="en-US" sz="1550">
                <a:solidFill>
                  <a:srgbClr val="181B21"/>
                </a:solidFill>
                <a:latin typeface="Poppins" panose="00000500000000000000" pitchFamily="2" charset="-94"/>
              </a:rPr>
              <a:t>• Gürültüye karşı TAM KORUMALIDIR!</a:t>
            </a:r>
          </a:p>
        </p:txBody>
      </p:sp>
      <p:sp>
        <p:nvSpPr>
          <p:cNvPr id="31" name="Rectangle: Rounded Corners 30">
            <a:extLst>
              <a:ext uri="{FF2B5EF4-FFF2-40B4-BE49-F238E27FC236}">
                <a16:creationId xmlns:a16="http://schemas.microsoft.com/office/drawing/2014/main" id="{540E788B-C41E-93FB-56B7-207FE434C8DB}"/>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5FAB1803-E6D7-BA44-76CC-612318C5C696}"/>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#4</a:t>
            </a:r>
          </a:p>
        </p:txBody>
      </p:sp>
      <p:sp>
        <p:nvSpPr>
          <p:cNvPr id="33" name="TextBox 32">
            <a:extLst>
              <a:ext uri="{FF2B5EF4-FFF2-40B4-BE49-F238E27FC236}">
                <a16:creationId xmlns:a16="http://schemas.microsoft.com/office/drawing/2014/main" id="{12CB3251-064A-1A07-CCB6-96ED6995660D}"/>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100 kez kopyalanan ses kaydı: Analog kaset neden hışırdar, Dijital MP3 neden bozulmaz?</a:t>
            </a:r>
          </a:p>
        </p:txBody>
      </p:sp>
    </p:spTree>
    <p:extLst>
      <p:ext uri="{BB962C8B-B14F-4D97-AF65-F5344CB8AC3E}">
        <p14:creationId xmlns:p14="http://schemas.microsoft.com/office/powerpoint/2010/main" val="339375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6</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595EDC18-E46A-0A11-8B4D-BBEF6BE5CF34}"/>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3. HALKA  •  BİLGİSAYARIN ATOMU</a:t>
            </a:r>
          </a:p>
        </p:txBody>
      </p:sp>
      <p:sp>
        <p:nvSpPr>
          <p:cNvPr id="15" name="TextBox 14">
            <a:extLst>
              <a:ext uri="{FF2B5EF4-FFF2-40B4-BE49-F238E27FC236}">
                <a16:creationId xmlns:a16="http://schemas.microsoft.com/office/drawing/2014/main" id="{08901472-FC17-116E-AF22-13D5D7A7629D}"/>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Transistör ve İkilik (Binary 0-1) Sistem</a:t>
            </a:r>
          </a:p>
        </p:txBody>
      </p:sp>
      <p:sp>
        <p:nvSpPr>
          <p:cNvPr id="21" name="TextBox 20">
            <a:extLst>
              <a:ext uri="{FF2B5EF4-FFF2-40B4-BE49-F238E27FC236}">
                <a16:creationId xmlns:a16="http://schemas.microsoft.com/office/drawing/2014/main" id="{86608395-516E-61AD-1D7D-B0BE9AD8BDA9}"/>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s-ES" sz="1450">
                <a:solidFill>
                  <a:srgbClr val="5F6978"/>
                </a:solidFill>
                <a:latin typeface="Poppins" panose="00000500000000000000" pitchFamily="2" charset="-94"/>
              </a:rPr>
              <a:t>Neden 0'dan 9'a Kadar Değil de Sadece 0 ve 1?</a:t>
            </a:r>
            <a:endParaRPr lang="en-US" sz="1450">
              <a:solidFill>
                <a:srgbClr val="5F6978"/>
              </a:solidFill>
              <a:latin typeface="Poppins" panose="00000500000000000000" pitchFamily="2" charset="-94"/>
            </a:endParaRPr>
          </a:p>
        </p:txBody>
      </p:sp>
      <p:sp>
        <p:nvSpPr>
          <p:cNvPr id="22" name="Rectangle: Rounded Corners 21">
            <a:extLst>
              <a:ext uri="{FF2B5EF4-FFF2-40B4-BE49-F238E27FC236}">
                <a16:creationId xmlns:a16="http://schemas.microsoft.com/office/drawing/2014/main" id="{5216B824-B389-FAE8-1E15-952873CF5BC3}"/>
              </a:ext>
            </a:extLst>
          </p:cNvPr>
          <p:cNvSpPr/>
          <p:nvPr/>
        </p:nvSpPr>
        <p:spPr>
          <a:xfrm>
            <a:off x="952500" y="2540000"/>
            <a:ext cx="16383000" cy="31750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CEB596D3-B004-6C92-2F84-2D6271E870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032000" y="2616200"/>
            <a:ext cx="14224000" cy="3022600"/>
          </a:xfrm>
          <a:prstGeom prst="rect">
            <a:avLst/>
          </a:prstGeom>
        </p:spPr>
      </p:pic>
      <p:sp>
        <p:nvSpPr>
          <p:cNvPr id="25" name="Rectangle: Rounded Corners 24">
            <a:extLst>
              <a:ext uri="{FF2B5EF4-FFF2-40B4-BE49-F238E27FC236}">
                <a16:creationId xmlns:a16="http://schemas.microsoft.com/office/drawing/2014/main" id="{AF050ED0-901F-5C0A-4200-5F8CD52EDC59}"/>
              </a:ext>
            </a:extLst>
          </p:cNvPr>
          <p:cNvSpPr/>
          <p:nvPr/>
        </p:nvSpPr>
        <p:spPr>
          <a:xfrm>
            <a:off x="952500" y="5918200"/>
            <a:ext cx="5207000" cy="2311400"/>
          </a:xfrm>
          <a:prstGeom prst="roundRect">
            <a:avLst>
              <a:gd name="adj" fmla="val 7000"/>
            </a:avLst>
          </a:prstGeom>
          <a:solidFill>
            <a:srgbClr val="F4F7FE"/>
          </a:solidFill>
          <a:ln w="2540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D69ABB9-1653-E774-2535-CA703E4892B2}"/>
              </a:ext>
            </a:extLst>
          </p:cNvPr>
          <p:cNvSpPr txBox="1"/>
          <p:nvPr/>
        </p:nvSpPr>
        <p:spPr>
          <a:xfrm>
            <a:off x="1206500" y="6070600"/>
            <a:ext cx="4699000" cy="379591"/>
          </a:xfrm>
          <a:prstGeom prst="rect">
            <a:avLst/>
          </a:prstGeom>
          <a:noFill/>
        </p:spPr>
        <p:txBody>
          <a:bodyPr vert="horz" wrap="square" lIns="76200" tIns="50800" rIns="76200" bIns="50800" rtlCol="0">
            <a:spAutoFit/>
          </a:bodyPr>
          <a:lstStyle/>
          <a:p>
            <a:r>
              <a:rPr lang="en-US" b="1">
                <a:solidFill>
                  <a:srgbClr val="0E3DC6"/>
                </a:solidFill>
                <a:latin typeface="Poppins Semi-Bold" panose="020B0604020202020204" charset="-94"/>
              </a:rPr>
              <a:t>🔘 Transistör Nedir?</a:t>
            </a:r>
          </a:p>
        </p:txBody>
      </p:sp>
      <p:sp>
        <p:nvSpPr>
          <p:cNvPr id="27" name="TextBox 26">
            <a:extLst>
              <a:ext uri="{FF2B5EF4-FFF2-40B4-BE49-F238E27FC236}">
                <a16:creationId xmlns:a16="http://schemas.microsoft.com/office/drawing/2014/main" id="{3525BA4A-6A25-EF12-2D98-0EC55D0FF809}"/>
              </a:ext>
            </a:extLst>
          </p:cNvPr>
          <p:cNvSpPr txBox="1"/>
          <p:nvPr/>
        </p:nvSpPr>
        <p:spPr>
          <a:xfrm>
            <a:off x="1206500" y="65532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Elektrikle çalışan mikroskobik anahtar.</a:t>
            </a:r>
          </a:p>
          <a:p>
            <a:r>
              <a:rPr lang="en-US" sz="1500">
                <a:solidFill>
                  <a:srgbClr val="181B21"/>
                </a:solidFill>
                <a:latin typeface="Poppins" panose="00000500000000000000" pitchFamily="2" charset="-94"/>
              </a:rPr>
              <a:t>• Saniyede milyarlarca kez Açık (1) / Kapalı (0) olur.</a:t>
            </a:r>
          </a:p>
        </p:txBody>
      </p:sp>
      <p:sp>
        <p:nvSpPr>
          <p:cNvPr id="28" name="Rectangle: Rounded Corners 27">
            <a:extLst>
              <a:ext uri="{FF2B5EF4-FFF2-40B4-BE49-F238E27FC236}">
                <a16:creationId xmlns:a16="http://schemas.microsoft.com/office/drawing/2014/main" id="{358A8549-CB23-9AFB-0A5D-3E2DB3206440}"/>
              </a:ext>
            </a:extLst>
          </p:cNvPr>
          <p:cNvSpPr/>
          <p:nvPr/>
        </p:nvSpPr>
        <p:spPr>
          <a:xfrm>
            <a:off x="6540500" y="5918200"/>
            <a:ext cx="5207000" cy="2311400"/>
          </a:xfrm>
          <a:prstGeom prst="roundRect">
            <a:avLst>
              <a:gd name="adj" fmla="val 7000"/>
            </a:avLst>
          </a:prstGeom>
          <a:solidFill>
            <a:srgbClr val="ECFDF5"/>
          </a:solidFill>
          <a:ln w="254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AEE9DA1-9223-176C-2873-A2B816915279}"/>
              </a:ext>
            </a:extLst>
          </p:cNvPr>
          <p:cNvSpPr txBox="1"/>
          <p:nvPr/>
        </p:nvSpPr>
        <p:spPr>
          <a:xfrm>
            <a:off x="6794500" y="6070600"/>
            <a:ext cx="4699000" cy="379591"/>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 Binary (8 - 4 - 2 - 1)</a:t>
            </a:r>
          </a:p>
        </p:txBody>
      </p:sp>
      <p:sp>
        <p:nvSpPr>
          <p:cNvPr id="30" name="TextBox 29">
            <a:extLst>
              <a:ext uri="{FF2B5EF4-FFF2-40B4-BE49-F238E27FC236}">
                <a16:creationId xmlns:a16="http://schemas.microsoft.com/office/drawing/2014/main" id="{48E15910-85BB-2432-D209-5FBDC40D278F}"/>
              </a:ext>
            </a:extLst>
          </p:cNvPr>
          <p:cNvSpPr txBox="1"/>
          <p:nvPr/>
        </p:nvSpPr>
        <p:spPr>
          <a:xfrm>
            <a:off x="6794500" y="65532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Her basamak 2'nin katıdır.</a:t>
            </a:r>
          </a:p>
          <a:p>
            <a:r>
              <a:rPr lang="en-US" sz="1500">
                <a:solidFill>
                  <a:srgbClr val="181B21"/>
                </a:solidFill>
                <a:latin typeface="Poppins" panose="00000500000000000000" pitchFamily="2" charset="-94"/>
              </a:rPr>
              <a:t>• Örnek: 1010 = 8 + 0 + 2 + 0 = 10</a:t>
            </a:r>
          </a:p>
          <a:p>
            <a:r>
              <a:rPr lang="en-US" sz="1500">
                <a:solidFill>
                  <a:srgbClr val="181B21"/>
                </a:solidFill>
                <a:latin typeface="Poppins" panose="00000500000000000000" pitchFamily="2" charset="-94"/>
              </a:rPr>
              <a:t>• Örnek: 1101 = 8 + 4 + 0 + 1 = 13</a:t>
            </a:r>
          </a:p>
        </p:txBody>
      </p:sp>
      <p:sp>
        <p:nvSpPr>
          <p:cNvPr id="31" name="Rectangle: Rounded Corners 30">
            <a:extLst>
              <a:ext uri="{FF2B5EF4-FFF2-40B4-BE49-F238E27FC236}">
                <a16:creationId xmlns:a16="http://schemas.microsoft.com/office/drawing/2014/main" id="{359AA1A8-530B-D897-255B-A5384050F742}"/>
              </a:ext>
            </a:extLst>
          </p:cNvPr>
          <p:cNvSpPr/>
          <p:nvPr/>
        </p:nvSpPr>
        <p:spPr>
          <a:xfrm>
            <a:off x="12128500" y="5918200"/>
            <a:ext cx="5207000" cy="2311400"/>
          </a:xfrm>
          <a:prstGeom prst="roundRect">
            <a:avLst>
              <a:gd name="adj" fmla="val 7000"/>
            </a:avLst>
          </a:prstGeom>
          <a:solidFill>
            <a:srgbClr val="F3E8FF"/>
          </a:solidFill>
          <a:ln w="25400">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12930BA-210D-D791-173E-6DA99CCBA0C2}"/>
              </a:ext>
            </a:extLst>
          </p:cNvPr>
          <p:cNvSpPr txBox="1"/>
          <p:nvPr/>
        </p:nvSpPr>
        <p:spPr>
          <a:xfrm>
            <a:off x="12382500" y="6070600"/>
            <a:ext cx="4699000" cy="379591"/>
          </a:xfrm>
          <a:prstGeom prst="rect">
            <a:avLst/>
          </a:prstGeom>
          <a:noFill/>
        </p:spPr>
        <p:txBody>
          <a:bodyPr vert="horz" wrap="square" lIns="76200" tIns="50800" rIns="76200" bIns="50800" rtlCol="0">
            <a:spAutoFit/>
          </a:bodyPr>
          <a:lstStyle/>
          <a:p>
            <a:r>
              <a:rPr lang="en-US" b="1">
                <a:solidFill>
                  <a:srgbClr val="7C3AED"/>
                </a:solidFill>
                <a:latin typeface="Poppins Semi-Bold" panose="020B0604020202020204" charset="-94"/>
              </a:rPr>
              <a:t>🔤 Harfler Nasıl 0-1 Olur?</a:t>
            </a:r>
          </a:p>
        </p:txBody>
      </p:sp>
      <p:sp>
        <p:nvSpPr>
          <p:cNvPr id="33" name="TextBox 32">
            <a:extLst>
              <a:ext uri="{FF2B5EF4-FFF2-40B4-BE49-F238E27FC236}">
                <a16:creationId xmlns:a16="http://schemas.microsoft.com/office/drawing/2014/main" id="{2E43A758-04A9-C08A-0DDB-162131CEF6AB}"/>
              </a:ext>
            </a:extLst>
          </p:cNvPr>
          <p:cNvSpPr txBox="1"/>
          <p:nvPr/>
        </p:nvSpPr>
        <p:spPr>
          <a:xfrm>
            <a:off x="12382500" y="65532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8 adet Bit = 1 Byte (0..255 arası sayı)</a:t>
            </a:r>
          </a:p>
          <a:p>
            <a:r>
              <a:rPr lang="en-US" sz="1500">
                <a:solidFill>
                  <a:srgbClr val="181B21"/>
                </a:solidFill>
                <a:latin typeface="Poppins" panose="00000500000000000000" pitchFamily="2" charset="-94"/>
              </a:rPr>
              <a:t>• 'A' Harfi = 65 = 01000001</a:t>
            </a:r>
          </a:p>
          <a:p>
            <a:r>
              <a:rPr lang="en-US" sz="1500">
                <a:solidFill>
                  <a:srgbClr val="181B21"/>
                </a:solidFill>
                <a:latin typeface="Poppins" panose="00000500000000000000" pitchFamily="2" charset="-94"/>
              </a:rPr>
              <a:t>• Her piksel ve ses aslında 0-1 dizisidir!</a:t>
            </a:r>
          </a:p>
        </p:txBody>
      </p:sp>
      <p:sp>
        <p:nvSpPr>
          <p:cNvPr id="34" name="Rectangle: Rounded Corners 33">
            <a:extLst>
              <a:ext uri="{FF2B5EF4-FFF2-40B4-BE49-F238E27FC236}">
                <a16:creationId xmlns:a16="http://schemas.microsoft.com/office/drawing/2014/main" id="{ED098BD6-779C-C5BD-CF16-96D0ADEAF15A}"/>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ABB4C362-E6FA-3A09-17A7-2A8AB121F3CE}"/>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#5</a:t>
            </a:r>
          </a:p>
        </p:txBody>
      </p:sp>
      <p:sp>
        <p:nvSpPr>
          <p:cNvPr id="36" name="TextBox 35">
            <a:extLst>
              <a:ext uri="{FF2B5EF4-FFF2-40B4-BE49-F238E27FC236}">
                <a16:creationId xmlns:a16="http://schemas.microsoft.com/office/drawing/2014/main" id="{37E45B9E-F474-463B-EE7E-47D69ADED2FD}"/>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Neden 10'luk bilgisayar yapmıyoruz? 4 el feneriyle kaça kadar sayabilirsiniz?</a:t>
            </a:r>
          </a:p>
        </p:txBody>
      </p:sp>
    </p:spTree>
    <p:extLst>
      <p:ext uri="{BB962C8B-B14F-4D97-AF65-F5344CB8AC3E}">
        <p14:creationId xmlns:p14="http://schemas.microsoft.com/office/powerpoint/2010/main" val="483091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7</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E60019C6-46FA-1CF8-F482-DB78D758F238}"/>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150" b="1">
                <a:solidFill>
                  <a:srgbClr val="0E3DC6"/>
                </a:solidFill>
                <a:latin typeface="IBM Plex Sans" panose="020B0503050203000203" pitchFamily="34" charset="0"/>
              </a:rPr>
              <a:t>4. HALKA  •  ELEKTRİKLE KARAR VERMEK</a:t>
            </a:r>
            <a:endParaRPr lang="en-US" sz="1150" b="1">
              <a:solidFill>
                <a:srgbClr val="0E3DC6"/>
              </a:solidFill>
              <a:latin typeface="IBM Plex Sans" panose="020B0503050203000203" pitchFamily="34" charset="0"/>
            </a:endParaRPr>
          </a:p>
        </p:txBody>
      </p:sp>
      <p:sp>
        <p:nvSpPr>
          <p:cNvPr id="15" name="TextBox 14">
            <a:extLst>
              <a:ext uri="{FF2B5EF4-FFF2-40B4-BE49-F238E27FC236}">
                <a16:creationId xmlns:a16="http://schemas.microsoft.com/office/drawing/2014/main" id="{EE3B6E29-9223-D08D-D6FC-C901D5455454}"/>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Mantık Kapıları: VE (AND), VEYA (OR), DEĞİL (NOT)</a:t>
            </a:r>
          </a:p>
        </p:txBody>
      </p:sp>
      <p:sp>
        <p:nvSpPr>
          <p:cNvPr id="21" name="TextBox 20">
            <a:extLst>
              <a:ext uri="{FF2B5EF4-FFF2-40B4-BE49-F238E27FC236}">
                <a16:creationId xmlns:a16="http://schemas.microsoft.com/office/drawing/2014/main" id="{9DA91CD0-5031-016E-876E-1D046E4D814C}"/>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Transistörler Birleşerek Nasıl Mantıksal Karar Alır?</a:t>
            </a:r>
          </a:p>
        </p:txBody>
      </p:sp>
      <p:sp>
        <p:nvSpPr>
          <p:cNvPr id="22" name="Rectangle: Rounded Corners 21">
            <a:extLst>
              <a:ext uri="{FF2B5EF4-FFF2-40B4-BE49-F238E27FC236}">
                <a16:creationId xmlns:a16="http://schemas.microsoft.com/office/drawing/2014/main" id="{58936302-85A0-4526-024E-7D909824210D}"/>
              </a:ext>
            </a:extLst>
          </p:cNvPr>
          <p:cNvSpPr/>
          <p:nvPr/>
        </p:nvSpPr>
        <p:spPr>
          <a:xfrm>
            <a:off x="952500" y="2540000"/>
            <a:ext cx="16383000" cy="43180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58D6E261-E915-961C-6ACB-3BAD1574C9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09524" y="2616200"/>
            <a:ext cx="15868952" cy="4165600"/>
          </a:xfrm>
          <a:prstGeom prst="rect">
            <a:avLst/>
          </a:prstGeom>
        </p:spPr>
      </p:pic>
      <p:sp>
        <p:nvSpPr>
          <p:cNvPr id="25" name="Rectangle: Rounded Corners 24">
            <a:extLst>
              <a:ext uri="{FF2B5EF4-FFF2-40B4-BE49-F238E27FC236}">
                <a16:creationId xmlns:a16="http://schemas.microsoft.com/office/drawing/2014/main" id="{CCC145EE-7BD3-BD84-3AC4-EB6E1733BA56}"/>
              </a:ext>
            </a:extLst>
          </p:cNvPr>
          <p:cNvSpPr/>
          <p:nvPr/>
        </p:nvSpPr>
        <p:spPr>
          <a:xfrm>
            <a:off x="952500" y="7035800"/>
            <a:ext cx="5207000" cy="1219200"/>
          </a:xfrm>
          <a:prstGeom prst="roundRect">
            <a:avLst>
              <a:gd name="adj" fmla="val 8000"/>
            </a:avLst>
          </a:prstGeom>
          <a:solidFill>
            <a:srgbClr val="F4F7FE"/>
          </a:solidFill>
          <a:ln w="2286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7B1056C-1677-D2D0-FB60-CE9B4007A337}"/>
              </a:ext>
            </a:extLst>
          </p:cNvPr>
          <p:cNvSpPr txBox="1"/>
          <p:nvPr/>
        </p:nvSpPr>
        <p:spPr>
          <a:xfrm>
            <a:off x="1143000" y="7137400"/>
            <a:ext cx="4826000" cy="356508"/>
          </a:xfrm>
          <a:prstGeom prst="rect">
            <a:avLst/>
          </a:prstGeom>
          <a:noFill/>
        </p:spPr>
        <p:txBody>
          <a:bodyPr vert="horz" wrap="square" lIns="76200" tIns="50800" rIns="76200" bIns="50800" rtlCol="0">
            <a:spAutoFit/>
          </a:bodyPr>
          <a:lstStyle/>
          <a:p>
            <a:r>
              <a:rPr lang="en-US" sz="1650" b="1">
                <a:solidFill>
                  <a:srgbClr val="0E3DC6"/>
                </a:solidFill>
                <a:latin typeface="Poppins Semi-Bold" panose="020B0604020202020204" charset="-94"/>
              </a:rPr>
              <a:t>🚪 VE (AND) — Güvenlik</a:t>
            </a:r>
          </a:p>
        </p:txBody>
      </p:sp>
      <p:sp>
        <p:nvSpPr>
          <p:cNvPr id="27" name="TextBox 26">
            <a:extLst>
              <a:ext uri="{FF2B5EF4-FFF2-40B4-BE49-F238E27FC236}">
                <a16:creationId xmlns:a16="http://schemas.microsoft.com/office/drawing/2014/main" id="{59AA401B-5DB3-5022-05EF-5C1807FC4A54}"/>
              </a:ext>
            </a:extLst>
          </p:cNvPr>
          <p:cNvSpPr txBox="1"/>
          <p:nvPr/>
        </p:nvSpPr>
        <p:spPr>
          <a:xfrm>
            <a:off x="1143000" y="7518400"/>
            <a:ext cx="4826000" cy="533479"/>
          </a:xfrm>
          <a:prstGeom prst="rect">
            <a:avLst/>
          </a:prstGeom>
          <a:noFill/>
        </p:spPr>
        <p:txBody>
          <a:bodyPr vert="horz" wrap="square" lIns="76200" tIns="50800" rIns="76200" bIns="50800" rtlCol="0">
            <a:spAutoFit/>
          </a:bodyPr>
          <a:lstStyle/>
          <a:p>
            <a:r>
              <a:rPr lang="en-US" sz="1400">
                <a:solidFill>
                  <a:srgbClr val="181B21"/>
                </a:solidFill>
                <a:latin typeface="Poppins" panose="00000500000000000000" pitchFamily="2" charset="-94"/>
              </a:rPr>
              <a:t>Çamaşır makinesi: Kapak Kapalı (1) VE Başlat (1) ise Çalışır (1).</a:t>
            </a:r>
          </a:p>
        </p:txBody>
      </p:sp>
      <p:sp>
        <p:nvSpPr>
          <p:cNvPr id="28" name="Rectangle: Rounded Corners 27">
            <a:extLst>
              <a:ext uri="{FF2B5EF4-FFF2-40B4-BE49-F238E27FC236}">
                <a16:creationId xmlns:a16="http://schemas.microsoft.com/office/drawing/2014/main" id="{4DC8E22F-A27F-DAA6-3786-04ECC0A499EE}"/>
              </a:ext>
            </a:extLst>
          </p:cNvPr>
          <p:cNvSpPr/>
          <p:nvPr/>
        </p:nvSpPr>
        <p:spPr>
          <a:xfrm>
            <a:off x="6540500" y="7035800"/>
            <a:ext cx="5207000" cy="1219200"/>
          </a:xfrm>
          <a:prstGeom prst="roundRect">
            <a:avLst>
              <a:gd name="adj" fmla="val 8000"/>
            </a:avLst>
          </a:prstGeom>
          <a:solidFill>
            <a:srgbClr val="ECFDF5"/>
          </a:solidFill>
          <a:ln w="2286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61F52BC-CFFB-7FB7-1706-176C26A953A2}"/>
              </a:ext>
            </a:extLst>
          </p:cNvPr>
          <p:cNvSpPr txBox="1"/>
          <p:nvPr/>
        </p:nvSpPr>
        <p:spPr>
          <a:xfrm>
            <a:off x="6731000" y="7137400"/>
            <a:ext cx="4826000" cy="356508"/>
          </a:xfrm>
          <a:prstGeom prst="rect">
            <a:avLst/>
          </a:prstGeom>
          <a:noFill/>
        </p:spPr>
        <p:txBody>
          <a:bodyPr vert="horz" wrap="square" lIns="76200" tIns="50800" rIns="76200" bIns="50800" rtlCol="0">
            <a:spAutoFit/>
          </a:bodyPr>
          <a:lstStyle/>
          <a:p>
            <a:r>
              <a:rPr lang="en-US" sz="1650" b="1">
                <a:solidFill>
                  <a:srgbClr val="059669"/>
                </a:solidFill>
                <a:latin typeface="Poppins Semi-Bold" panose="020B0604020202020204" charset="-94"/>
              </a:rPr>
              <a:t>🔔 VEYA (OR) — Uyarı / Zil</a:t>
            </a:r>
          </a:p>
        </p:txBody>
      </p:sp>
      <p:sp>
        <p:nvSpPr>
          <p:cNvPr id="30" name="TextBox 29">
            <a:extLst>
              <a:ext uri="{FF2B5EF4-FFF2-40B4-BE49-F238E27FC236}">
                <a16:creationId xmlns:a16="http://schemas.microsoft.com/office/drawing/2014/main" id="{BF109615-6ECB-ED6D-3E9A-ABEB034ADBD6}"/>
              </a:ext>
            </a:extLst>
          </p:cNvPr>
          <p:cNvSpPr txBox="1"/>
          <p:nvPr/>
        </p:nvSpPr>
        <p:spPr>
          <a:xfrm>
            <a:off x="6731000" y="7518400"/>
            <a:ext cx="4826000" cy="533479"/>
          </a:xfrm>
          <a:prstGeom prst="rect">
            <a:avLst/>
          </a:prstGeom>
          <a:noFill/>
        </p:spPr>
        <p:txBody>
          <a:bodyPr vert="horz" wrap="square" lIns="76200" tIns="50800" rIns="76200" bIns="50800" rtlCol="0">
            <a:spAutoFit/>
          </a:bodyPr>
          <a:lstStyle/>
          <a:p>
            <a:r>
              <a:rPr lang="en-US" sz="1400">
                <a:solidFill>
                  <a:srgbClr val="181B21"/>
                </a:solidFill>
                <a:latin typeface="Poppins" panose="00000500000000000000" pitchFamily="2" charset="-94"/>
              </a:rPr>
              <a:t>Ev zili: Ön Kapı (1) VEYA Arka Kapı (1) basılırsa Zil Çalar (1).</a:t>
            </a:r>
          </a:p>
        </p:txBody>
      </p:sp>
      <p:sp>
        <p:nvSpPr>
          <p:cNvPr id="31" name="Rectangle: Rounded Corners 30">
            <a:extLst>
              <a:ext uri="{FF2B5EF4-FFF2-40B4-BE49-F238E27FC236}">
                <a16:creationId xmlns:a16="http://schemas.microsoft.com/office/drawing/2014/main" id="{403C5F82-406C-8E3F-2FFD-37B4C694EBED}"/>
              </a:ext>
            </a:extLst>
          </p:cNvPr>
          <p:cNvSpPr/>
          <p:nvPr/>
        </p:nvSpPr>
        <p:spPr>
          <a:xfrm>
            <a:off x="12128500" y="7035800"/>
            <a:ext cx="5207000" cy="1219200"/>
          </a:xfrm>
          <a:prstGeom prst="roundRect">
            <a:avLst>
              <a:gd name="adj" fmla="val 8000"/>
            </a:avLst>
          </a:prstGeom>
          <a:solidFill>
            <a:srgbClr val="FFF8E7"/>
          </a:solidFill>
          <a:ln w="2286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CDF5CF3-E0FE-FCF1-0EDD-199528D2328F}"/>
              </a:ext>
            </a:extLst>
          </p:cNvPr>
          <p:cNvSpPr txBox="1"/>
          <p:nvPr/>
        </p:nvSpPr>
        <p:spPr>
          <a:xfrm>
            <a:off x="12319000" y="7137400"/>
            <a:ext cx="4826000" cy="356508"/>
          </a:xfrm>
          <a:prstGeom prst="rect">
            <a:avLst/>
          </a:prstGeom>
          <a:noFill/>
        </p:spPr>
        <p:txBody>
          <a:bodyPr vert="horz" wrap="square" lIns="76200" tIns="50800" rIns="76200" bIns="50800" rtlCol="0">
            <a:spAutoFit/>
          </a:bodyPr>
          <a:lstStyle/>
          <a:p>
            <a:r>
              <a:rPr lang="en-US" sz="1650" b="1">
                <a:solidFill>
                  <a:srgbClr val="D97706"/>
                </a:solidFill>
                <a:latin typeface="Poppins Semi-Bold" panose="020B0604020202020204" charset="-94"/>
              </a:rPr>
              <a:t>🌙 DEĞİL (NOT) — Gece Lambası</a:t>
            </a:r>
          </a:p>
        </p:txBody>
      </p:sp>
      <p:sp>
        <p:nvSpPr>
          <p:cNvPr id="33" name="TextBox 32">
            <a:extLst>
              <a:ext uri="{FF2B5EF4-FFF2-40B4-BE49-F238E27FC236}">
                <a16:creationId xmlns:a16="http://schemas.microsoft.com/office/drawing/2014/main" id="{EEF7125A-540C-A49A-ACB6-4129FA717550}"/>
              </a:ext>
            </a:extLst>
          </p:cNvPr>
          <p:cNvSpPr txBox="1"/>
          <p:nvPr/>
        </p:nvSpPr>
        <p:spPr>
          <a:xfrm>
            <a:off x="12319000" y="7518400"/>
            <a:ext cx="4826000" cy="318036"/>
          </a:xfrm>
          <a:prstGeom prst="rect">
            <a:avLst/>
          </a:prstGeom>
          <a:noFill/>
        </p:spPr>
        <p:txBody>
          <a:bodyPr vert="horz" wrap="square" lIns="76200" tIns="50800" rIns="76200" bIns="50800" rtlCol="0">
            <a:spAutoFit/>
          </a:bodyPr>
          <a:lstStyle/>
          <a:p>
            <a:r>
              <a:rPr lang="en-US" sz="1400">
                <a:solidFill>
                  <a:srgbClr val="181B21"/>
                </a:solidFill>
                <a:latin typeface="Poppins" panose="00000500000000000000" pitchFamily="2" charset="-94"/>
              </a:rPr>
              <a:t>Sokak lambası: Güneş Yoksa (0) ➔ Lamba Yanar (1)!</a:t>
            </a:r>
          </a:p>
        </p:txBody>
      </p:sp>
      <p:sp>
        <p:nvSpPr>
          <p:cNvPr id="34" name="Rectangle: Rounded Corners 33">
            <a:extLst>
              <a:ext uri="{FF2B5EF4-FFF2-40B4-BE49-F238E27FC236}">
                <a16:creationId xmlns:a16="http://schemas.microsoft.com/office/drawing/2014/main" id="{EC16817F-8972-D1D2-EAB5-DAE2D42C97BF}"/>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EACB7C27-AE77-46EE-7BAC-954AC832536C}"/>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#6</a:t>
            </a:r>
          </a:p>
        </p:txBody>
      </p:sp>
      <p:sp>
        <p:nvSpPr>
          <p:cNvPr id="36" name="TextBox 35">
            <a:extLst>
              <a:ext uri="{FF2B5EF4-FFF2-40B4-BE49-F238E27FC236}">
                <a16:creationId xmlns:a16="http://schemas.microsoft.com/office/drawing/2014/main" id="{92D13AF0-6C58-A767-1720-F0D5A4907CB6}"/>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Gece VE Hareket Varsa yanan akıllı bahçe lambası hangi kapılarla kurulur?</a:t>
            </a:r>
          </a:p>
        </p:txBody>
      </p:sp>
    </p:spTree>
    <p:extLst>
      <p:ext uri="{BB962C8B-B14F-4D97-AF65-F5344CB8AC3E}">
        <p14:creationId xmlns:p14="http://schemas.microsoft.com/office/powerpoint/2010/main" val="565075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8</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CC1A8990-02C8-9473-7A89-2EF1A23CD8DB}"/>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4. HALKA  •  MANTIKTAN EKRANA</a:t>
            </a:r>
          </a:p>
        </p:txBody>
      </p:sp>
      <p:sp>
        <p:nvSpPr>
          <p:cNvPr id="15" name="TextBox 14">
            <a:extLst>
              <a:ext uri="{FF2B5EF4-FFF2-40B4-BE49-F238E27FC236}">
                <a16:creationId xmlns:a16="http://schemas.microsoft.com/office/drawing/2014/main" id="{DA0EE5C9-AC4F-D6D1-698D-1C811A55BB58}"/>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0 ve 1'ler Ekranda Sayıya Nasıl Dönüşür?</a:t>
            </a:r>
          </a:p>
        </p:txBody>
      </p:sp>
      <p:sp>
        <p:nvSpPr>
          <p:cNvPr id="21" name="TextBox 20">
            <a:extLst>
              <a:ext uri="{FF2B5EF4-FFF2-40B4-BE49-F238E27FC236}">
                <a16:creationId xmlns:a16="http://schemas.microsoft.com/office/drawing/2014/main" id="{54A4C3E1-CC0A-C54E-641C-2AD64ADE46B4}"/>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7-Segment Display (a..g) ve Karnaugh Devre Sadeleştirme</a:t>
            </a:r>
          </a:p>
        </p:txBody>
      </p:sp>
      <p:sp>
        <p:nvSpPr>
          <p:cNvPr id="22" name="Rectangle: Rounded Corners 21">
            <a:extLst>
              <a:ext uri="{FF2B5EF4-FFF2-40B4-BE49-F238E27FC236}">
                <a16:creationId xmlns:a16="http://schemas.microsoft.com/office/drawing/2014/main" id="{904241B4-C5A3-7DF7-286B-1B04A62882BD}"/>
              </a:ext>
            </a:extLst>
          </p:cNvPr>
          <p:cNvSpPr/>
          <p:nvPr/>
        </p:nvSpPr>
        <p:spPr>
          <a:xfrm>
            <a:off x="952500" y="2590800"/>
            <a:ext cx="9525000" cy="56134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C4BEB5FE-24EA-EBAB-0D98-5CEC8C805D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9500" y="2784764"/>
            <a:ext cx="9271000" cy="5225473"/>
          </a:xfrm>
          <a:prstGeom prst="rect">
            <a:avLst/>
          </a:prstGeom>
        </p:spPr>
      </p:pic>
      <p:sp>
        <p:nvSpPr>
          <p:cNvPr id="25" name="Rectangle: Rounded Corners 24">
            <a:extLst>
              <a:ext uri="{FF2B5EF4-FFF2-40B4-BE49-F238E27FC236}">
                <a16:creationId xmlns:a16="http://schemas.microsoft.com/office/drawing/2014/main" id="{1C232498-9E22-11DB-346D-83E3012DE570}"/>
              </a:ext>
            </a:extLst>
          </p:cNvPr>
          <p:cNvSpPr/>
          <p:nvPr/>
        </p:nvSpPr>
        <p:spPr>
          <a:xfrm>
            <a:off x="10731500" y="2590800"/>
            <a:ext cx="6604000" cy="2692400"/>
          </a:xfrm>
          <a:prstGeom prst="roundRect">
            <a:avLst>
              <a:gd name="adj" fmla="val 7000"/>
            </a:avLst>
          </a:prstGeom>
          <a:solidFill>
            <a:srgbClr val="F4F7FE"/>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80F82F6-0578-7DB8-103C-A5314B24AA8D}"/>
              </a:ext>
            </a:extLst>
          </p:cNvPr>
          <p:cNvSpPr txBox="1"/>
          <p:nvPr/>
        </p:nvSpPr>
        <p:spPr>
          <a:xfrm>
            <a:off x="10985500" y="2743200"/>
            <a:ext cx="6096000" cy="394980"/>
          </a:xfrm>
          <a:prstGeom prst="rect">
            <a:avLst/>
          </a:prstGeom>
          <a:noFill/>
        </p:spPr>
        <p:txBody>
          <a:bodyPr vert="horz" wrap="square" lIns="76200" tIns="50800" rIns="76200" bIns="50800" rtlCol="0">
            <a:spAutoFit/>
          </a:bodyPr>
          <a:lstStyle/>
          <a:p>
            <a:r>
              <a:rPr lang="en-US" sz="1900" b="1">
                <a:solidFill>
                  <a:srgbClr val="0E3DC6"/>
                </a:solidFill>
                <a:latin typeface="Poppins Semi-Bold" panose="020B0604020202020204" charset="-94"/>
              </a:rPr>
              <a:t>🔢 7-Segment Ekran Nedir?</a:t>
            </a:r>
          </a:p>
        </p:txBody>
      </p:sp>
      <p:sp>
        <p:nvSpPr>
          <p:cNvPr id="27" name="TextBox 26">
            <a:extLst>
              <a:ext uri="{FF2B5EF4-FFF2-40B4-BE49-F238E27FC236}">
                <a16:creationId xmlns:a16="http://schemas.microsoft.com/office/drawing/2014/main" id="{A3C510E0-5928-56DA-53D3-3A21AE75DEAD}"/>
              </a:ext>
            </a:extLst>
          </p:cNvPr>
          <p:cNvSpPr txBox="1"/>
          <p:nvPr/>
        </p:nvSpPr>
        <p:spPr>
          <a:xfrm>
            <a:off x="10985500" y="3251200"/>
            <a:ext cx="6096000" cy="579646"/>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8 şeklinde dizilmiş 7 bağımsız LED (a..g).</a:t>
            </a:r>
          </a:p>
          <a:p>
            <a:r>
              <a:rPr lang="en-US" sz="1550">
                <a:solidFill>
                  <a:srgbClr val="181B21"/>
                </a:solidFill>
                <a:latin typeface="Poppins" panose="00000500000000000000" pitchFamily="2" charset="-94"/>
              </a:rPr>
              <a:t>• 4-bit Binary sayı ➔ Mantık Kapıları ➔ İlgili LED'leri yakar!</a:t>
            </a:r>
          </a:p>
        </p:txBody>
      </p:sp>
      <p:sp>
        <p:nvSpPr>
          <p:cNvPr id="28" name="Rectangle: Rounded Corners 27">
            <a:extLst>
              <a:ext uri="{FF2B5EF4-FFF2-40B4-BE49-F238E27FC236}">
                <a16:creationId xmlns:a16="http://schemas.microsoft.com/office/drawing/2014/main" id="{75F37902-E8E3-988B-F700-D6781911FE63}"/>
              </a:ext>
            </a:extLst>
          </p:cNvPr>
          <p:cNvSpPr/>
          <p:nvPr/>
        </p:nvSpPr>
        <p:spPr>
          <a:xfrm>
            <a:off x="10731500" y="5511800"/>
            <a:ext cx="6604000" cy="2692400"/>
          </a:xfrm>
          <a:prstGeom prst="roundRect">
            <a:avLst>
              <a:gd name="adj" fmla="val 7000"/>
            </a:avLst>
          </a:prstGeom>
          <a:solidFill>
            <a:srgbClr val="ECFDF5"/>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E939E6F-E4E6-F429-E8CA-4B8D198A0BB0}"/>
              </a:ext>
            </a:extLst>
          </p:cNvPr>
          <p:cNvSpPr txBox="1"/>
          <p:nvPr/>
        </p:nvSpPr>
        <p:spPr>
          <a:xfrm>
            <a:off x="10985500" y="5664200"/>
            <a:ext cx="6096000" cy="394980"/>
          </a:xfrm>
          <a:prstGeom prst="rect">
            <a:avLst/>
          </a:prstGeom>
          <a:noFill/>
        </p:spPr>
        <p:txBody>
          <a:bodyPr vert="horz" wrap="square" lIns="76200" tIns="50800" rIns="76200" bIns="50800" rtlCol="0">
            <a:spAutoFit/>
          </a:bodyPr>
          <a:lstStyle/>
          <a:p>
            <a:r>
              <a:rPr lang="en-US" sz="1900" b="1">
                <a:solidFill>
                  <a:srgbClr val="059669"/>
                </a:solidFill>
                <a:latin typeface="Poppins Semi-Bold" panose="020B0604020202020204" charset="-94"/>
              </a:rPr>
              <a:t>🧩 Karnaugh Haritası (Sadeleştirme)</a:t>
            </a:r>
          </a:p>
        </p:txBody>
      </p:sp>
      <p:sp>
        <p:nvSpPr>
          <p:cNvPr id="30" name="TextBox 29">
            <a:extLst>
              <a:ext uri="{FF2B5EF4-FFF2-40B4-BE49-F238E27FC236}">
                <a16:creationId xmlns:a16="http://schemas.microsoft.com/office/drawing/2014/main" id="{36DDDA96-9AB2-391B-E3FF-FDE4E05B1F13}"/>
              </a:ext>
            </a:extLst>
          </p:cNvPr>
          <p:cNvSpPr txBox="1"/>
          <p:nvPr/>
        </p:nvSpPr>
        <p:spPr>
          <a:xfrm>
            <a:off x="10985500" y="6172200"/>
            <a:ext cx="6096000" cy="579646"/>
          </a:xfrm>
          <a:prstGeom prst="rect">
            <a:avLst/>
          </a:prstGeom>
          <a:noFill/>
        </p:spPr>
        <p:txBody>
          <a:bodyPr vert="horz" wrap="square" lIns="76200" tIns="50800" rIns="76200" bIns="50800" rtlCol="0">
            <a:spAutoFit/>
          </a:bodyPr>
          <a:lstStyle/>
          <a:p>
            <a:r>
              <a:rPr lang="en-US" sz="1550">
                <a:solidFill>
                  <a:srgbClr val="181B21"/>
                </a:solidFill>
                <a:latin typeface="Poppins" panose="00000500000000000000" pitchFamily="2" charset="-94"/>
              </a:rPr>
              <a:t>• Karmaşık kapı devrelerini en az kapıyla kurma yöntemi.</a:t>
            </a:r>
          </a:p>
          <a:p>
            <a:r>
              <a:rPr lang="en-US" sz="1550">
                <a:solidFill>
                  <a:srgbClr val="181B21"/>
                </a:solidFill>
                <a:latin typeface="Poppins" panose="00000500000000000000" pitchFamily="2" charset="-94"/>
              </a:rPr>
              <a:t>• Daha az kapı = Daha hızlı ve az ısınan çip!</a:t>
            </a:r>
          </a:p>
        </p:txBody>
      </p:sp>
      <p:sp>
        <p:nvSpPr>
          <p:cNvPr id="31" name="Rectangle: Rounded Corners 30">
            <a:extLst>
              <a:ext uri="{FF2B5EF4-FFF2-40B4-BE49-F238E27FC236}">
                <a16:creationId xmlns:a16="http://schemas.microsoft.com/office/drawing/2014/main" id="{C6B29018-1400-217C-75AC-6467E5A2141C}"/>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D0933A37-F726-2000-FE4B-1079C22F63E1}"/>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#7</a:t>
            </a:r>
          </a:p>
        </p:txBody>
      </p:sp>
      <p:sp>
        <p:nvSpPr>
          <p:cNvPr id="33" name="TextBox 32">
            <a:extLst>
              <a:ext uri="{FF2B5EF4-FFF2-40B4-BE49-F238E27FC236}">
                <a16:creationId xmlns:a16="http://schemas.microsoft.com/office/drawing/2014/main" id="{70EB7180-0107-E9BF-BB61-1E9815320230}"/>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'1', '8' ve '0' rakamlarını ekranda görmek için hangi harfli LED'ler yanmalıdır?</a:t>
            </a:r>
          </a:p>
        </p:txBody>
      </p:sp>
    </p:spTree>
    <p:extLst>
      <p:ext uri="{BB962C8B-B14F-4D97-AF65-F5344CB8AC3E}">
        <p14:creationId xmlns:p14="http://schemas.microsoft.com/office/powerpoint/2010/main" val="283040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9</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ED4C823B-2475-5A20-49C7-3A6A8C954ED7}"/>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5. HALKA  •  MİMARİ</a:t>
            </a:r>
          </a:p>
        </p:txBody>
      </p:sp>
      <p:sp>
        <p:nvSpPr>
          <p:cNvPr id="15" name="TextBox 14">
            <a:extLst>
              <a:ext uri="{FF2B5EF4-FFF2-40B4-BE49-F238E27FC236}">
                <a16:creationId xmlns:a16="http://schemas.microsoft.com/office/drawing/2014/main" id="{976F2F91-DFB1-6927-518E-A42BC3777350}"/>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Bilgisayar Nasıl İşler? (Girdi ➔ CPU ➔ Çıktı)</a:t>
            </a:r>
          </a:p>
        </p:txBody>
      </p:sp>
      <p:sp>
        <p:nvSpPr>
          <p:cNvPr id="21" name="TextBox 20">
            <a:extLst>
              <a:ext uri="{FF2B5EF4-FFF2-40B4-BE49-F238E27FC236}">
                <a16:creationId xmlns:a16="http://schemas.microsoft.com/office/drawing/2014/main" id="{DCE99B22-A8B9-57D8-C6F5-C36011AD0906}"/>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Mantık Kapılarından İşlemciye: Getir  •  Çöz  •  Yürüt</a:t>
            </a:r>
          </a:p>
        </p:txBody>
      </p:sp>
      <p:sp>
        <p:nvSpPr>
          <p:cNvPr id="22" name="Rectangle: Rounded Corners 21">
            <a:extLst>
              <a:ext uri="{FF2B5EF4-FFF2-40B4-BE49-F238E27FC236}">
                <a16:creationId xmlns:a16="http://schemas.microsoft.com/office/drawing/2014/main" id="{8894C74C-6221-7AD9-A55F-AB077532E969}"/>
              </a:ext>
            </a:extLst>
          </p:cNvPr>
          <p:cNvSpPr/>
          <p:nvPr/>
        </p:nvSpPr>
        <p:spPr>
          <a:xfrm>
            <a:off x="952500" y="2540000"/>
            <a:ext cx="16383000" cy="32385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23F0461E-FB45-C20A-7751-D9EB702138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82588" y="2616200"/>
            <a:ext cx="14522824" cy="3086100"/>
          </a:xfrm>
          <a:prstGeom prst="rect">
            <a:avLst/>
          </a:prstGeom>
        </p:spPr>
      </p:pic>
      <p:sp>
        <p:nvSpPr>
          <p:cNvPr id="25" name="Rectangle: Rounded Corners 24">
            <a:extLst>
              <a:ext uri="{FF2B5EF4-FFF2-40B4-BE49-F238E27FC236}">
                <a16:creationId xmlns:a16="http://schemas.microsoft.com/office/drawing/2014/main" id="{D5D91204-0049-6484-8C52-A2A771471BDD}"/>
              </a:ext>
            </a:extLst>
          </p:cNvPr>
          <p:cNvSpPr/>
          <p:nvPr/>
        </p:nvSpPr>
        <p:spPr>
          <a:xfrm>
            <a:off x="952500" y="5969000"/>
            <a:ext cx="5207000" cy="2286000"/>
          </a:xfrm>
          <a:prstGeom prst="roundRect">
            <a:avLst>
              <a:gd name="adj" fmla="val 7000"/>
            </a:avLst>
          </a:prstGeom>
          <a:solidFill>
            <a:srgbClr val="F4F7FE"/>
          </a:solidFill>
          <a:ln w="2540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E2B3BCA-F665-24FE-A44F-17308EB9A731}"/>
              </a:ext>
            </a:extLst>
          </p:cNvPr>
          <p:cNvSpPr txBox="1"/>
          <p:nvPr/>
        </p:nvSpPr>
        <p:spPr>
          <a:xfrm>
            <a:off x="1206500" y="6121400"/>
            <a:ext cx="4699000" cy="379591"/>
          </a:xfrm>
          <a:prstGeom prst="rect">
            <a:avLst/>
          </a:prstGeom>
          <a:noFill/>
        </p:spPr>
        <p:txBody>
          <a:bodyPr vert="horz" wrap="square" lIns="76200" tIns="50800" rIns="76200" bIns="50800" rtlCol="0">
            <a:spAutoFit/>
          </a:bodyPr>
          <a:lstStyle/>
          <a:p>
            <a:r>
              <a:rPr lang="en-US" b="1">
                <a:solidFill>
                  <a:srgbClr val="0E3DC6"/>
                </a:solidFill>
                <a:latin typeface="Poppins Semi-Bold" panose="020B0604020202020204" charset="-94"/>
              </a:rPr>
              <a:t>🧮 ALU (Aritmetik Mantık)</a:t>
            </a:r>
          </a:p>
        </p:txBody>
      </p:sp>
      <p:sp>
        <p:nvSpPr>
          <p:cNvPr id="27" name="TextBox 26">
            <a:extLst>
              <a:ext uri="{FF2B5EF4-FFF2-40B4-BE49-F238E27FC236}">
                <a16:creationId xmlns:a16="http://schemas.microsoft.com/office/drawing/2014/main" id="{C7451F2C-6B10-067C-406A-DD6546C181B7}"/>
              </a:ext>
            </a:extLst>
          </p:cNvPr>
          <p:cNvSpPr txBox="1"/>
          <p:nvPr/>
        </p:nvSpPr>
        <p:spPr>
          <a:xfrm>
            <a:off x="1206500" y="6604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İşlemcinin hesap makinesidir.</a:t>
            </a:r>
          </a:p>
          <a:p>
            <a:r>
              <a:rPr lang="en-US" sz="1500">
                <a:solidFill>
                  <a:srgbClr val="181B21"/>
                </a:solidFill>
                <a:latin typeface="Poppins" panose="00000500000000000000" pitchFamily="2" charset="-94"/>
              </a:rPr>
              <a:t>• Toplama, çıkarma ve büyüktür/küçüktür kararlarını mantık kapılarıyla yapar.</a:t>
            </a:r>
          </a:p>
        </p:txBody>
      </p:sp>
      <p:sp>
        <p:nvSpPr>
          <p:cNvPr id="28" name="Rectangle: Rounded Corners 27">
            <a:extLst>
              <a:ext uri="{FF2B5EF4-FFF2-40B4-BE49-F238E27FC236}">
                <a16:creationId xmlns:a16="http://schemas.microsoft.com/office/drawing/2014/main" id="{48D8F3BF-ECCE-0C91-BB7B-681ED2699270}"/>
              </a:ext>
            </a:extLst>
          </p:cNvPr>
          <p:cNvSpPr/>
          <p:nvPr/>
        </p:nvSpPr>
        <p:spPr>
          <a:xfrm>
            <a:off x="6540500" y="5969000"/>
            <a:ext cx="5207000" cy="2286000"/>
          </a:xfrm>
          <a:prstGeom prst="roundRect">
            <a:avLst>
              <a:gd name="adj" fmla="val 7000"/>
            </a:avLst>
          </a:prstGeom>
          <a:solidFill>
            <a:srgbClr val="ECFDF5"/>
          </a:solidFill>
          <a:ln w="254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4A170B6-860F-3129-28EB-72666EBB9251}"/>
              </a:ext>
            </a:extLst>
          </p:cNvPr>
          <p:cNvSpPr txBox="1"/>
          <p:nvPr/>
        </p:nvSpPr>
        <p:spPr>
          <a:xfrm>
            <a:off x="6794500" y="6121400"/>
            <a:ext cx="4699000" cy="379591"/>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 Kontrol Birimi &amp; Saat (GHz)</a:t>
            </a:r>
          </a:p>
        </p:txBody>
      </p:sp>
      <p:sp>
        <p:nvSpPr>
          <p:cNvPr id="30" name="TextBox 29">
            <a:extLst>
              <a:ext uri="{FF2B5EF4-FFF2-40B4-BE49-F238E27FC236}">
                <a16:creationId xmlns:a16="http://schemas.microsoft.com/office/drawing/2014/main" id="{3A0C7E7F-4D0A-AC84-9A1B-E042037A1FB6}"/>
              </a:ext>
            </a:extLst>
          </p:cNvPr>
          <p:cNvSpPr txBox="1"/>
          <p:nvPr/>
        </p:nvSpPr>
        <p:spPr>
          <a:xfrm>
            <a:off x="6794500" y="6604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Orkestra şefidir.</a:t>
            </a:r>
          </a:p>
          <a:p>
            <a:r>
              <a:rPr lang="en-US" sz="1500">
                <a:solidFill>
                  <a:srgbClr val="181B21"/>
                </a:solidFill>
                <a:latin typeface="Poppins" panose="00000500000000000000" pitchFamily="2" charset="-94"/>
              </a:rPr>
              <a:t>• 3 GHz = Saniyede 3 MİLYAR kez 'Getir ➔ Çöz ➔ Yürüt' adımı!</a:t>
            </a:r>
          </a:p>
        </p:txBody>
      </p:sp>
      <p:sp>
        <p:nvSpPr>
          <p:cNvPr id="31" name="Rectangle: Rounded Corners 30">
            <a:extLst>
              <a:ext uri="{FF2B5EF4-FFF2-40B4-BE49-F238E27FC236}">
                <a16:creationId xmlns:a16="http://schemas.microsoft.com/office/drawing/2014/main" id="{68E5C52B-2C8B-69A2-A229-818469F57EA4}"/>
              </a:ext>
            </a:extLst>
          </p:cNvPr>
          <p:cNvSpPr/>
          <p:nvPr/>
        </p:nvSpPr>
        <p:spPr>
          <a:xfrm>
            <a:off x="12128500" y="5969000"/>
            <a:ext cx="5207000" cy="2286000"/>
          </a:xfrm>
          <a:prstGeom prst="roundRect">
            <a:avLst>
              <a:gd name="adj" fmla="val 7000"/>
            </a:avLst>
          </a:prstGeom>
          <a:solidFill>
            <a:srgbClr val="FFF8E7"/>
          </a:solidFill>
          <a:ln w="2540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7B8B284-25A5-AD92-6055-E50B23660538}"/>
              </a:ext>
            </a:extLst>
          </p:cNvPr>
          <p:cNvSpPr txBox="1"/>
          <p:nvPr/>
        </p:nvSpPr>
        <p:spPr>
          <a:xfrm>
            <a:off x="12382500" y="6121400"/>
            <a:ext cx="4699000" cy="379591"/>
          </a:xfrm>
          <a:prstGeom prst="rect">
            <a:avLst/>
          </a:prstGeom>
          <a:noFill/>
        </p:spPr>
        <p:txBody>
          <a:bodyPr vert="horz" wrap="square" lIns="76200" tIns="50800" rIns="76200" bIns="50800" rtlCol="0">
            <a:spAutoFit/>
          </a:bodyPr>
          <a:lstStyle/>
          <a:p>
            <a:r>
              <a:rPr lang="en-US" b="1">
                <a:solidFill>
                  <a:srgbClr val="D97706"/>
                </a:solidFill>
                <a:latin typeface="Poppins Semi-Bold" panose="020B0604020202020204" charset="-94"/>
              </a:rPr>
              <a:t>⚡ RAM vs. Kalıcı Hafıza (SSD)</a:t>
            </a:r>
          </a:p>
        </p:txBody>
      </p:sp>
      <p:sp>
        <p:nvSpPr>
          <p:cNvPr id="33" name="TextBox 32">
            <a:extLst>
              <a:ext uri="{FF2B5EF4-FFF2-40B4-BE49-F238E27FC236}">
                <a16:creationId xmlns:a16="http://schemas.microsoft.com/office/drawing/2014/main" id="{89D7591A-195D-8984-8B83-7EE292C5F514}"/>
              </a:ext>
            </a:extLst>
          </p:cNvPr>
          <p:cNvSpPr txBox="1"/>
          <p:nvPr/>
        </p:nvSpPr>
        <p:spPr>
          <a:xfrm>
            <a:off x="12382500" y="6604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RAM: Çok hızlı çalışma masası (Elektrik kesilince silinir).</a:t>
            </a:r>
          </a:p>
          <a:p>
            <a:r>
              <a:rPr lang="en-US" sz="1500">
                <a:solidFill>
                  <a:srgbClr val="181B21"/>
                </a:solidFill>
                <a:latin typeface="Poppins" panose="00000500000000000000" pitchFamily="2" charset="-94"/>
              </a:rPr>
              <a:t>• SSD/Flash: Kitaplık (Kalıcıdır).</a:t>
            </a:r>
          </a:p>
        </p:txBody>
      </p:sp>
      <p:sp>
        <p:nvSpPr>
          <p:cNvPr id="34" name="Rectangle: Rounded Corners 33">
            <a:extLst>
              <a:ext uri="{FF2B5EF4-FFF2-40B4-BE49-F238E27FC236}">
                <a16:creationId xmlns:a16="http://schemas.microsoft.com/office/drawing/2014/main" id="{1DC937E0-5931-3194-6634-14B61A066B74}"/>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C231C9EC-12CB-297B-3CA7-3782D5382771}"/>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#8</a:t>
            </a:r>
          </a:p>
        </p:txBody>
      </p:sp>
      <p:sp>
        <p:nvSpPr>
          <p:cNvPr id="36" name="TextBox 35">
            <a:extLst>
              <a:ext uri="{FF2B5EF4-FFF2-40B4-BE49-F238E27FC236}">
                <a16:creationId xmlns:a16="http://schemas.microsoft.com/office/drawing/2014/main" id="{C901A8E1-2192-0684-5F0A-81C6A7F97EB5}"/>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Klavyede 'A' tuşuna bastığınız andan ekranda görünene kadar o 1 milisaniyede ne olur?</a:t>
            </a:r>
          </a:p>
        </p:txBody>
      </p:sp>
    </p:spTree>
    <p:extLst>
      <p:ext uri="{BB962C8B-B14F-4D97-AF65-F5344CB8AC3E}">
        <p14:creationId xmlns:p14="http://schemas.microsoft.com/office/powerpoint/2010/main" val="3073115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10</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B55445C8-F5E6-F5FC-6F40-5CA9BBC4EA59}"/>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5. HALKA  •  DONANIM AİLESİ</a:t>
            </a:r>
          </a:p>
        </p:txBody>
      </p:sp>
      <p:sp>
        <p:nvSpPr>
          <p:cNvPr id="15" name="TextBox 14">
            <a:extLst>
              <a:ext uri="{FF2B5EF4-FFF2-40B4-BE49-F238E27FC236}">
                <a16:creationId xmlns:a16="http://schemas.microsoft.com/office/drawing/2014/main" id="{3F339192-C90C-8450-3C8A-C74A9C3AA715}"/>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İşlemciden Kartlara: CPU, Arduino, ESP32 ve Deneyap Kart</a:t>
            </a:r>
          </a:p>
        </p:txBody>
      </p:sp>
      <p:sp>
        <p:nvSpPr>
          <p:cNvPr id="21" name="TextBox 20">
            <a:extLst>
              <a:ext uri="{FF2B5EF4-FFF2-40B4-BE49-F238E27FC236}">
                <a16:creationId xmlns:a16="http://schemas.microsoft.com/office/drawing/2014/main" id="{5CAB68C2-00F4-3398-CFD8-522268C6F15B}"/>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it-IT" sz="1450">
                <a:solidFill>
                  <a:srgbClr val="5F6978"/>
                </a:solidFill>
                <a:latin typeface="Poppins" panose="00000500000000000000" pitchFamily="2" charset="-94"/>
              </a:rPr>
              <a:t>Hangisi Nedir, Ne Değildir? Hangi Projede Hangisi Seçilir?</a:t>
            </a:r>
            <a:endParaRPr lang="en-US" sz="1450">
              <a:solidFill>
                <a:srgbClr val="5F6978"/>
              </a:solidFill>
              <a:latin typeface="Poppins" panose="00000500000000000000" pitchFamily="2" charset="-94"/>
            </a:endParaRPr>
          </a:p>
        </p:txBody>
      </p:sp>
      <p:sp>
        <p:nvSpPr>
          <p:cNvPr id="22" name="Rectangle: Rounded Corners 21">
            <a:extLst>
              <a:ext uri="{FF2B5EF4-FFF2-40B4-BE49-F238E27FC236}">
                <a16:creationId xmlns:a16="http://schemas.microsoft.com/office/drawing/2014/main" id="{6D6DC204-516F-FA24-2E8E-3B6DE80C1D63}"/>
              </a:ext>
            </a:extLst>
          </p:cNvPr>
          <p:cNvSpPr/>
          <p:nvPr/>
        </p:nvSpPr>
        <p:spPr>
          <a:xfrm>
            <a:off x="952500" y="2540000"/>
            <a:ext cx="16383000" cy="37465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36D3435D-722F-5D60-5E92-4EF8F2FFF5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77474" y="2616200"/>
            <a:ext cx="15133053" cy="3594100"/>
          </a:xfrm>
          <a:prstGeom prst="rect">
            <a:avLst/>
          </a:prstGeom>
        </p:spPr>
      </p:pic>
      <p:sp>
        <p:nvSpPr>
          <p:cNvPr id="25" name="Rectangle: Rounded Corners 24">
            <a:extLst>
              <a:ext uri="{FF2B5EF4-FFF2-40B4-BE49-F238E27FC236}">
                <a16:creationId xmlns:a16="http://schemas.microsoft.com/office/drawing/2014/main" id="{2440B389-5F0D-9C78-9E91-0AF0ADB7FC92}"/>
              </a:ext>
            </a:extLst>
          </p:cNvPr>
          <p:cNvSpPr/>
          <p:nvPr/>
        </p:nvSpPr>
        <p:spPr>
          <a:xfrm>
            <a:off x="952500" y="6477000"/>
            <a:ext cx="8001000" cy="1803400"/>
          </a:xfrm>
          <a:prstGeom prst="roundRect">
            <a:avLst>
              <a:gd name="adj" fmla="val 6000"/>
            </a:avLst>
          </a:prstGeom>
          <a:solidFill>
            <a:srgbClr val="ECFDF5"/>
          </a:solidFill>
          <a:ln w="254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DD639F5-1F79-FAF7-A890-4C673D69E2ED}"/>
              </a:ext>
            </a:extLst>
          </p:cNvPr>
          <p:cNvSpPr txBox="1"/>
          <p:nvPr/>
        </p:nvSpPr>
        <p:spPr>
          <a:xfrm>
            <a:off x="1206500" y="6604000"/>
            <a:ext cx="7493000" cy="356508"/>
          </a:xfrm>
          <a:prstGeom prst="rect">
            <a:avLst/>
          </a:prstGeom>
          <a:noFill/>
        </p:spPr>
        <p:txBody>
          <a:bodyPr vert="horz" wrap="square" lIns="76200" tIns="50800" rIns="76200" bIns="50800" rtlCol="0">
            <a:spAutoFit/>
          </a:bodyPr>
          <a:lstStyle/>
          <a:p>
            <a:r>
              <a:rPr lang="en-US" sz="1650" b="1">
                <a:solidFill>
                  <a:srgbClr val="059669"/>
                </a:solidFill>
                <a:latin typeface="Poppins Semi-Bold" panose="020B0604020202020204" charset="-94"/>
              </a:rPr>
              <a:t>✅ MİKRODENETLEYİCİ KART NEDİR? (Arduino / ESP32 / Deneyap)</a:t>
            </a:r>
          </a:p>
        </p:txBody>
      </p:sp>
      <p:sp>
        <p:nvSpPr>
          <p:cNvPr id="27" name="TextBox 26">
            <a:extLst>
              <a:ext uri="{FF2B5EF4-FFF2-40B4-BE49-F238E27FC236}">
                <a16:creationId xmlns:a16="http://schemas.microsoft.com/office/drawing/2014/main" id="{77DC31B9-C30D-7782-2603-FF06E4FC7E96}"/>
              </a:ext>
            </a:extLst>
          </p:cNvPr>
          <p:cNvSpPr txBox="1"/>
          <p:nvPr/>
        </p:nvSpPr>
        <p:spPr>
          <a:xfrm>
            <a:off x="1206500" y="7035800"/>
            <a:ext cx="7493000" cy="548868"/>
          </a:xfrm>
          <a:prstGeom prst="rect">
            <a:avLst/>
          </a:prstGeom>
          <a:noFill/>
        </p:spPr>
        <p:txBody>
          <a:bodyPr vert="horz" wrap="square" lIns="76200" tIns="50800" rIns="76200" bIns="50800" rtlCol="0">
            <a:spAutoFit/>
          </a:bodyPr>
          <a:lstStyle/>
          <a:p>
            <a:r>
              <a:rPr lang="en-US" sz="1450">
                <a:solidFill>
                  <a:srgbClr val="181B21"/>
                </a:solidFill>
                <a:latin typeface="Poppins" panose="00000500000000000000" pitchFamily="2" charset="-94"/>
              </a:rPr>
              <a:t>• İşlemci + RAM + Hafıza + Pinlerin TEK ÇİPTE birleştiği robot beynidir.</a:t>
            </a:r>
          </a:p>
          <a:p>
            <a:r>
              <a:rPr lang="en-US" sz="1450">
                <a:solidFill>
                  <a:srgbClr val="181B21"/>
                </a:solidFill>
                <a:latin typeface="Poppins" panose="00000500000000000000" pitchFamily="2" charset="-94"/>
              </a:rPr>
              <a:t>• Deneyap Kart: ESP32 tabanlı, Wi-Fi/BT + IMU sensörlü MİLLİ kartımızdır!</a:t>
            </a:r>
          </a:p>
        </p:txBody>
      </p:sp>
      <p:sp>
        <p:nvSpPr>
          <p:cNvPr id="28" name="Rectangle: Rounded Corners 27">
            <a:extLst>
              <a:ext uri="{FF2B5EF4-FFF2-40B4-BE49-F238E27FC236}">
                <a16:creationId xmlns:a16="http://schemas.microsoft.com/office/drawing/2014/main" id="{7ECD2879-4CC4-EF58-5FED-7D5490D84F44}"/>
              </a:ext>
            </a:extLst>
          </p:cNvPr>
          <p:cNvSpPr/>
          <p:nvPr/>
        </p:nvSpPr>
        <p:spPr>
          <a:xfrm>
            <a:off x="9334500" y="6477000"/>
            <a:ext cx="8001000" cy="1803400"/>
          </a:xfrm>
          <a:prstGeom prst="roundRect">
            <a:avLst>
              <a:gd name="adj" fmla="val 6000"/>
            </a:avLst>
          </a:prstGeom>
          <a:solidFill>
            <a:srgbClr val="FEF2F2"/>
          </a:solidFill>
          <a:ln w="25400">
            <a:solidFill>
              <a:srgbClr val="DC26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B4A435E-AE90-005F-8D98-BB42DBB2E1BD}"/>
              </a:ext>
            </a:extLst>
          </p:cNvPr>
          <p:cNvSpPr txBox="1"/>
          <p:nvPr/>
        </p:nvSpPr>
        <p:spPr>
          <a:xfrm>
            <a:off x="9588500" y="6604000"/>
            <a:ext cx="7493000" cy="356508"/>
          </a:xfrm>
          <a:prstGeom prst="rect">
            <a:avLst/>
          </a:prstGeom>
          <a:noFill/>
        </p:spPr>
        <p:txBody>
          <a:bodyPr vert="horz" wrap="square" lIns="76200" tIns="50800" rIns="76200" bIns="50800" rtlCol="0">
            <a:spAutoFit/>
          </a:bodyPr>
          <a:lstStyle/>
          <a:p>
            <a:r>
              <a:rPr lang="en-US" sz="1650" b="1">
                <a:solidFill>
                  <a:srgbClr val="DC2626"/>
                </a:solidFill>
                <a:latin typeface="Poppins Semi-Bold" panose="020B0604020202020204" charset="-94"/>
              </a:rPr>
              <a:t>❌ NE DEĞİLDİR? (En Sık Yapılan Yanlışlar)</a:t>
            </a:r>
          </a:p>
        </p:txBody>
      </p:sp>
      <p:sp>
        <p:nvSpPr>
          <p:cNvPr id="30" name="TextBox 29">
            <a:extLst>
              <a:ext uri="{FF2B5EF4-FFF2-40B4-BE49-F238E27FC236}">
                <a16:creationId xmlns:a16="http://schemas.microsoft.com/office/drawing/2014/main" id="{7BBB1DCB-8110-698D-D535-8BD96823298D}"/>
              </a:ext>
            </a:extLst>
          </p:cNvPr>
          <p:cNvSpPr txBox="1"/>
          <p:nvPr/>
        </p:nvSpPr>
        <p:spPr>
          <a:xfrm>
            <a:off x="9588500" y="7035800"/>
            <a:ext cx="7493000" cy="548868"/>
          </a:xfrm>
          <a:prstGeom prst="rect">
            <a:avLst/>
          </a:prstGeom>
          <a:noFill/>
        </p:spPr>
        <p:txBody>
          <a:bodyPr vert="horz" wrap="square" lIns="76200" tIns="50800" rIns="76200" bIns="50800" rtlCol="0">
            <a:spAutoFit/>
          </a:bodyPr>
          <a:lstStyle/>
          <a:p>
            <a:r>
              <a:rPr lang="en-US" sz="1450">
                <a:solidFill>
                  <a:srgbClr val="181B21"/>
                </a:solidFill>
                <a:latin typeface="Poppins" panose="00000500000000000000" pitchFamily="2" charset="-94"/>
              </a:rPr>
              <a:t>• Windows/Oyun açan bir bilgisayar (CPU) DEĞİLDİR; tek görevi kesintisiz yapar.</a:t>
            </a:r>
          </a:p>
          <a:p>
            <a:r>
              <a:rPr lang="en-US" sz="1450">
                <a:solidFill>
                  <a:srgbClr val="181B21"/>
                </a:solidFill>
                <a:latin typeface="Poppins" panose="00000500000000000000" pitchFamily="2" charset="-94"/>
              </a:rPr>
              <a:t>• Motorları doğrudan çalıştıran bir güç kaynağı DEĞİLDİR (Sadece komut verir)!</a:t>
            </a:r>
          </a:p>
        </p:txBody>
      </p:sp>
      <p:sp>
        <p:nvSpPr>
          <p:cNvPr id="31" name="Rectangle: Rounded Corners 30">
            <a:extLst>
              <a:ext uri="{FF2B5EF4-FFF2-40B4-BE49-F238E27FC236}">
                <a16:creationId xmlns:a16="http://schemas.microsoft.com/office/drawing/2014/main" id="{FCAC6F00-50B7-17DB-46A3-A47D6A3E1ADF}"/>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D0E5E3AC-5914-4C11-7A58-24430632C3AE}"/>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#9</a:t>
            </a:r>
          </a:p>
        </p:txBody>
      </p:sp>
      <p:sp>
        <p:nvSpPr>
          <p:cNvPr id="33" name="TextBox 32">
            <a:extLst>
              <a:ext uri="{FF2B5EF4-FFF2-40B4-BE49-F238E27FC236}">
                <a16:creationId xmlns:a16="http://schemas.microsoft.com/office/drawing/2014/main" id="{ED930287-2AA4-9393-3C85-6EF0BAA4B7F7}"/>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Wi-Fi ile telefondan kontrol edilen bir TEKNOFEST İHA/Robot için hangi kartı seçersiniz?</a:t>
            </a:r>
          </a:p>
        </p:txBody>
      </p:sp>
    </p:spTree>
    <p:extLst>
      <p:ext uri="{BB962C8B-B14F-4D97-AF65-F5344CB8AC3E}">
        <p14:creationId xmlns:p14="http://schemas.microsoft.com/office/powerpoint/2010/main" val="3273530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11</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2EF1250E-2210-4D6A-F039-FF0548FDEB62}"/>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50" b="1">
                <a:solidFill>
                  <a:srgbClr val="0E3DC6"/>
                </a:solidFill>
                <a:latin typeface="IBM Plex Sans" panose="020B0503050203000203" pitchFamily="34" charset="0"/>
              </a:rPr>
              <a:t>6. HALKA  •  YAZILIM VE MANTIK</a:t>
            </a:r>
            <a:endParaRPr lang="en-US" sz="1150" b="1">
              <a:solidFill>
                <a:srgbClr val="0E3DC6"/>
              </a:solidFill>
              <a:latin typeface="IBM Plex Sans" panose="020B0503050203000203" pitchFamily="34" charset="0"/>
            </a:endParaRPr>
          </a:p>
        </p:txBody>
      </p:sp>
      <p:sp>
        <p:nvSpPr>
          <p:cNvPr id="15" name="TextBox 14">
            <a:extLst>
              <a:ext uri="{FF2B5EF4-FFF2-40B4-BE49-F238E27FC236}">
                <a16:creationId xmlns:a16="http://schemas.microsoft.com/office/drawing/2014/main" id="{A4C16B42-608A-8253-A557-73011DA69BC5}"/>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Algoritma Nedir, Ne Değildir?</a:t>
            </a:r>
          </a:p>
        </p:txBody>
      </p:sp>
      <p:sp>
        <p:nvSpPr>
          <p:cNvPr id="21" name="TextBox 20">
            <a:extLst>
              <a:ext uri="{FF2B5EF4-FFF2-40B4-BE49-F238E27FC236}">
                <a16:creationId xmlns:a16="http://schemas.microsoft.com/office/drawing/2014/main" id="{E79A5471-4E35-EF85-4BB5-BC74D954AD78}"/>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Donanıma Ruh Veren Adım Adım Çözüm Planı</a:t>
            </a:r>
          </a:p>
        </p:txBody>
      </p:sp>
      <p:sp>
        <p:nvSpPr>
          <p:cNvPr id="22" name="Rectangle: Rounded Corners 21">
            <a:extLst>
              <a:ext uri="{FF2B5EF4-FFF2-40B4-BE49-F238E27FC236}">
                <a16:creationId xmlns:a16="http://schemas.microsoft.com/office/drawing/2014/main" id="{071B8B06-28FB-B676-BF78-80D093C10B62}"/>
              </a:ext>
            </a:extLst>
          </p:cNvPr>
          <p:cNvSpPr/>
          <p:nvPr/>
        </p:nvSpPr>
        <p:spPr>
          <a:xfrm>
            <a:off x="952500" y="2590800"/>
            <a:ext cx="9525000" cy="5613400"/>
          </a:xfrm>
          <a:prstGeom prst="roundRect">
            <a:avLst>
              <a:gd name="adj" fmla="val 4000"/>
            </a:avLst>
          </a:prstGeom>
          <a:solidFill>
            <a:srgbClr val="FFFFFF"/>
          </a:solidFill>
          <a:ln w="19050">
            <a:solidFill>
              <a:srgbClr val="D2D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DB63EB1F-AEF6-CEC8-6C80-5EA40DA6B99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9500" y="2784764"/>
            <a:ext cx="9271000" cy="5225473"/>
          </a:xfrm>
          <a:prstGeom prst="rect">
            <a:avLst/>
          </a:prstGeom>
        </p:spPr>
      </p:pic>
      <p:sp>
        <p:nvSpPr>
          <p:cNvPr id="25" name="Rectangle: Rounded Corners 24">
            <a:extLst>
              <a:ext uri="{FF2B5EF4-FFF2-40B4-BE49-F238E27FC236}">
                <a16:creationId xmlns:a16="http://schemas.microsoft.com/office/drawing/2014/main" id="{7474CA1B-7C78-36D1-7C62-60A0A32C22C9}"/>
              </a:ext>
            </a:extLst>
          </p:cNvPr>
          <p:cNvSpPr/>
          <p:nvPr/>
        </p:nvSpPr>
        <p:spPr>
          <a:xfrm>
            <a:off x="10731500" y="2590800"/>
            <a:ext cx="6604000" cy="1727200"/>
          </a:xfrm>
          <a:prstGeom prst="roundRect">
            <a:avLst>
              <a:gd name="adj" fmla="val 7000"/>
            </a:avLst>
          </a:prstGeom>
          <a:solidFill>
            <a:srgbClr val="ECFDF5"/>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E3F2336-41F2-0F0D-3E77-906ADFEE29B6}"/>
              </a:ext>
            </a:extLst>
          </p:cNvPr>
          <p:cNvSpPr txBox="1"/>
          <p:nvPr/>
        </p:nvSpPr>
        <p:spPr>
          <a:xfrm>
            <a:off x="10985500" y="2717800"/>
            <a:ext cx="6096000" cy="381000"/>
          </a:xfrm>
          <a:prstGeom prst="rect">
            <a:avLst/>
          </a:prstGeom>
          <a:noFill/>
        </p:spPr>
        <p:txBody>
          <a:bodyPr vert="horz" wrap="square" lIns="76200" tIns="50800" rIns="76200" bIns="50800" rtlCol="0">
            <a:spAutoFit/>
          </a:bodyPr>
          <a:lstStyle/>
          <a:p>
            <a:r>
              <a:rPr lang="en-US" b="1">
                <a:solidFill>
                  <a:srgbClr val="059669"/>
                </a:solidFill>
                <a:latin typeface="Poppins Semi-Bold" panose="020B0604020202020204" charset="-94"/>
              </a:rPr>
              <a:t>✅ ALGORİTMA NEDİR?</a:t>
            </a:r>
          </a:p>
        </p:txBody>
      </p:sp>
      <p:sp>
        <p:nvSpPr>
          <p:cNvPr id="27" name="TextBox 26">
            <a:extLst>
              <a:ext uri="{FF2B5EF4-FFF2-40B4-BE49-F238E27FC236}">
                <a16:creationId xmlns:a16="http://schemas.microsoft.com/office/drawing/2014/main" id="{F1362C94-5AEF-A510-A006-DC35AA918542}"/>
              </a:ext>
            </a:extLst>
          </p:cNvPr>
          <p:cNvSpPr txBox="1"/>
          <p:nvPr/>
        </p:nvSpPr>
        <p:spPr>
          <a:xfrm>
            <a:off x="10985500" y="3149600"/>
            <a:ext cx="6096000" cy="564257"/>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Bir problemi çözmek için başlangıcı ve sonu belli, sıralı ve net adımlar dizisidir.</a:t>
            </a:r>
          </a:p>
        </p:txBody>
      </p:sp>
      <p:sp>
        <p:nvSpPr>
          <p:cNvPr id="28" name="Rectangle: Rounded Corners 27">
            <a:extLst>
              <a:ext uri="{FF2B5EF4-FFF2-40B4-BE49-F238E27FC236}">
                <a16:creationId xmlns:a16="http://schemas.microsoft.com/office/drawing/2014/main" id="{4560676C-9643-D08A-DD65-91DE3E013C3C}"/>
              </a:ext>
            </a:extLst>
          </p:cNvPr>
          <p:cNvSpPr/>
          <p:nvPr/>
        </p:nvSpPr>
        <p:spPr>
          <a:xfrm>
            <a:off x="10731500" y="4521200"/>
            <a:ext cx="6604000" cy="1727200"/>
          </a:xfrm>
          <a:prstGeom prst="roundRect">
            <a:avLst>
              <a:gd name="adj" fmla="val 7000"/>
            </a:avLst>
          </a:prstGeom>
          <a:solidFill>
            <a:srgbClr val="FEF2F2"/>
          </a:solidFill>
          <a:ln w="27940">
            <a:solidFill>
              <a:srgbClr val="DC26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E116781-9678-EA00-FC9C-1A5196E5EDFC}"/>
              </a:ext>
            </a:extLst>
          </p:cNvPr>
          <p:cNvSpPr txBox="1"/>
          <p:nvPr/>
        </p:nvSpPr>
        <p:spPr>
          <a:xfrm>
            <a:off x="10985500" y="4648200"/>
            <a:ext cx="6096000" cy="381000"/>
          </a:xfrm>
          <a:prstGeom prst="rect">
            <a:avLst/>
          </a:prstGeom>
          <a:noFill/>
        </p:spPr>
        <p:txBody>
          <a:bodyPr vert="horz" wrap="square" lIns="76200" tIns="50800" rIns="76200" bIns="50800" rtlCol="0">
            <a:spAutoFit/>
          </a:bodyPr>
          <a:lstStyle/>
          <a:p>
            <a:r>
              <a:rPr lang="en-US" b="1">
                <a:solidFill>
                  <a:srgbClr val="DC2626"/>
                </a:solidFill>
                <a:latin typeface="Poppins Semi-Bold" panose="020B0604020202020204" charset="-94"/>
              </a:rPr>
              <a:t>❌ ALGORİTMA NE DEĞİLDİR?</a:t>
            </a:r>
          </a:p>
        </p:txBody>
      </p:sp>
      <p:sp>
        <p:nvSpPr>
          <p:cNvPr id="30" name="TextBox 29">
            <a:extLst>
              <a:ext uri="{FF2B5EF4-FFF2-40B4-BE49-F238E27FC236}">
                <a16:creationId xmlns:a16="http://schemas.microsoft.com/office/drawing/2014/main" id="{3858025C-A576-6F56-CD0F-B492F6AE4556}"/>
              </a:ext>
            </a:extLst>
          </p:cNvPr>
          <p:cNvSpPr txBox="1"/>
          <p:nvPr/>
        </p:nvSpPr>
        <p:spPr>
          <a:xfrm>
            <a:off x="10985500" y="5080000"/>
            <a:ext cx="6096000" cy="564257"/>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Sadece 'kod' DEĞİLDİR! Algoritma düşüncedir; C++ veya Python ise onun tercümesidir.</a:t>
            </a:r>
          </a:p>
        </p:txBody>
      </p:sp>
      <p:sp>
        <p:nvSpPr>
          <p:cNvPr id="31" name="Rectangle: Rounded Corners 30">
            <a:extLst>
              <a:ext uri="{FF2B5EF4-FFF2-40B4-BE49-F238E27FC236}">
                <a16:creationId xmlns:a16="http://schemas.microsoft.com/office/drawing/2014/main" id="{B4EA376B-0F89-7F3A-1F50-387C42F9970E}"/>
              </a:ext>
            </a:extLst>
          </p:cNvPr>
          <p:cNvSpPr/>
          <p:nvPr/>
        </p:nvSpPr>
        <p:spPr>
          <a:xfrm>
            <a:off x="10731500" y="6451600"/>
            <a:ext cx="6604000" cy="1752600"/>
          </a:xfrm>
          <a:prstGeom prst="roundRect">
            <a:avLst>
              <a:gd name="adj" fmla="val 7000"/>
            </a:avLst>
          </a:prstGeom>
          <a:solidFill>
            <a:srgbClr val="0A2574"/>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7C3C7DD-A4D3-F7F0-84B5-A4A5EFCC5A64}"/>
              </a:ext>
            </a:extLst>
          </p:cNvPr>
          <p:cNvSpPr txBox="1"/>
          <p:nvPr/>
        </p:nvSpPr>
        <p:spPr>
          <a:xfrm>
            <a:off x="10985500" y="6553200"/>
            <a:ext cx="6096000" cy="348813"/>
          </a:xfrm>
          <a:prstGeom prst="rect">
            <a:avLst/>
          </a:prstGeom>
          <a:noFill/>
        </p:spPr>
        <p:txBody>
          <a:bodyPr vert="horz" wrap="square" lIns="76200" tIns="50800" rIns="76200" bIns="50800" rtlCol="0">
            <a:spAutoFit/>
          </a:bodyPr>
          <a:lstStyle/>
          <a:p>
            <a:r>
              <a:rPr lang="en-US" sz="1600" b="1">
                <a:solidFill>
                  <a:srgbClr val="E6EBF9"/>
                </a:solidFill>
                <a:latin typeface="Poppins Semi-Bold" panose="020B0604020202020204" charset="-94"/>
              </a:rPr>
              <a:t>💻 Sözde Kod (Akıllı Sokak Lambası):</a:t>
            </a:r>
          </a:p>
        </p:txBody>
      </p:sp>
      <p:sp>
        <p:nvSpPr>
          <p:cNvPr id="33" name="TextBox 32">
            <a:extLst>
              <a:ext uri="{FF2B5EF4-FFF2-40B4-BE49-F238E27FC236}">
                <a16:creationId xmlns:a16="http://schemas.microsoft.com/office/drawing/2014/main" id="{E8FCEFF4-E619-AB12-F10F-D8168B967D53}"/>
              </a:ext>
            </a:extLst>
          </p:cNvPr>
          <p:cNvSpPr txBox="1"/>
          <p:nvPr/>
        </p:nvSpPr>
        <p:spPr>
          <a:xfrm>
            <a:off x="10985500" y="6934200"/>
            <a:ext cx="6096000" cy="772006"/>
          </a:xfrm>
          <a:prstGeom prst="rect">
            <a:avLst/>
          </a:prstGeom>
          <a:noFill/>
        </p:spPr>
        <p:txBody>
          <a:bodyPr vert="horz" wrap="square" lIns="76200" tIns="50800" rIns="76200" bIns="50800" rtlCol="0">
            <a:spAutoFit/>
          </a:bodyPr>
          <a:lstStyle/>
          <a:p>
            <a:r>
              <a:rPr lang="en-US" sz="1450" b="1">
                <a:solidFill>
                  <a:srgbClr val="FFFFFF"/>
                </a:solidFill>
                <a:latin typeface="Consolas" panose="020B0609020204030204" pitchFamily="49" charset="0"/>
              </a:rPr>
              <a:t>SÜREKLİ TEKRARLA:</a:t>
            </a:r>
          </a:p>
          <a:p>
            <a:r>
              <a:rPr lang="en-US" sz="1450" b="1">
                <a:solidFill>
                  <a:srgbClr val="FFFFFF"/>
                </a:solidFill>
                <a:latin typeface="Consolas" panose="020B0609020204030204" pitchFamily="49" charset="0"/>
              </a:rPr>
              <a:t>  EĞER (Işık &lt; 300) İSE ➔ LED = 1 (5V)</a:t>
            </a:r>
          </a:p>
          <a:p>
            <a:r>
              <a:rPr lang="en-US" sz="1450" b="1">
                <a:solidFill>
                  <a:srgbClr val="FFFFFF"/>
                </a:solidFill>
                <a:latin typeface="Consolas" panose="020B0609020204030204" pitchFamily="49" charset="0"/>
              </a:rPr>
              <a:t>  DEĞİLSE ➔ LED = 0 (0V)</a:t>
            </a:r>
          </a:p>
        </p:txBody>
      </p:sp>
      <p:sp>
        <p:nvSpPr>
          <p:cNvPr id="34" name="Rectangle: Rounded Corners 33">
            <a:extLst>
              <a:ext uri="{FF2B5EF4-FFF2-40B4-BE49-F238E27FC236}">
                <a16:creationId xmlns:a16="http://schemas.microsoft.com/office/drawing/2014/main" id="{E63D506E-B041-1F07-BA64-D9A0D9749282}"/>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FB4ACEF0-3BDF-1580-DE21-4046C20A8559}"/>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#10</a:t>
            </a:r>
          </a:p>
        </p:txBody>
      </p:sp>
      <p:sp>
        <p:nvSpPr>
          <p:cNvPr id="36" name="TextBox 35">
            <a:extLst>
              <a:ext uri="{FF2B5EF4-FFF2-40B4-BE49-F238E27FC236}">
                <a16:creationId xmlns:a16="http://schemas.microsoft.com/office/drawing/2014/main" id="{3B77E196-1B68-5C2B-3082-B2FD43688BB8}"/>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'Göz kararı tuz at' neden bilgisayar için geçerli bir algoritma adımı DEĞİLDİR?</a:t>
            </a:r>
          </a:p>
        </p:txBody>
      </p:sp>
    </p:spTree>
    <p:extLst>
      <p:ext uri="{BB962C8B-B14F-4D97-AF65-F5344CB8AC3E}">
        <p14:creationId xmlns:p14="http://schemas.microsoft.com/office/powerpoint/2010/main" val="2051940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12</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AD54A894-71BD-EB8D-9D2B-01DE39814DCA}"/>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6 HALKANIN BİRLEŞİMİ  •  TEKNOFEST</a:t>
            </a:r>
          </a:p>
        </p:txBody>
      </p:sp>
      <p:sp>
        <p:nvSpPr>
          <p:cNvPr id="15" name="TextBox 14">
            <a:extLst>
              <a:ext uri="{FF2B5EF4-FFF2-40B4-BE49-F238E27FC236}">
                <a16:creationId xmlns:a16="http://schemas.microsoft.com/office/drawing/2014/main" id="{2ADB1847-4E7B-ED45-88CB-B71B46BA11E1}"/>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Gerçek Dünya: TEKNOFEST Projeleri Nasıl Çalışır?</a:t>
            </a:r>
          </a:p>
        </p:txBody>
      </p:sp>
      <p:sp>
        <p:nvSpPr>
          <p:cNvPr id="21" name="TextBox 20">
            <a:extLst>
              <a:ext uri="{FF2B5EF4-FFF2-40B4-BE49-F238E27FC236}">
                <a16:creationId xmlns:a16="http://schemas.microsoft.com/office/drawing/2014/main" id="{CE1B426E-EEDE-E49A-1BFE-338905A0CB47}"/>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Her Robot ve İHA, Bugün Öğrendiğimiz 6 Halkanın Birleşimidir!</a:t>
            </a:r>
          </a:p>
        </p:txBody>
      </p:sp>
      <p:sp>
        <p:nvSpPr>
          <p:cNvPr id="22" name="Rectangle: Rounded Corners 21">
            <a:extLst>
              <a:ext uri="{FF2B5EF4-FFF2-40B4-BE49-F238E27FC236}">
                <a16:creationId xmlns:a16="http://schemas.microsoft.com/office/drawing/2014/main" id="{FA713D82-AC84-AE5C-DE05-836729CFAFE2}"/>
              </a:ext>
            </a:extLst>
          </p:cNvPr>
          <p:cNvSpPr/>
          <p:nvPr/>
        </p:nvSpPr>
        <p:spPr>
          <a:xfrm>
            <a:off x="952500" y="2590800"/>
            <a:ext cx="5207000" cy="5613400"/>
          </a:xfrm>
          <a:prstGeom prst="roundRect">
            <a:avLst>
              <a:gd name="adj" fmla="val 6000"/>
            </a:avLst>
          </a:prstGeom>
          <a:solidFill>
            <a:srgbClr val="FFFFFF"/>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175FC23B-5CCD-86B6-00B7-0C087A75F6FE}"/>
              </a:ext>
            </a:extLst>
          </p:cNvPr>
          <p:cNvSpPr/>
          <p:nvPr/>
        </p:nvSpPr>
        <p:spPr>
          <a:xfrm>
            <a:off x="952500" y="2590800"/>
            <a:ext cx="5207000" cy="711200"/>
          </a:xfrm>
          <a:prstGeom prst="roundRect">
            <a:avLst>
              <a:gd name="adj" fmla="val 6000"/>
            </a:avLst>
          </a:prstGeom>
          <a:solidFill>
            <a:srgbClr val="E6EBF9"/>
          </a:solidFill>
          <a:ln w="190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ADE31BE-02C1-5D79-AF12-0509737215C4}"/>
              </a:ext>
            </a:extLst>
          </p:cNvPr>
          <p:cNvSpPr txBox="1"/>
          <p:nvPr/>
        </p:nvSpPr>
        <p:spPr>
          <a:xfrm>
            <a:off x="1143000" y="2743200"/>
            <a:ext cx="4826000" cy="379591"/>
          </a:xfrm>
          <a:prstGeom prst="rect">
            <a:avLst/>
          </a:prstGeom>
          <a:noFill/>
        </p:spPr>
        <p:txBody>
          <a:bodyPr vert="horz" wrap="square" lIns="76200" tIns="50800" rIns="76200" bIns="50800" rtlCol="0">
            <a:spAutoFit/>
          </a:bodyPr>
          <a:lstStyle/>
          <a:p>
            <a:pPr algn="ctr"/>
            <a:r>
              <a:rPr lang="en-US" b="1">
                <a:solidFill>
                  <a:srgbClr val="0E3DC6"/>
                </a:solidFill>
                <a:latin typeface="Poppins Semi-Bold" panose="020B0604020202020204" charset="-94"/>
              </a:rPr>
              <a:t>🚗 1. Otonom Çizgi İzleyen</a:t>
            </a:r>
          </a:p>
        </p:txBody>
      </p:sp>
      <p:pic>
        <p:nvPicPr>
          <p:cNvPr id="26" name="Picture 25">
            <a:extLst>
              <a:ext uri="{FF2B5EF4-FFF2-40B4-BE49-F238E27FC236}">
                <a16:creationId xmlns:a16="http://schemas.microsoft.com/office/drawing/2014/main" id="{3CAA70C6-8A46-E2CE-7A63-09D305F20EF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890315" y="3429000"/>
            <a:ext cx="3331370" cy="2222500"/>
          </a:xfrm>
          <a:prstGeom prst="rect">
            <a:avLst/>
          </a:prstGeom>
        </p:spPr>
      </p:pic>
      <p:sp>
        <p:nvSpPr>
          <p:cNvPr id="27" name="TextBox 26">
            <a:extLst>
              <a:ext uri="{FF2B5EF4-FFF2-40B4-BE49-F238E27FC236}">
                <a16:creationId xmlns:a16="http://schemas.microsoft.com/office/drawing/2014/main" id="{E2C4CFF8-6D38-991C-E251-FB5705825739}"/>
              </a:ext>
            </a:extLst>
          </p:cNvPr>
          <p:cNvSpPr txBox="1"/>
          <p:nvPr/>
        </p:nvSpPr>
        <p:spPr>
          <a:xfrm>
            <a:off x="1206500" y="5816600"/>
            <a:ext cx="4699000" cy="1025922"/>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Sensör: Kızılötesi Işık (Analog)</a:t>
            </a:r>
          </a:p>
          <a:p>
            <a:r>
              <a:rPr lang="en-US" sz="1500">
                <a:solidFill>
                  <a:srgbClr val="181B21"/>
                </a:solidFill>
                <a:latin typeface="Poppins" panose="00000500000000000000" pitchFamily="2" charset="-94"/>
              </a:rPr>
              <a:t>• Dijital: Siyah = 1, Beyaz = 0</a:t>
            </a:r>
          </a:p>
          <a:p>
            <a:r>
              <a:rPr lang="en-US" sz="1500">
                <a:solidFill>
                  <a:srgbClr val="181B21"/>
                </a:solidFill>
                <a:latin typeface="Poppins" panose="00000500000000000000" pitchFamily="2" charset="-94"/>
              </a:rPr>
              <a:t>• Beyin: Arduino / Deneyap Kart</a:t>
            </a:r>
          </a:p>
          <a:p>
            <a:r>
              <a:rPr lang="en-US" sz="1500">
                <a:solidFill>
                  <a:srgbClr val="181B21"/>
                </a:solidFill>
                <a:latin typeface="Poppins" panose="00000500000000000000" pitchFamily="2" charset="-94"/>
              </a:rPr>
              <a:t>• Algoritma: Siyah çizgideyse düz git!</a:t>
            </a:r>
          </a:p>
        </p:txBody>
      </p:sp>
      <p:sp>
        <p:nvSpPr>
          <p:cNvPr id="28" name="Rectangle: Rounded Corners 27">
            <a:extLst>
              <a:ext uri="{FF2B5EF4-FFF2-40B4-BE49-F238E27FC236}">
                <a16:creationId xmlns:a16="http://schemas.microsoft.com/office/drawing/2014/main" id="{A40A4E51-EC6E-B493-35C4-73F77E80E7A1}"/>
              </a:ext>
            </a:extLst>
          </p:cNvPr>
          <p:cNvSpPr/>
          <p:nvPr/>
        </p:nvSpPr>
        <p:spPr>
          <a:xfrm>
            <a:off x="6540500" y="2590800"/>
            <a:ext cx="5207000" cy="5613400"/>
          </a:xfrm>
          <a:prstGeom prst="roundRect">
            <a:avLst>
              <a:gd name="adj" fmla="val 6000"/>
            </a:avLst>
          </a:prstGeom>
          <a:solidFill>
            <a:srgbClr val="FFFFFF"/>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514E769C-7AB6-B3F4-C9F1-0D0F02FB4A62}"/>
              </a:ext>
            </a:extLst>
          </p:cNvPr>
          <p:cNvSpPr/>
          <p:nvPr/>
        </p:nvSpPr>
        <p:spPr>
          <a:xfrm>
            <a:off x="6540500" y="2590800"/>
            <a:ext cx="5207000" cy="711200"/>
          </a:xfrm>
          <a:prstGeom prst="roundRect">
            <a:avLst>
              <a:gd name="adj" fmla="val 6000"/>
            </a:avLst>
          </a:prstGeom>
          <a:solidFill>
            <a:srgbClr val="ECFDF5"/>
          </a:solidFill>
          <a:ln w="190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CB171E4-D818-70E9-8739-9DC4D84BA3FB}"/>
              </a:ext>
            </a:extLst>
          </p:cNvPr>
          <p:cNvSpPr txBox="1"/>
          <p:nvPr/>
        </p:nvSpPr>
        <p:spPr>
          <a:xfrm>
            <a:off x="6731000" y="2743200"/>
            <a:ext cx="4826000" cy="379591"/>
          </a:xfrm>
          <a:prstGeom prst="rect">
            <a:avLst/>
          </a:prstGeom>
          <a:noFill/>
        </p:spPr>
        <p:txBody>
          <a:bodyPr vert="horz" wrap="square" lIns="76200" tIns="50800" rIns="76200" bIns="50800" rtlCol="0">
            <a:spAutoFit/>
          </a:bodyPr>
          <a:lstStyle/>
          <a:p>
            <a:pPr algn="ctr"/>
            <a:r>
              <a:rPr lang="pt-BR" b="1">
                <a:solidFill>
                  <a:srgbClr val="059669"/>
                </a:solidFill>
                <a:latin typeface="Poppins Semi-Bold" panose="020B0604020202020204" charset="-94"/>
              </a:rPr>
              <a:t>🚁 2. İHA &amp; Otonom Araçlar</a:t>
            </a:r>
            <a:endParaRPr lang="en-US" b="1">
              <a:solidFill>
                <a:srgbClr val="059669"/>
              </a:solidFill>
              <a:latin typeface="Poppins Semi-Bold" panose="020B0604020202020204" charset="-94"/>
            </a:endParaRPr>
          </a:p>
        </p:txBody>
      </p:sp>
      <p:pic>
        <p:nvPicPr>
          <p:cNvPr id="32" name="Picture 31">
            <a:extLst>
              <a:ext uri="{FF2B5EF4-FFF2-40B4-BE49-F238E27FC236}">
                <a16:creationId xmlns:a16="http://schemas.microsoft.com/office/drawing/2014/main" id="{EC3AF009-8970-5D55-2C32-5091D647BB0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168445" y="3429000"/>
            <a:ext cx="3951111" cy="2222500"/>
          </a:xfrm>
          <a:prstGeom prst="rect">
            <a:avLst/>
          </a:prstGeom>
        </p:spPr>
      </p:pic>
      <p:sp>
        <p:nvSpPr>
          <p:cNvPr id="33" name="TextBox 32">
            <a:extLst>
              <a:ext uri="{FF2B5EF4-FFF2-40B4-BE49-F238E27FC236}">
                <a16:creationId xmlns:a16="http://schemas.microsoft.com/office/drawing/2014/main" id="{5D66602E-D3D5-007E-35C2-0880849D14FF}"/>
              </a:ext>
            </a:extLst>
          </p:cNvPr>
          <p:cNvSpPr txBox="1"/>
          <p:nvPr/>
        </p:nvSpPr>
        <p:spPr>
          <a:xfrm>
            <a:off x="6794500" y="5816600"/>
            <a:ext cx="4699000" cy="1025922"/>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Sensör: İvmeölçer &amp; Mesafe (IMU)</a:t>
            </a:r>
          </a:p>
          <a:p>
            <a:r>
              <a:rPr lang="en-US" sz="1500">
                <a:solidFill>
                  <a:srgbClr val="181B21"/>
                </a:solidFill>
                <a:latin typeface="Poppins" panose="00000500000000000000" pitchFamily="2" charset="-94"/>
              </a:rPr>
              <a:t>• Dijital: Eğim ve engel (Binary sayı)</a:t>
            </a:r>
          </a:p>
          <a:p>
            <a:r>
              <a:rPr lang="en-US" sz="1500">
                <a:solidFill>
                  <a:srgbClr val="181B21"/>
                </a:solidFill>
                <a:latin typeface="Poppins" panose="00000500000000000000" pitchFamily="2" charset="-94"/>
              </a:rPr>
              <a:t>• Beyin: Uçuş Kontrolcüsü / Deneyap</a:t>
            </a:r>
          </a:p>
          <a:p>
            <a:r>
              <a:rPr lang="en-US" sz="1500">
                <a:solidFill>
                  <a:srgbClr val="181B21"/>
                </a:solidFill>
                <a:latin typeface="Poppins" panose="00000500000000000000" pitchFamily="2" charset="-94"/>
              </a:rPr>
              <a:t>• Algoritma: Engel varsa yön değiştir!</a:t>
            </a:r>
          </a:p>
        </p:txBody>
      </p:sp>
      <p:sp>
        <p:nvSpPr>
          <p:cNvPr id="34" name="Rectangle: Rounded Corners 33">
            <a:extLst>
              <a:ext uri="{FF2B5EF4-FFF2-40B4-BE49-F238E27FC236}">
                <a16:creationId xmlns:a16="http://schemas.microsoft.com/office/drawing/2014/main" id="{F9EAA29A-7D55-145C-1CB4-07EF80DFA746}"/>
              </a:ext>
            </a:extLst>
          </p:cNvPr>
          <p:cNvSpPr/>
          <p:nvPr/>
        </p:nvSpPr>
        <p:spPr>
          <a:xfrm>
            <a:off x="12128500" y="2590800"/>
            <a:ext cx="5207000" cy="5613400"/>
          </a:xfrm>
          <a:prstGeom prst="roundRect">
            <a:avLst>
              <a:gd name="adj" fmla="val 6000"/>
            </a:avLst>
          </a:prstGeom>
          <a:solidFill>
            <a:srgbClr val="FFFFFF"/>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89BF67C7-B420-0BA8-73C6-07DDD4C9C2BD}"/>
              </a:ext>
            </a:extLst>
          </p:cNvPr>
          <p:cNvSpPr/>
          <p:nvPr/>
        </p:nvSpPr>
        <p:spPr>
          <a:xfrm>
            <a:off x="12128500" y="2590800"/>
            <a:ext cx="5207000" cy="711200"/>
          </a:xfrm>
          <a:prstGeom prst="roundRect">
            <a:avLst>
              <a:gd name="adj" fmla="val 6000"/>
            </a:avLst>
          </a:prstGeom>
          <a:solidFill>
            <a:srgbClr val="FFF8E7"/>
          </a:solidFill>
          <a:ln w="190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8B0C5A3-A4A5-F784-CBFE-AC15887E8256}"/>
              </a:ext>
            </a:extLst>
          </p:cNvPr>
          <p:cNvSpPr txBox="1"/>
          <p:nvPr/>
        </p:nvSpPr>
        <p:spPr>
          <a:xfrm>
            <a:off x="12319000" y="2743200"/>
            <a:ext cx="4826000" cy="379591"/>
          </a:xfrm>
          <a:prstGeom prst="rect">
            <a:avLst/>
          </a:prstGeom>
          <a:noFill/>
        </p:spPr>
        <p:txBody>
          <a:bodyPr vert="horz" wrap="square" lIns="76200" tIns="50800" rIns="76200" bIns="50800" rtlCol="0">
            <a:spAutoFit/>
          </a:bodyPr>
          <a:lstStyle/>
          <a:p>
            <a:pPr algn="ctr"/>
            <a:r>
              <a:rPr lang="en-US" b="1">
                <a:solidFill>
                  <a:srgbClr val="D97706"/>
                </a:solidFill>
                <a:latin typeface="Poppins Semi-Bold" panose="020B0604020202020204" charset="-94"/>
              </a:rPr>
              <a:t>🌱 3. Akıllı Şehir &amp; Otomasyon</a:t>
            </a:r>
          </a:p>
        </p:txBody>
      </p:sp>
      <p:pic>
        <p:nvPicPr>
          <p:cNvPr id="38" name="Picture 37">
            <a:extLst>
              <a:ext uri="{FF2B5EF4-FFF2-40B4-BE49-F238E27FC236}">
                <a16:creationId xmlns:a16="http://schemas.microsoft.com/office/drawing/2014/main" id="{D770F161-B1A4-6B9A-74D6-144B958D504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2755808" y="3429000"/>
            <a:ext cx="3952384" cy="2222500"/>
          </a:xfrm>
          <a:prstGeom prst="rect">
            <a:avLst/>
          </a:prstGeom>
        </p:spPr>
      </p:pic>
      <p:sp>
        <p:nvSpPr>
          <p:cNvPr id="39" name="TextBox 38">
            <a:extLst>
              <a:ext uri="{FF2B5EF4-FFF2-40B4-BE49-F238E27FC236}">
                <a16:creationId xmlns:a16="http://schemas.microsoft.com/office/drawing/2014/main" id="{4D2A3B6F-C495-0D81-3988-2D110B5DEDDB}"/>
              </a:ext>
            </a:extLst>
          </p:cNvPr>
          <p:cNvSpPr txBox="1"/>
          <p:nvPr/>
        </p:nvSpPr>
        <p:spPr>
          <a:xfrm>
            <a:off x="12382500" y="5816600"/>
            <a:ext cx="4699000" cy="1025922"/>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Sensör: Araç &amp; Nem Algılayıcı</a:t>
            </a:r>
          </a:p>
          <a:p>
            <a:r>
              <a:rPr lang="en-US" sz="1500">
                <a:solidFill>
                  <a:srgbClr val="181B21"/>
                </a:solidFill>
                <a:latin typeface="Poppins" panose="00000500000000000000" pitchFamily="2" charset="-94"/>
              </a:rPr>
              <a:t>• Dijital: ADC ile 0..1023 sayı</a:t>
            </a:r>
          </a:p>
          <a:p>
            <a:r>
              <a:rPr lang="en-US" sz="1500">
                <a:solidFill>
                  <a:srgbClr val="181B21"/>
                </a:solidFill>
                <a:latin typeface="Poppins" panose="00000500000000000000" pitchFamily="2" charset="-94"/>
              </a:rPr>
              <a:t>• Beyin: ESP32 / Deneyap (Wi-Fi)</a:t>
            </a:r>
          </a:p>
          <a:p>
            <a:r>
              <a:rPr lang="en-US" sz="1500">
                <a:solidFill>
                  <a:srgbClr val="181B21"/>
                </a:solidFill>
                <a:latin typeface="Poppins" panose="00000500000000000000" pitchFamily="2" charset="-94"/>
              </a:rPr>
              <a:t>• Algoritma: Araç geldiyse bariyeri aç!</a:t>
            </a:r>
          </a:p>
        </p:txBody>
      </p:sp>
      <p:sp>
        <p:nvSpPr>
          <p:cNvPr id="40" name="Rectangle: Rounded Corners 39">
            <a:extLst>
              <a:ext uri="{FF2B5EF4-FFF2-40B4-BE49-F238E27FC236}">
                <a16:creationId xmlns:a16="http://schemas.microsoft.com/office/drawing/2014/main" id="{E236C6CF-AE12-E761-B4E6-5C62707DB022}"/>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AB056A6D-16C4-37CE-1789-9F41CC85ABBD}"/>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DÜŞÜNCE DENEYİ #11</a:t>
            </a:r>
          </a:p>
        </p:txBody>
      </p:sp>
      <p:sp>
        <p:nvSpPr>
          <p:cNvPr id="42" name="TextBox 41">
            <a:extLst>
              <a:ext uri="{FF2B5EF4-FFF2-40B4-BE49-F238E27FC236}">
                <a16:creationId xmlns:a16="http://schemas.microsoft.com/office/drawing/2014/main" id="{87EF5FB7-13FD-2B7C-38D5-D8D012AE7E65}"/>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Uçan bir İHA'nın 'Sensör' halkası veya 'Algoritma' halkası 1 saniyeliğine dursa ne olur?</a:t>
            </a:r>
          </a:p>
        </p:txBody>
      </p:sp>
    </p:spTree>
    <p:extLst>
      <p:ext uri="{BB962C8B-B14F-4D97-AF65-F5344CB8AC3E}">
        <p14:creationId xmlns:p14="http://schemas.microsoft.com/office/powerpoint/2010/main" val="745984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13</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1C198BA3-BA81-2BA4-AB90-E379FD3CDE91}"/>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UYGULAMA ZAMANI  •  SANAL LABORATUVAR</a:t>
            </a:r>
          </a:p>
        </p:txBody>
      </p:sp>
      <p:sp>
        <p:nvSpPr>
          <p:cNvPr id="15" name="TextBox 14">
            <a:extLst>
              <a:ext uri="{FF2B5EF4-FFF2-40B4-BE49-F238E27FC236}">
                <a16:creationId xmlns:a16="http://schemas.microsoft.com/office/drawing/2014/main" id="{08F135F6-DB01-8BC3-2BA2-F41CC7E9CBDC}"/>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Bilgisayarda Devre ve Algoritma Simülasyonu</a:t>
            </a:r>
          </a:p>
        </p:txBody>
      </p:sp>
      <p:sp>
        <p:nvSpPr>
          <p:cNvPr id="21" name="TextBox 20">
            <a:extLst>
              <a:ext uri="{FF2B5EF4-FFF2-40B4-BE49-F238E27FC236}">
                <a16:creationId xmlns:a16="http://schemas.microsoft.com/office/drawing/2014/main" id="{79AFDD4C-F79F-F2DB-0003-D1958107B793}"/>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s-ES" sz="1450">
                <a:solidFill>
                  <a:srgbClr val="5F6978"/>
                </a:solidFill>
                <a:latin typeface="Poppins" panose="00000500000000000000" pitchFamily="2" charset="-94"/>
              </a:rPr>
              <a:t>Hiçbir Malzemeyi Yakmadan Deney Yapabileceğiniz 3 Araç</a:t>
            </a:r>
            <a:endParaRPr lang="en-US" sz="1450">
              <a:solidFill>
                <a:srgbClr val="5F6978"/>
              </a:solidFill>
              <a:latin typeface="Poppins" panose="00000500000000000000" pitchFamily="2" charset="-94"/>
            </a:endParaRPr>
          </a:p>
        </p:txBody>
      </p:sp>
      <p:sp>
        <p:nvSpPr>
          <p:cNvPr id="22" name="Rectangle: Rounded Corners 21">
            <a:extLst>
              <a:ext uri="{FF2B5EF4-FFF2-40B4-BE49-F238E27FC236}">
                <a16:creationId xmlns:a16="http://schemas.microsoft.com/office/drawing/2014/main" id="{B1E66DE8-2E5A-D353-8FE2-84172DA1223E}"/>
              </a:ext>
            </a:extLst>
          </p:cNvPr>
          <p:cNvSpPr/>
          <p:nvPr/>
        </p:nvSpPr>
        <p:spPr>
          <a:xfrm>
            <a:off x="952500" y="2590800"/>
            <a:ext cx="5207000" cy="5613400"/>
          </a:xfrm>
          <a:prstGeom prst="roundRect">
            <a:avLst>
              <a:gd name="adj" fmla="val 6000"/>
            </a:avLst>
          </a:prstGeom>
          <a:solidFill>
            <a:srgbClr val="F4F7FE"/>
          </a:solidFill>
          <a:ln w="317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DE23A68-F2D5-EFAD-A70B-7FEDE596F094}"/>
              </a:ext>
            </a:extLst>
          </p:cNvPr>
          <p:cNvSpPr/>
          <p:nvPr/>
        </p:nvSpPr>
        <p:spPr>
          <a:xfrm>
            <a:off x="952500" y="2590800"/>
            <a:ext cx="5207000" cy="711200"/>
          </a:xfrm>
          <a:prstGeom prst="roundRect">
            <a:avLst>
              <a:gd name="adj" fmla="val 6000"/>
            </a:avLst>
          </a:prstGeom>
          <a:solidFill>
            <a:srgbClr val="0E3DC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243E303-D8E6-A190-FDB4-CA22A68F3179}"/>
              </a:ext>
            </a:extLst>
          </p:cNvPr>
          <p:cNvSpPr txBox="1"/>
          <p:nvPr/>
        </p:nvSpPr>
        <p:spPr>
          <a:xfrm>
            <a:off x="1143000" y="2743200"/>
            <a:ext cx="4826000" cy="379591"/>
          </a:xfrm>
          <a:prstGeom prst="rect">
            <a:avLst/>
          </a:prstGeom>
          <a:noFill/>
        </p:spPr>
        <p:txBody>
          <a:bodyPr vert="horz" wrap="square" lIns="76200" tIns="50800" rIns="76200" bIns="50800" rtlCol="0">
            <a:spAutoFit/>
          </a:bodyPr>
          <a:lstStyle/>
          <a:p>
            <a:pPr algn="ctr"/>
            <a:r>
              <a:rPr lang="en-US" b="1">
                <a:solidFill>
                  <a:srgbClr val="FFFFFF"/>
                </a:solidFill>
                <a:latin typeface="Poppins Semi-Bold" panose="020B0604020202020204" charset="-94"/>
              </a:rPr>
              <a:t>1. İnteraktif Simülasyonumuz</a:t>
            </a:r>
          </a:p>
        </p:txBody>
      </p:sp>
      <p:pic>
        <p:nvPicPr>
          <p:cNvPr id="26" name="Picture 25">
            <a:extLst>
              <a:ext uri="{FF2B5EF4-FFF2-40B4-BE49-F238E27FC236}">
                <a16:creationId xmlns:a16="http://schemas.microsoft.com/office/drawing/2014/main" id="{A6C0A4A7-E632-1AD8-3C94-F7EF63BC088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206500" y="4012406"/>
            <a:ext cx="4699000" cy="1233488"/>
          </a:xfrm>
          <a:prstGeom prst="rect">
            <a:avLst/>
          </a:prstGeom>
        </p:spPr>
      </p:pic>
      <p:sp>
        <p:nvSpPr>
          <p:cNvPr id="27" name="TextBox 26">
            <a:extLst>
              <a:ext uri="{FF2B5EF4-FFF2-40B4-BE49-F238E27FC236}">
                <a16:creationId xmlns:a16="http://schemas.microsoft.com/office/drawing/2014/main" id="{A0CC61B6-E9DE-A8BF-C8CF-16693E97A28A}"/>
              </a:ext>
            </a:extLst>
          </p:cNvPr>
          <p:cNvSpPr txBox="1"/>
          <p:nvPr/>
        </p:nvSpPr>
        <p:spPr>
          <a:xfrm>
            <a:off x="1206500" y="5969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Bu derse özel 6 modüllü laboratuvar!</a:t>
            </a:r>
          </a:p>
          <a:p>
            <a:r>
              <a:rPr lang="en-US" sz="1500">
                <a:solidFill>
                  <a:srgbClr val="181B21"/>
                </a:solidFill>
                <a:latin typeface="Poppins" panose="00000500000000000000" pitchFamily="2" charset="-94"/>
              </a:rPr>
              <a:t>• Ohm Yasası, Osiloskop, Mantık Kapıları, Binary, Algoritma ve Kart Seçici.</a:t>
            </a:r>
          </a:p>
        </p:txBody>
      </p:sp>
      <p:sp>
        <p:nvSpPr>
          <p:cNvPr id="28" name="Rectangle: Rounded Corners 27">
            <a:extLst>
              <a:ext uri="{FF2B5EF4-FFF2-40B4-BE49-F238E27FC236}">
                <a16:creationId xmlns:a16="http://schemas.microsoft.com/office/drawing/2014/main" id="{DAEC6EDD-D043-0339-5425-068AD0EC9F22}"/>
              </a:ext>
            </a:extLst>
          </p:cNvPr>
          <p:cNvSpPr/>
          <p:nvPr/>
        </p:nvSpPr>
        <p:spPr>
          <a:xfrm>
            <a:off x="6540500" y="2590800"/>
            <a:ext cx="5207000" cy="5613400"/>
          </a:xfrm>
          <a:prstGeom prst="roundRect">
            <a:avLst>
              <a:gd name="adj" fmla="val 6000"/>
            </a:avLst>
          </a:prstGeom>
          <a:solidFill>
            <a:srgbClr val="FFFFFF"/>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3B4E9BF-2945-28A4-A70F-2CA845B41F96}"/>
              </a:ext>
            </a:extLst>
          </p:cNvPr>
          <p:cNvSpPr/>
          <p:nvPr/>
        </p:nvSpPr>
        <p:spPr>
          <a:xfrm>
            <a:off x="6540500" y="2590800"/>
            <a:ext cx="5207000" cy="711200"/>
          </a:xfrm>
          <a:prstGeom prst="roundRect">
            <a:avLst>
              <a:gd name="adj" fmla="val 6000"/>
            </a:avLst>
          </a:prstGeom>
          <a:solidFill>
            <a:srgbClr val="ECFDF5"/>
          </a:solidFill>
          <a:ln w="1905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85A290F-ED0B-4806-DF3F-4F6CD14B43C5}"/>
              </a:ext>
            </a:extLst>
          </p:cNvPr>
          <p:cNvSpPr txBox="1"/>
          <p:nvPr/>
        </p:nvSpPr>
        <p:spPr>
          <a:xfrm>
            <a:off x="6731000" y="2743200"/>
            <a:ext cx="4826000" cy="379591"/>
          </a:xfrm>
          <a:prstGeom prst="rect">
            <a:avLst/>
          </a:prstGeom>
          <a:noFill/>
        </p:spPr>
        <p:txBody>
          <a:bodyPr vert="horz" wrap="square" lIns="76200" tIns="50800" rIns="76200" bIns="50800" rtlCol="0">
            <a:spAutoFit/>
          </a:bodyPr>
          <a:lstStyle/>
          <a:p>
            <a:pPr algn="ctr"/>
            <a:r>
              <a:rPr lang="en-US" b="1">
                <a:solidFill>
                  <a:srgbClr val="059669"/>
                </a:solidFill>
                <a:latin typeface="Poppins Semi-Bold" panose="020B0604020202020204" charset="-94"/>
              </a:rPr>
              <a:t>2. Tinkercad Circuits</a:t>
            </a:r>
          </a:p>
        </p:txBody>
      </p:sp>
      <p:pic>
        <p:nvPicPr>
          <p:cNvPr id="32" name="Picture 31">
            <a:extLst>
              <a:ext uri="{FF2B5EF4-FFF2-40B4-BE49-F238E27FC236}">
                <a16:creationId xmlns:a16="http://schemas.microsoft.com/office/drawing/2014/main" id="{DFB38A03-2AAD-AE03-D077-1C8581E7AD7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056232" y="3454400"/>
            <a:ext cx="4175536" cy="2349500"/>
          </a:xfrm>
          <a:prstGeom prst="rect">
            <a:avLst/>
          </a:prstGeom>
        </p:spPr>
      </p:pic>
      <p:sp>
        <p:nvSpPr>
          <p:cNvPr id="33" name="TextBox 32">
            <a:extLst>
              <a:ext uri="{FF2B5EF4-FFF2-40B4-BE49-F238E27FC236}">
                <a16:creationId xmlns:a16="http://schemas.microsoft.com/office/drawing/2014/main" id="{B09976A5-BE01-751E-D3B7-D3C426F0A068}"/>
              </a:ext>
            </a:extLst>
          </p:cNvPr>
          <p:cNvSpPr txBox="1"/>
          <p:nvPr/>
        </p:nvSpPr>
        <p:spPr>
          <a:xfrm>
            <a:off x="6794500" y="5969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Tarayıcıda ücretsiz çalışır.</a:t>
            </a:r>
          </a:p>
          <a:p>
            <a:r>
              <a:rPr lang="en-US" sz="1500">
                <a:solidFill>
                  <a:srgbClr val="181B21"/>
                </a:solidFill>
                <a:latin typeface="Poppins" panose="00000500000000000000" pitchFamily="2" charset="-94"/>
              </a:rPr>
              <a:t>• 3B Breadboard, LED, Sensör ve Arduino kodlama ekranı bir arada.</a:t>
            </a:r>
          </a:p>
        </p:txBody>
      </p:sp>
      <p:sp>
        <p:nvSpPr>
          <p:cNvPr id="34" name="Rectangle: Rounded Corners 33">
            <a:extLst>
              <a:ext uri="{FF2B5EF4-FFF2-40B4-BE49-F238E27FC236}">
                <a16:creationId xmlns:a16="http://schemas.microsoft.com/office/drawing/2014/main" id="{35236CE0-A11E-0B4D-14D2-414949626F96}"/>
              </a:ext>
            </a:extLst>
          </p:cNvPr>
          <p:cNvSpPr/>
          <p:nvPr/>
        </p:nvSpPr>
        <p:spPr>
          <a:xfrm>
            <a:off x="12128500" y="2590800"/>
            <a:ext cx="5207000" cy="5613400"/>
          </a:xfrm>
          <a:prstGeom prst="roundRect">
            <a:avLst>
              <a:gd name="adj" fmla="val 6000"/>
            </a:avLst>
          </a:prstGeom>
          <a:solidFill>
            <a:srgbClr val="FFFFFF"/>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C17C5E20-0EC6-14BA-09EA-6E2DB170B095}"/>
              </a:ext>
            </a:extLst>
          </p:cNvPr>
          <p:cNvSpPr/>
          <p:nvPr/>
        </p:nvSpPr>
        <p:spPr>
          <a:xfrm>
            <a:off x="12128500" y="2590800"/>
            <a:ext cx="5207000" cy="711200"/>
          </a:xfrm>
          <a:prstGeom prst="roundRect">
            <a:avLst>
              <a:gd name="adj" fmla="val 6000"/>
            </a:avLst>
          </a:prstGeom>
          <a:solidFill>
            <a:srgbClr val="FFF8E7"/>
          </a:solidFill>
          <a:ln w="190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3E6ADA4-3ECF-E723-5DC8-73372BE11B33}"/>
              </a:ext>
            </a:extLst>
          </p:cNvPr>
          <p:cNvSpPr txBox="1"/>
          <p:nvPr/>
        </p:nvSpPr>
        <p:spPr>
          <a:xfrm>
            <a:off x="12319000" y="2743200"/>
            <a:ext cx="4826000" cy="379591"/>
          </a:xfrm>
          <a:prstGeom prst="rect">
            <a:avLst/>
          </a:prstGeom>
          <a:noFill/>
        </p:spPr>
        <p:txBody>
          <a:bodyPr vert="horz" wrap="square" lIns="76200" tIns="50800" rIns="76200" bIns="50800" rtlCol="0">
            <a:spAutoFit/>
          </a:bodyPr>
          <a:lstStyle/>
          <a:p>
            <a:pPr algn="ctr"/>
            <a:r>
              <a:rPr lang="en-US" b="1">
                <a:solidFill>
                  <a:srgbClr val="D97706"/>
                </a:solidFill>
                <a:latin typeface="Poppins Semi-Bold" panose="020B0604020202020204" charset="-94"/>
              </a:rPr>
              <a:t>3. SimulIDE (Offline)</a:t>
            </a:r>
          </a:p>
        </p:txBody>
      </p:sp>
      <p:pic>
        <p:nvPicPr>
          <p:cNvPr id="38" name="Picture 37">
            <a:extLst>
              <a:ext uri="{FF2B5EF4-FFF2-40B4-BE49-F238E27FC236}">
                <a16:creationId xmlns:a16="http://schemas.microsoft.com/office/drawing/2014/main" id="{61D240F1-48B8-0F8F-7C5A-5026DE94864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2643555" y="3454400"/>
            <a:ext cx="4176889" cy="2349500"/>
          </a:xfrm>
          <a:prstGeom prst="rect">
            <a:avLst/>
          </a:prstGeom>
        </p:spPr>
      </p:pic>
      <p:sp>
        <p:nvSpPr>
          <p:cNvPr id="39" name="TextBox 38">
            <a:extLst>
              <a:ext uri="{FF2B5EF4-FFF2-40B4-BE49-F238E27FC236}">
                <a16:creationId xmlns:a16="http://schemas.microsoft.com/office/drawing/2014/main" id="{2B4E8E69-63A1-1B3B-CC22-3E5089D61E3B}"/>
              </a:ext>
            </a:extLst>
          </p:cNvPr>
          <p:cNvSpPr txBox="1"/>
          <p:nvPr/>
        </p:nvSpPr>
        <p:spPr>
          <a:xfrm>
            <a:off x="12382500" y="5969000"/>
            <a:ext cx="4699000" cy="795089"/>
          </a:xfrm>
          <a:prstGeom prst="rect">
            <a:avLst/>
          </a:prstGeom>
          <a:noFill/>
        </p:spPr>
        <p:txBody>
          <a:bodyPr vert="horz" wrap="square" lIns="76200" tIns="50800" rIns="76200" bIns="50800" rtlCol="0">
            <a:spAutoFit/>
          </a:bodyPr>
          <a:lstStyle/>
          <a:p>
            <a:r>
              <a:rPr lang="en-US" sz="1500">
                <a:solidFill>
                  <a:srgbClr val="181B21"/>
                </a:solidFill>
                <a:latin typeface="Poppins" panose="00000500000000000000" pitchFamily="2" charset="-94"/>
              </a:rPr>
              <a:t>• İnternetsiz çalışır, çok hızlıdır.</a:t>
            </a:r>
          </a:p>
          <a:p>
            <a:r>
              <a:rPr lang="en-US" sz="1500">
                <a:solidFill>
                  <a:srgbClr val="181B21"/>
                </a:solidFill>
                <a:latin typeface="Poppins" panose="00000500000000000000" pitchFamily="2" charset="-94"/>
              </a:rPr>
              <a:t>• Mantık kapıları, 7-Segment ve mikrodenetleyici devre simülatörü.</a:t>
            </a:r>
          </a:p>
        </p:txBody>
      </p:sp>
      <p:sp>
        <p:nvSpPr>
          <p:cNvPr id="40" name="Rectangle: Rounded Corners 39">
            <a:extLst>
              <a:ext uri="{FF2B5EF4-FFF2-40B4-BE49-F238E27FC236}">
                <a16:creationId xmlns:a16="http://schemas.microsoft.com/office/drawing/2014/main" id="{E55221A5-DB28-6F99-6601-B2B0485A44E8}"/>
              </a:ext>
            </a:extLst>
          </p:cNvPr>
          <p:cNvSpPr/>
          <p:nvPr/>
        </p:nvSpPr>
        <p:spPr>
          <a:xfrm>
            <a:off x="952500" y="8483600"/>
            <a:ext cx="15811500" cy="838200"/>
          </a:xfrm>
          <a:prstGeom prst="roundRect">
            <a:avLst>
              <a:gd name="adj" fmla="val 16000"/>
            </a:avLst>
          </a:prstGeom>
          <a:solidFill>
            <a:srgbClr val="E6EBF9"/>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4CCB042E-4515-B519-F5D4-B3EC7A9FEE2C}"/>
              </a:ext>
            </a:extLst>
          </p:cNvPr>
          <p:cNvSpPr/>
          <p:nvPr/>
        </p:nvSpPr>
        <p:spPr>
          <a:xfrm>
            <a:off x="1117600" y="8610600"/>
            <a:ext cx="3111500" cy="584200"/>
          </a:xfrm>
          <a:prstGeom prst="roundRect">
            <a:avLst>
              <a:gd name="adj" fmla="val 25000"/>
            </a:avLst>
          </a:prstGeom>
          <a:solidFill>
            <a:srgbClr val="0E3DC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CANLI UYGULAMA</a:t>
            </a:r>
          </a:p>
        </p:txBody>
      </p:sp>
      <p:sp>
        <p:nvSpPr>
          <p:cNvPr id="42" name="TextBox 41">
            <a:extLst>
              <a:ext uri="{FF2B5EF4-FFF2-40B4-BE49-F238E27FC236}">
                <a16:creationId xmlns:a16="http://schemas.microsoft.com/office/drawing/2014/main" id="{0FE69DF7-A556-8130-0ED5-F024FDA1B972}"/>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Şimdi Elektronik_ve_Bilgisayar_Simulasyonu.html laboratuvarımızı açıp birlikte test edelim!</a:t>
            </a:r>
          </a:p>
        </p:txBody>
      </p:sp>
    </p:spTree>
    <p:extLst>
      <p:ext uri="{BB962C8B-B14F-4D97-AF65-F5344CB8AC3E}">
        <p14:creationId xmlns:p14="http://schemas.microsoft.com/office/powerpoint/2010/main" val="3262701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D9D9D9"/>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D9D9D9"/>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D9D9D9"/>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D9D9D9"/>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D9D9D9"/>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D9D9D9"/>
              </a:solidFill>
              <a:prstDash val="solid"/>
              <a:headEnd type="none" w="sm" len="sm"/>
              <a:tailEnd type="none" w="sm" len="sm"/>
            </a:ln>
          </p:spPr>
        </p:sp>
      </p:grpSp>
      <p:sp>
        <p:nvSpPr>
          <p:cNvPr id="16" name="TextBox 16"/>
          <p:cNvSpPr txBox="1"/>
          <p:nvPr/>
        </p:nvSpPr>
        <p:spPr>
          <a:xfrm>
            <a:off x="16890999" y="9118599"/>
            <a:ext cx="698500" cy="409728"/>
          </a:xfrm>
          <a:prstGeom prst="rect">
            <a:avLst/>
          </a:prstGeom>
        </p:spPr>
        <p:txBody>
          <a:bodyPr lIns="0" tIns="0" rIns="0" bIns="0" rtlCol="0" anchor="t">
            <a:spAutoFit/>
          </a:bodyPr>
          <a:lstStyle/>
          <a:p>
            <a:pPr marL="0" lvl="0" indent="0" algn="r">
              <a:lnSpc>
                <a:spcPts val="3683"/>
              </a:lnSpc>
            </a:pPr>
            <a:r>
              <a:rPr lang="en-US" sz="1500" spc="40">
                <a:solidFill>
                  <a:srgbClr val="737373"/>
                </a:solidFill>
                <a:latin typeface="Poppins Light"/>
                <a:ea typeface="Poppins Light"/>
                <a:cs typeface="Poppins Light"/>
                <a:sym typeface="Poppins Light"/>
              </a:rPr>
              <a:t>14</a:t>
            </a:r>
          </a:p>
        </p:txBody>
      </p:sp>
      <p:sp>
        <p:nvSpPr>
          <p:cNvPr id="17" name="AutoShape 17"/>
          <p:cNvSpPr/>
          <p:nvPr/>
        </p:nvSpPr>
        <p:spPr>
          <a:xfrm flipV="1">
            <a:off x="-645424" y="1033462"/>
            <a:ext cx="18933424" cy="0"/>
          </a:xfrm>
          <a:prstGeom prst="line">
            <a:avLst/>
          </a:prstGeom>
          <a:ln w="9525" cap="flat">
            <a:solidFill>
              <a:srgbClr val="000000"/>
            </a:solidFill>
            <a:prstDash val="solid"/>
            <a:headEnd type="none" w="sm" len="sm"/>
            <a:tailEnd type="none" w="sm" len="sm"/>
          </a:ln>
        </p:spPr>
      </p:sp>
      <p:sp>
        <p:nvSpPr>
          <p:cNvPr id="18" name="TextBox 18"/>
          <p:cNvSpPr txBox="1"/>
          <p:nvPr/>
        </p:nvSpPr>
        <p:spPr>
          <a:xfrm>
            <a:off x="12446000" y="152400"/>
            <a:ext cx="4889500" cy="302006"/>
          </a:xfrm>
          <a:prstGeom prst="rect">
            <a:avLst/>
          </a:prstGeom>
        </p:spPr>
        <p:txBody>
          <a:bodyPr wrap="square" lIns="0" tIns="0" rIns="0" bIns="0" rtlCol="0" anchor="t">
            <a:spAutoFit/>
          </a:bodyPr>
          <a:lstStyle/>
          <a:p>
            <a:pPr algn="r">
              <a:lnSpc>
                <a:spcPts val="2659"/>
              </a:lnSpc>
              <a:spcBef>
                <a:spcPct val="0"/>
              </a:spcBef>
            </a:pPr>
            <a:r>
              <a:rPr lang="en-US" sz="1300">
                <a:solidFill>
                  <a:srgbClr val="000000"/>
                </a:solidFill>
                <a:latin typeface="IBM Plex Sans"/>
                <a:ea typeface="IBM Plex Sans"/>
                <a:cs typeface="IBM Plex Sans"/>
                <a:sym typeface="IBM Plex Sans"/>
              </a:rPr>
              <a:t>Eğitmen: Taha Deniz Akgül</a:t>
            </a:r>
          </a:p>
        </p:txBody>
      </p:sp>
      <p:sp>
        <p:nvSpPr>
          <p:cNvPr id="19" name="TextBox 19"/>
          <p:cNvSpPr txBox="1"/>
          <p:nvPr/>
        </p:nvSpPr>
        <p:spPr>
          <a:xfrm>
            <a:off x="12445999" y="533400"/>
            <a:ext cx="4889500" cy="298736"/>
          </a:xfrm>
          <a:prstGeom prst="rect">
            <a:avLst/>
          </a:prstGeom>
        </p:spPr>
        <p:txBody>
          <a:bodyPr wrap="square" lIns="0" tIns="0" rIns="0" bIns="0" rtlCol="0" anchor="t">
            <a:spAutoFit/>
          </a:bodyPr>
          <a:lstStyle/>
          <a:p>
            <a:pPr algn="r">
              <a:lnSpc>
                <a:spcPts val="2659"/>
              </a:lnSpc>
              <a:spcBef>
                <a:spcPct val="0"/>
              </a:spcBef>
            </a:pPr>
            <a:r>
              <a:rPr lang="en-US" sz="1200">
                <a:solidFill>
                  <a:srgbClr val="5F6978"/>
                </a:solidFill>
                <a:latin typeface="IBM Plex Sans"/>
                <a:ea typeface="IBM Plex Sans"/>
                <a:cs typeface="IBM Plex Sans"/>
                <a:sym typeface="IBM Plex Sans"/>
              </a:rPr>
              <a:t>5. Hafta  •  Deneyap Isparta</a:t>
            </a:r>
          </a:p>
        </p:txBody>
      </p:sp>
      <p:sp>
        <p:nvSpPr>
          <p:cNvPr id="20" name="TextBox 20"/>
          <p:cNvSpPr txBox="1"/>
          <p:nvPr/>
        </p:nvSpPr>
        <p:spPr>
          <a:xfrm>
            <a:off x="952500" y="330200"/>
            <a:ext cx="8636000" cy="305276"/>
          </a:xfrm>
          <a:prstGeom prst="rect">
            <a:avLst/>
          </a:prstGeom>
        </p:spPr>
        <p:txBody>
          <a:bodyPr wrap="square" lIns="0" tIns="0" rIns="0" bIns="0" rtlCol="0" anchor="t">
            <a:spAutoFit/>
          </a:bodyPr>
          <a:lstStyle/>
          <a:p>
            <a:pPr algn="ctr">
              <a:lnSpc>
                <a:spcPts val="2659"/>
              </a:lnSpc>
              <a:spcBef>
                <a:spcPct val="0"/>
              </a:spcBef>
            </a:pPr>
            <a:r>
              <a:rPr lang="en-US" sz="1400" b="1">
                <a:solidFill>
                  <a:srgbClr val="000000"/>
                </a:solidFill>
                <a:latin typeface="IBM Plex Sans"/>
                <a:ea typeface="IBM Plex Sans"/>
                <a:cs typeface="IBM Plex Sans"/>
                <a:sym typeface="IBM Plex Sans"/>
              </a:rPr>
              <a:t>Köklerden Göklere  |  Temel Elektronik, Dijital Dünya ve Algoritma</a:t>
            </a:r>
          </a:p>
        </p:txBody>
      </p:sp>
      <p:sp>
        <p:nvSpPr>
          <p:cNvPr id="14" name="Rectangle: Rounded Corners 13">
            <a:extLst>
              <a:ext uri="{FF2B5EF4-FFF2-40B4-BE49-F238E27FC236}">
                <a16:creationId xmlns:a16="http://schemas.microsoft.com/office/drawing/2014/main" id="{5999AD45-0800-5FE9-BA41-DF35D19DDB63}"/>
              </a:ext>
            </a:extLst>
          </p:cNvPr>
          <p:cNvSpPr/>
          <p:nvPr/>
        </p:nvSpPr>
        <p:spPr>
          <a:xfrm>
            <a:off x="952500" y="1193800"/>
            <a:ext cx="4318000" cy="355600"/>
          </a:xfrm>
          <a:prstGeom prst="roundRect">
            <a:avLst>
              <a:gd name="adj" fmla="val 45000"/>
            </a:avLst>
          </a:prstGeom>
          <a:solidFill>
            <a:srgbClr val="E6EBF9"/>
          </a:solidFill>
          <a:ln w="1524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b="1">
                <a:solidFill>
                  <a:srgbClr val="0E3DC6"/>
                </a:solidFill>
                <a:latin typeface="IBM Plex Sans" panose="020B0503050203000203" pitchFamily="34" charset="0"/>
              </a:rPr>
              <a:t>YOL HARİTASI  •  KÖKLERDEN GÖKLERE</a:t>
            </a:r>
          </a:p>
        </p:txBody>
      </p:sp>
      <p:sp>
        <p:nvSpPr>
          <p:cNvPr id="15" name="TextBox 14">
            <a:extLst>
              <a:ext uri="{FF2B5EF4-FFF2-40B4-BE49-F238E27FC236}">
                <a16:creationId xmlns:a16="http://schemas.microsoft.com/office/drawing/2014/main" id="{B5B57F33-C104-BCED-0E6F-933DF9A262AE}"/>
              </a:ext>
            </a:extLst>
          </p:cNvPr>
          <p:cNvSpPr txBox="1"/>
          <p:nvPr/>
        </p:nvSpPr>
        <p:spPr>
          <a:xfrm>
            <a:off x="952500" y="1574800"/>
            <a:ext cx="16383000" cy="533479"/>
          </a:xfrm>
          <a:prstGeom prst="rect">
            <a:avLst/>
          </a:prstGeom>
          <a:noFill/>
        </p:spPr>
        <p:txBody>
          <a:bodyPr vert="horz" wrap="square" lIns="76200" tIns="50800" rIns="76200" bIns="50800" rtlCol="0">
            <a:spAutoFit/>
          </a:bodyPr>
          <a:lstStyle/>
          <a:p>
            <a:r>
              <a:rPr lang="en-US" sz="2800" b="1">
                <a:solidFill>
                  <a:srgbClr val="181B21"/>
                </a:solidFill>
                <a:latin typeface="Poppins Semi-Bold" panose="020B0604020202020204" charset="-94"/>
              </a:rPr>
              <a:t>Nasıl Başlanır? İlk 3 Projeniz ve Özet</a:t>
            </a:r>
          </a:p>
        </p:txBody>
      </p:sp>
      <p:sp>
        <p:nvSpPr>
          <p:cNvPr id="21" name="TextBox 20">
            <a:extLst>
              <a:ext uri="{FF2B5EF4-FFF2-40B4-BE49-F238E27FC236}">
                <a16:creationId xmlns:a16="http://schemas.microsoft.com/office/drawing/2014/main" id="{30F63BDF-3131-C91A-1142-86AB337D537B}"/>
              </a:ext>
            </a:extLst>
          </p:cNvPr>
          <p:cNvSpPr txBox="1"/>
          <p:nvPr/>
        </p:nvSpPr>
        <p:spPr>
          <a:xfrm>
            <a:off x="952500" y="2108200"/>
            <a:ext cx="16383000" cy="325730"/>
          </a:xfrm>
          <a:prstGeom prst="rect">
            <a:avLst/>
          </a:prstGeom>
          <a:noFill/>
        </p:spPr>
        <p:txBody>
          <a:bodyPr vert="horz" wrap="square" lIns="76200" tIns="50800" rIns="76200" bIns="50800" rtlCol="0">
            <a:spAutoFit/>
          </a:bodyPr>
          <a:lstStyle/>
          <a:p>
            <a:r>
              <a:rPr lang="en-US" sz="1450">
                <a:solidFill>
                  <a:srgbClr val="5F6978"/>
                </a:solidFill>
                <a:latin typeface="Poppins" panose="00000500000000000000" pitchFamily="2" charset="-94"/>
              </a:rPr>
              <a:t>Adım Adım Kendi Başınıza Kurabileceğiniz Projeler</a:t>
            </a:r>
          </a:p>
        </p:txBody>
      </p:sp>
      <p:sp>
        <p:nvSpPr>
          <p:cNvPr id="22" name="Rectangle: Rounded Corners 21">
            <a:extLst>
              <a:ext uri="{FF2B5EF4-FFF2-40B4-BE49-F238E27FC236}">
                <a16:creationId xmlns:a16="http://schemas.microsoft.com/office/drawing/2014/main" id="{3F1B0E18-9409-5544-1A06-42BB37ACC785}"/>
              </a:ext>
            </a:extLst>
          </p:cNvPr>
          <p:cNvSpPr/>
          <p:nvPr/>
        </p:nvSpPr>
        <p:spPr>
          <a:xfrm>
            <a:off x="952500" y="2590800"/>
            <a:ext cx="9271000" cy="1727200"/>
          </a:xfrm>
          <a:prstGeom prst="roundRect">
            <a:avLst>
              <a:gd name="adj" fmla="val 6000"/>
            </a:avLst>
          </a:prstGeom>
          <a:solidFill>
            <a:srgbClr val="FFFFFF"/>
          </a:solidFill>
          <a:ln w="279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16323F22-04D1-8D39-1230-BCAA6181C74D}"/>
              </a:ext>
            </a:extLst>
          </p:cNvPr>
          <p:cNvSpPr/>
          <p:nvPr/>
        </p:nvSpPr>
        <p:spPr>
          <a:xfrm>
            <a:off x="1143000" y="2768600"/>
            <a:ext cx="5969000" cy="457200"/>
          </a:xfrm>
          <a:prstGeom prst="roundRect">
            <a:avLst>
              <a:gd name="adj" fmla="val 25000"/>
            </a:avLst>
          </a:prstGeom>
          <a:solidFill>
            <a:srgbClr val="E6EBF9"/>
          </a:solidFill>
          <a:ln w="1524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B885145-E5D7-6226-9BFF-BEC50976DF0D}"/>
              </a:ext>
            </a:extLst>
          </p:cNvPr>
          <p:cNvSpPr txBox="1"/>
          <p:nvPr/>
        </p:nvSpPr>
        <p:spPr>
          <a:xfrm>
            <a:off x="1270000" y="2819400"/>
            <a:ext cx="5715000" cy="333425"/>
          </a:xfrm>
          <a:prstGeom prst="rect">
            <a:avLst/>
          </a:prstGeom>
          <a:noFill/>
        </p:spPr>
        <p:txBody>
          <a:bodyPr vert="horz" wrap="square" lIns="76200" tIns="50800" rIns="76200" bIns="50800" rtlCol="0">
            <a:spAutoFit/>
          </a:bodyPr>
          <a:lstStyle/>
          <a:p>
            <a:r>
              <a:rPr lang="en-US" sz="1500" b="1">
                <a:solidFill>
                  <a:srgbClr val="0E3DC6"/>
                </a:solidFill>
                <a:latin typeface="Poppins Semi-Bold" panose="020B0604020202020204" charset="-94"/>
              </a:rPr>
              <a:t>1. Başlangıç: Akıllı Gece Lambası</a:t>
            </a:r>
          </a:p>
        </p:txBody>
      </p:sp>
      <p:sp>
        <p:nvSpPr>
          <p:cNvPr id="25" name="TextBox 24">
            <a:extLst>
              <a:ext uri="{FF2B5EF4-FFF2-40B4-BE49-F238E27FC236}">
                <a16:creationId xmlns:a16="http://schemas.microsoft.com/office/drawing/2014/main" id="{EAD91C98-C688-C498-A0A1-39C1F43C4990}"/>
              </a:ext>
            </a:extLst>
          </p:cNvPr>
          <p:cNvSpPr txBox="1"/>
          <p:nvPr/>
        </p:nvSpPr>
        <p:spPr>
          <a:xfrm>
            <a:off x="1143000" y="3352800"/>
            <a:ext cx="5969000" cy="548868"/>
          </a:xfrm>
          <a:prstGeom prst="rect">
            <a:avLst/>
          </a:prstGeom>
          <a:noFill/>
        </p:spPr>
        <p:txBody>
          <a:bodyPr vert="horz" wrap="square" lIns="76200" tIns="50800" rIns="76200" bIns="50800" rtlCol="0">
            <a:spAutoFit/>
          </a:bodyPr>
          <a:lstStyle/>
          <a:p>
            <a:r>
              <a:rPr lang="en-US" sz="1450">
                <a:solidFill>
                  <a:srgbClr val="181B21"/>
                </a:solidFill>
                <a:latin typeface="Poppins" panose="00000500000000000000" pitchFamily="2" charset="-94"/>
              </a:rPr>
              <a:t>LDR Işık Sensörü + Direnç + LED  ➔  Hava kararınca otomatik yanan lamba</a:t>
            </a:r>
          </a:p>
        </p:txBody>
      </p:sp>
      <p:pic>
        <p:nvPicPr>
          <p:cNvPr id="27" name="Picture 26">
            <a:extLst>
              <a:ext uri="{FF2B5EF4-FFF2-40B4-BE49-F238E27FC236}">
                <a16:creationId xmlns:a16="http://schemas.microsoft.com/office/drawing/2014/main" id="{338B4BF0-112F-AB92-BC6B-56573712E1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302500" y="2819497"/>
            <a:ext cx="2730500" cy="1269807"/>
          </a:xfrm>
          <a:prstGeom prst="rect">
            <a:avLst/>
          </a:prstGeom>
        </p:spPr>
      </p:pic>
      <p:sp>
        <p:nvSpPr>
          <p:cNvPr id="28" name="Rectangle: Rounded Corners 27">
            <a:extLst>
              <a:ext uri="{FF2B5EF4-FFF2-40B4-BE49-F238E27FC236}">
                <a16:creationId xmlns:a16="http://schemas.microsoft.com/office/drawing/2014/main" id="{1F12BBFF-3097-2921-775B-CC5D1030A400}"/>
              </a:ext>
            </a:extLst>
          </p:cNvPr>
          <p:cNvSpPr/>
          <p:nvPr/>
        </p:nvSpPr>
        <p:spPr>
          <a:xfrm>
            <a:off x="952500" y="4495800"/>
            <a:ext cx="9271000" cy="1727200"/>
          </a:xfrm>
          <a:prstGeom prst="roundRect">
            <a:avLst>
              <a:gd name="adj" fmla="val 6000"/>
            </a:avLst>
          </a:prstGeom>
          <a:solidFill>
            <a:srgbClr val="FFFFFF"/>
          </a:solidFill>
          <a:ln w="279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C1EF1EE7-55B2-AA7E-5208-BE40E5490A44}"/>
              </a:ext>
            </a:extLst>
          </p:cNvPr>
          <p:cNvSpPr/>
          <p:nvPr/>
        </p:nvSpPr>
        <p:spPr>
          <a:xfrm>
            <a:off x="1143000" y="4673600"/>
            <a:ext cx="5969000" cy="457200"/>
          </a:xfrm>
          <a:prstGeom prst="roundRect">
            <a:avLst>
              <a:gd name="adj" fmla="val 25000"/>
            </a:avLst>
          </a:prstGeom>
          <a:solidFill>
            <a:srgbClr val="ECFDF5"/>
          </a:solidFill>
          <a:ln w="1524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6C90839-5EE0-6238-87C0-5385A8B04853}"/>
              </a:ext>
            </a:extLst>
          </p:cNvPr>
          <p:cNvSpPr txBox="1"/>
          <p:nvPr/>
        </p:nvSpPr>
        <p:spPr>
          <a:xfrm>
            <a:off x="1270000" y="4724400"/>
            <a:ext cx="5715000" cy="333425"/>
          </a:xfrm>
          <a:prstGeom prst="rect">
            <a:avLst/>
          </a:prstGeom>
          <a:noFill/>
        </p:spPr>
        <p:txBody>
          <a:bodyPr vert="horz" wrap="square" lIns="76200" tIns="50800" rIns="76200" bIns="50800" rtlCol="0">
            <a:spAutoFit/>
          </a:bodyPr>
          <a:lstStyle/>
          <a:p>
            <a:r>
              <a:rPr lang="en-US" sz="1500" b="1">
                <a:solidFill>
                  <a:srgbClr val="059669"/>
                </a:solidFill>
                <a:latin typeface="Poppins Semi-Bold" panose="020B0604020202020204" charset="-94"/>
              </a:rPr>
              <a:t>2. Orta: Dijital Park Sensörü</a:t>
            </a:r>
          </a:p>
        </p:txBody>
      </p:sp>
      <p:sp>
        <p:nvSpPr>
          <p:cNvPr id="31" name="TextBox 30">
            <a:extLst>
              <a:ext uri="{FF2B5EF4-FFF2-40B4-BE49-F238E27FC236}">
                <a16:creationId xmlns:a16="http://schemas.microsoft.com/office/drawing/2014/main" id="{8C26E15B-E17D-1425-6606-5EDCF2F88198}"/>
              </a:ext>
            </a:extLst>
          </p:cNvPr>
          <p:cNvSpPr txBox="1"/>
          <p:nvPr/>
        </p:nvSpPr>
        <p:spPr>
          <a:xfrm>
            <a:off x="1143000" y="5257800"/>
            <a:ext cx="5969000" cy="548868"/>
          </a:xfrm>
          <a:prstGeom prst="rect">
            <a:avLst/>
          </a:prstGeom>
          <a:noFill/>
        </p:spPr>
        <p:txBody>
          <a:bodyPr vert="horz" wrap="square" lIns="76200" tIns="50800" rIns="76200" bIns="50800" rtlCol="0">
            <a:spAutoFit/>
          </a:bodyPr>
          <a:lstStyle/>
          <a:p>
            <a:r>
              <a:rPr lang="en-US" sz="1450">
                <a:solidFill>
                  <a:srgbClr val="181B21"/>
                </a:solidFill>
                <a:latin typeface="Poppins" panose="00000500000000000000" pitchFamily="2" charset="-94"/>
              </a:rPr>
              <a:t>Ultrasonik Mesafe Sensörü + Ekran  ➔  Engel yaklaştıkça mesafeyi ölçer</a:t>
            </a:r>
          </a:p>
        </p:txBody>
      </p:sp>
      <p:pic>
        <p:nvPicPr>
          <p:cNvPr id="33" name="Picture 32">
            <a:extLst>
              <a:ext uri="{FF2B5EF4-FFF2-40B4-BE49-F238E27FC236}">
                <a16:creationId xmlns:a16="http://schemas.microsoft.com/office/drawing/2014/main" id="{5FEE0BF2-FF68-8A42-7CDB-FEA50A02BFA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673031" y="4648200"/>
            <a:ext cx="1989438" cy="1422400"/>
          </a:xfrm>
          <a:prstGeom prst="rect">
            <a:avLst/>
          </a:prstGeom>
        </p:spPr>
      </p:pic>
      <p:sp>
        <p:nvSpPr>
          <p:cNvPr id="34" name="Rectangle: Rounded Corners 33">
            <a:extLst>
              <a:ext uri="{FF2B5EF4-FFF2-40B4-BE49-F238E27FC236}">
                <a16:creationId xmlns:a16="http://schemas.microsoft.com/office/drawing/2014/main" id="{85DB6AC0-364C-5568-8D8A-BDA5C764A042}"/>
              </a:ext>
            </a:extLst>
          </p:cNvPr>
          <p:cNvSpPr/>
          <p:nvPr/>
        </p:nvSpPr>
        <p:spPr>
          <a:xfrm>
            <a:off x="952500" y="6400800"/>
            <a:ext cx="9271000" cy="1727200"/>
          </a:xfrm>
          <a:prstGeom prst="roundRect">
            <a:avLst>
              <a:gd name="adj" fmla="val 6000"/>
            </a:avLst>
          </a:prstGeom>
          <a:solidFill>
            <a:srgbClr val="FFFFFF"/>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723B1FF2-6B85-036E-E90B-AC4F9D13FBCC}"/>
              </a:ext>
            </a:extLst>
          </p:cNvPr>
          <p:cNvSpPr/>
          <p:nvPr/>
        </p:nvSpPr>
        <p:spPr>
          <a:xfrm>
            <a:off x="1143000" y="6578600"/>
            <a:ext cx="5969000" cy="457200"/>
          </a:xfrm>
          <a:prstGeom prst="roundRect">
            <a:avLst>
              <a:gd name="adj" fmla="val 25000"/>
            </a:avLst>
          </a:prstGeom>
          <a:solidFill>
            <a:srgbClr val="FFF8E7"/>
          </a:solidFill>
          <a:ln w="152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AA4F4DA-0069-38E0-FC2A-F69B0850ED3F}"/>
              </a:ext>
            </a:extLst>
          </p:cNvPr>
          <p:cNvSpPr txBox="1"/>
          <p:nvPr/>
        </p:nvSpPr>
        <p:spPr>
          <a:xfrm>
            <a:off x="1270000" y="6629400"/>
            <a:ext cx="5715000" cy="333425"/>
          </a:xfrm>
          <a:prstGeom prst="rect">
            <a:avLst/>
          </a:prstGeom>
          <a:noFill/>
        </p:spPr>
        <p:txBody>
          <a:bodyPr vert="horz" wrap="square" lIns="76200" tIns="50800" rIns="76200" bIns="50800" rtlCol="0">
            <a:spAutoFit/>
          </a:bodyPr>
          <a:lstStyle/>
          <a:p>
            <a:r>
              <a:rPr lang="en-US" sz="1500" b="1">
                <a:solidFill>
                  <a:srgbClr val="D97706"/>
                </a:solidFill>
                <a:latin typeface="Poppins Semi-Bold" panose="020B0604020202020204" charset="-94"/>
              </a:rPr>
              <a:t>3. İleri: Otonom Güvenlik Robotu</a:t>
            </a:r>
          </a:p>
        </p:txBody>
      </p:sp>
      <p:sp>
        <p:nvSpPr>
          <p:cNvPr id="37" name="TextBox 36">
            <a:extLst>
              <a:ext uri="{FF2B5EF4-FFF2-40B4-BE49-F238E27FC236}">
                <a16:creationId xmlns:a16="http://schemas.microsoft.com/office/drawing/2014/main" id="{C0DBBF60-64D4-0FEF-A53C-4AB351F00160}"/>
              </a:ext>
            </a:extLst>
          </p:cNvPr>
          <p:cNvSpPr txBox="1"/>
          <p:nvPr/>
        </p:nvSpPr>
        <p:spPr>
          <a:xfrm>
            <a:off x="1143000" y="7162800"/>
            <a:ext cx="5969000" cy="548868"/>
          </a:xfrm>
          <a:prstGeom prst="rect">
            <a:avLst/>
          </a:prstGeom>
          <a:noFill/>
        </p:spPr>
        <p:txBody>
          <a:bodyPr vert="horz" wrap="square" lIns="76200" tIns="50800" rIns="76200" bIns="50800" rtlCol="0">
            <a:spAutoFit/>
          </a:bodyPr>
          <a:lstStyle/>
          <a:p>
            <a:r>
              <a:rPr lang="en-US" sz="1450">
                <a:solidFill>
                  <a:srgbClr val="181B21"/>
                </a:solidFill>
                <a:latin typeface="Poppins" panose="00000500000000000000" pitchFamily="2" charset="-94"/>
              </a:rPr>
              <a:t>PIR Hareket Sensörü + Buzzer + LED  ➔  Hareket algılayınca alarm verir</a:t>
            </a:r>
          </a:p>
        </p:txBody>
      </p:sp>
      <p:pic>
        <p:nvPicPr>
          <p:cNvPr id="39" name="Picture 38">
            <a:extLst>
              <a:ext uri="{FF2B5EF4-FFF2-40B4-BE49-F238E27FC236}">
                <a16:creationId xmlns:a16="http://schemas.microsoft.com/office/drawing/2014/main" id="{735E83EE-47E0-129D-8092-1C5C77180E0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551285" y="6553200"/>
            <a:ext cx="2232930" cy="1422400"/>
          </a:xfrm>
          <a:prstGeom prst="rect">
            <a:avLst/>
          </a:prstGeom>
        </p:spPr>
      </p:pic>
      <p:sp>
        <p:nvSpPr>
          <p:cNvPr id="40" name="Rectangle: Rounded Corners 39">
            <a:extLst>
              <a:ext uri="{FF2B5EF4-FFF2-40B4-BE49-F238E27FC236}">
                <a16:creationId xmlns:a16="http://schemas.microsoft.com/office/drawing/2014/main" id="{C5F12560-4A61-80AE-8ACB-3615A762553A}"/>
              </a:ext>
            </a:extLst>
          </p:cNvPr>
          <p:cNvSpPr/>
          <p:nvPr/>
        </p:nvSpPr>
        <p:spPr>
          <a:xfrm>
            <a:off x="10477500" y="2590800"/>
            <a:ext cx="6858000" cy="5537200"/>
          </a:xfrm>
          <a:prstGeom prst="roundRect">
            <a:avLst>
              <a:gd name="adj" fmla="val 6000"/>
            </a:avLst>
          </a:prstGeom>
          <a:solidFill>
            <a:srgbClr val="0A2574"/>
          </a:solidFill>
          <a:ln w="31750">
            <a:solidFill>
              <a:srgbClr val="0E3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01297F0-3864-8A44-F3A2-110441758316}"/>
              </a:ext>
            </a:extLst>
          </p:cNvPr>
          <p:cNvSpPr txBox="1"/>
          <p:nvPr/>
        </p:nvSpPr>
        <p:spPr>
          <a:xfrm>
            <a:off x="10795000" y="2794000"/>
            <a:ext cx="6223000" cy="425758"/>
          </a:xfrm>
          <a:prstGeom prst="rect">
            <a:avLst/>
          </a:prstGeom>
          <a:noFill/>
        </p:spPr>
        <p:txBody>
          <a:bodyPr vert="horz" wrap="square" lIns="76200" tIns="50800" rIns="76200" bIns="50800" rtlCol="0">
            <a:spAutoFit/>
          </a:bodyPr>
          <a:lstStyle/>
          <a:p>
            <a:r>
              <a:rPr lang="fi-FI" sz="2100" b="1">
                <a:solidFill>
                  <a:srgbClr val="FFFFFF"/>
                </a:solidFill>
                <a:latin typeface="Poppins Semi-Bold" panose="020B0604020202020204" charset="-94"/>
              </a:rPr>
              <a:t>🎯 6 Halka Zihin Haritamız</a:t>
            </a:r>
            <a:endParaRPr lang="en-US" sz="2100" b="1">
              <a:solidFill>
                <a:srgbClr val="FFFFFF"/>
              </a:solidFill>
              <a:latin typeface="Poppins Semi-Bold" panose="020B0604020202020204" charset="-94"/>
            </a:endParaRPr>
          </a:p>
        </p:txBody>
      </p:sp>
      <p:sp>
        <p:nvSpPr>
          <p:cNvPr id="42" name="TextBox 41">
            <a:extLst>
              <a:ext uri="{FF2B5EF4-FFF2-40B4-BE49-F238E27FC236}">
                <a16:creationId xmlns:a16="http://schemas.microsoft.com/office/drawing/2014/main" id="{B4DF5708-55A1-A994-F098-E573247649E1}"/>
              </a:ext>
            </a:extLst>
          </p:cNvPr>
          <p:cNvSpPr txBox="1"/>
          <p:nvPr/>
        </p:nvSpPr>
        <p:spPr>
          <a:xfrm>
            <a:off x="10795000" y="34544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1. Elektrik: Voltaj iter, Akım akar, Direnç korur.</a:t>
            </a:r>
          </a:p>
        </p:txBody>
      </p:sp>
      <p:sp>
        <p:nvSpPr>
          <p:cNvPr id="43" name="TextBox 42">
            <a:extLst>
              <a:ext uri="{FF2B5EF4-FFF2-40B4-BE49-F238E27FC236}">
                <a16:creationId xmlns:a16="http://schemas.microsoft.com/office/drawing/2014/main" id="{14512C42-FF52-3001-A290-D7B50397CF31}"/>
              </a:ext>
            </a:extLst>
          </p:cNvPr>
          <p:cNvSpPr txBox="1"/>
          <p:nvPr/>
        </p:nvSpPr>
        <p:spPr>
          <a:xfrm>
            <a:off x="10795000" y="41656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2. Analog/Dijital: Doğa analogdur, bilgisayar 0 ve 1.</a:t>
            </a:r>
          </a:p>
        </p:txBody>
      </p:sp>
      <p:sp>
        <p:nvSpPr>
          <p:cNvPr id="44" name="TextBox 43">
            <a:extLst>
              <a:ext uri="{FF2B5EF4-FFF2-40B4-BE49-F238E27FC236}">
                <a16:creationId xmlns:a16="http://schemas.microsoft.com/office/drawing/2014/main" id="{51C4CD51-D20A-62BC-8AFD-62EADF9ACD98}"/>
              </a:ext>
            </a:extLst>
          </p:cNvPr>
          <p:cNvSpPr txBox="1"/>
          <p:nvPr/>
        </p:nvSpPr>
        <p:spPr>
          <a:xfrm>
            <a:off x="10795000" y="48768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3. Transistör: Milyarlarca 0-1 anahtarı (8-4-2-1).</a:t>
            </a:r>
          </a:p>
        </p:txBody>
      </p:sp>
      <p:sp>
        <p:nvSpPr>
          <p:cNvPr id="45" name="TextBox 44">
            <a:extLst>
              <a:ext uri="{FF2B5EF4-FFF2-40B4-BE49-F238E27FC236}">
                <a16:creationId xmlns:a16="http://schemas.microsoft.com/office/drawing/2014/main" id="{CE2653FA-B94B-CEB7-A164-38A19E52B3F8}"/>
              </a:ext>
            </a:extLst>
          </p:cNvPr>
          <p:cNvSpPr txBox="1"/>
          <p:nvPr/>
        </p:nvSpPr>
        <p:spPr>
          <a:xfrm>
            <a:off x="10795000" y="55880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4. Mantık Kapıları: VE, VEYA, DEĞİL ile karar.</a:t>
            </a:r>
          </a:p>
        </p:txBody>
      </p:sp>
      <p:sp>
        <p:nvSpPr>
          <p:cNvPr id="46" name="TextBox 45">
            <a:extLst>
              <a:ext uri="{FF2B5EF4-FFF2-40B4-BE49-F238E27FC236}">
                <a16:creationId xmlns:a16="http://schemas.microsoft.com/office/drawing/2014/main" id="{1E5994E7-DD19-FE72-6F54-CBE1D998F065}"/>
              </a:ext>
            </a:extLst>
          </p:cNvPr>
          <p:cNvSpPr txBox="1"/>
          <p:nvPr/>
        </p:nvSpPr>
        <p:spPr>
          <a:xfrm>
            <a:off x="10795000" y="62992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5. Beyinler: CPU, Arduino, ESP32 ve Deneyap Kart.</a:t>
            </a:r>
          </a:p>
        </p:txBody>
      </p:sp>
      <p:sp>
        <p:nvSpPr>
          <p:cNvPr id="47" name="TextBox 46">
            <a:extLst>
              <a:ext uri="{FF2B5EF4-FFF2-40B4-BE49-F238E27FC236}">
                <a16:creationId xmlns:a16="http://schemas.microsoft.com/office/drawing/2014/main" id="{A9DB5B2B-28CC-31B5-9ACA-E90F76AAAF8A}"/>
              </a:ext>
            </a:extLst>
          </p:cNvPr>
          <p:cNvSpPr txBox="1"/>
          <p:nvPr/>
        </p:nvSpPr>
        <p:spPr>
          <a:xfrm>
            <a:off x="10795000" y="7010400"/>
            <a:ext cx="6223000" cy="333425"/>
          </a:xfrm>
          <a:prstGeom prst="rect">
            <a:avLst/>
          </a:prstGeom>
          <a:noFill/>
        </p:spPr>
        <p:txBody>
          <a:bodyPr vert="horz" wrap="square" lIns="76200" tIns="50800" rIns="76200" bIns="50800" rtlCol="0">
            <a:spAutoFit/>
          </a:bodyPr>
          <a:lstStyle/>
          <a:p>
            <a:r>
              <a:rPr lang="en-US" sz="1500" b="1">
                <a:solidFill>
                  <a:srgbClr val="E6EBF9"/>
                </a:solidFill>
                <a:latin typeface="Poppins" panose="00000500000000000000" pitchFamily="2" charset="-94"/>
              </a:rPr>
              <a:t>💻 6. Algoritma: Donanıma ruh veren çözüm planı!</a:t>
            </a:r>
          </a:p>
        </p:txBody>
      </p:sp>
      <p:sp>
        <p:nvSpPr>
          <p:cNvPr id="48" name="Rectangle: Rounded Corners 47">
            <a:extLst>
              <a:ext uri="{FF2B5EF4-FFF2-40B4-BE49-F238E27FC236}">
                <a16:creationId xmlns:a16="http://schemas.microsoft.com/office/drawing/2014/main" id="{862D0F19-A50F-8B6C-7A01-95C26B0D0E68}"/>
              </a:ext>
            </a:extLst>
          </p:cNvPr>
          <p:cNvSpPr/>
          <p:nvPr/>
        </p:nvSpPr>
        <p:spPr>
          <a:xfrm>
            <a:off x="952500" y="8483600"/>
            <a:ext cx="15811500" cy="838200"/>
          </a:xfrm>
          <a:prstGeom prst="roundRect">
            <a:avLst>
              <a:gd name="adj" fmla="val 16000"/>
            </a:avLst>
          </a:prstGeom>
          <a:solidFill>
            <a:srgbClr val="FFF8E7"/>
          </a:solidFill>
          <a:ln w="279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72305438-1028-CC01-550C-12579EEC9293}"/>
              </a:ext>
            </a:extLst>
          </p:cNvPr>
          <p:cNvSpPr/>
          <p:nvPr/>
        </p:nvSpPr>
        <p:spPr>
          <a:xfrm>
            <a:off x="1117600" y="8610600"/>
            <a:ext cx="3111500" cy="584200"/>
          </a:xfrm>
          <a:prstGeom prst="roundRect">
            <a:avLst>
              <a:gd name="adj" fmla="val 25000"/>
            </a:avLst>
          </a:prstGeom>
          <a:solidFill>
            <a:srgbClr val="D97706"/>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a:solidFill>
                  <a:srgbClr val="FFFFFF"/>
                </a:solidFill>
                <a:latin typeface="Poppins Semi-Bold" panose="020B0604020202020204" charset="-94"/>
              </a:rPr>
              <a:t>🚀 SON DÜŞÜNCE DENEYİ</a:t>
            </a:r>
          </a:p>
        </p:txBody>
      </p:sp>
      <p:sp>
        <p:nvSpPr>
          <p:cNvPr id="50" name="TextBox 49">
            <a:extLst>
              <a:ext uri="{FF2B5EF4-FFF2-40B4-BE49-F238E27FC236}">
                <a16:creationId xmlns:a16="http://schemas.microsoft.com/office/drawing/2014/main" id="{B670FD88-C1F1-8A4E-8C66-1FC552A42193}"/>
              </a:ext>
            </a:extLst>
          </p:cNvPr>
          <p:cNvSpPr txBox="1"/>
          <p:nvPr/>
        </p:nvSpPr>
        <p:spPr>
          <a:xfrm>
            <a:off x="4419600" y="8674100"/>
            <a:ext cx="12128500" cy="348813"/>
          </a:xfrm>
          <a:prstGeom prst="rect">
            <a:avLst/>
          </a:prstGeom>
          <a:noFill/>
        </p:spPr>
        <p:txBody>
          <a:bodyPr vert="horz" wrap="square" lIns="76200" tIns="50800" rIns="76200" bIns="50800" rtlCol="0">
            <a:spAutoFit/>
          </a:bodyPr>
          <a:lstStyle/>
          <a:p>
            <a:r>
              <a:rPr lang="en-US" sz="1600" b="1">
                <a:solidFill>
                  <a:srgbClr val="181B21"/>
                </a:solidFill>
                <a:latin typeface="Poppins Semi-Bold" panose="020B0604020202020204" charset="-94"/>
              </a:rPr>
              <a:t>Bugün yaktığınız 1 LED ile göklerdeki İHA'ların çalışma mantığı BİREBİR AYNIDIR!</a:t>
            </a:r>
          </a:p>
        </p:txBody>
      </p:sp>
    </p:spTree>
    <p:extLst>
      <p:ext uri="{BB962C8B-B14F-4D97-AF65-F5344CB8AC3E}">
        <p14:creationId xmlns:p14="http://schemas.microsoft.com/office/powerpoint/2010/main" val="3142038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3DC6"/>
        </a:solidFill>
        <a:effectLst/>
      </p:bgPr>
    </p:bg>
    <p:spTree>
      <p:nvGrpSpPr>
        <p:cNvPr id="1" name=""/>
        <p:cNvGrpSpPr/>
        <p:nvPr/>
      </p:nvGrpSpPr>
      <p:grpSpPr>
        <a:xfrm>
          <a:off x="0" y="0"/>
          <a:ext cx="0" cy="0"/>
          <a:chOff x="0" y="0"/>
          <a:chExt cx="0" cy="0"/>
        </a:xfrm>
      </p:grpSpPr>
      <p:sp>
        <p:nvSpPr>
          <p:cNvPr id="2" name="AutoShape 2"/>
          <p:cNvSpPr/>
          <p:nvPr/>
        </p:nvSpPr>
        <p:spPr>
          <a:xfrm>
            <a:off x="-210525" y="5138738"/>
            <a:ext cx="18709051" cy="0"/>
          </a:xfrm>
          <a:prstGeom prst="line">
            <a:avLst/>
          </a:prstGeom>
          <a:ln w="9525" cap="flat">
            <a:solidFill>
              <a:srgbClr val="4E73E1"/>
            </a:solidFill>
            <a:prstDash val="solid"/>
            <a:headEnd type="none" w="sm" len="sm"/>
            <a:tailEnd type="none" w="sm" len="sm"/>
          </a:ln>
        </p:spPr>
      </p:sp>
      <p:sp>
        <p:nvSpPr>
          <p:cNvPr id="3" name="AutoShape 3"/>
          <p:cNvSpPr/>
          <p:nvPr/>
        </p:nvSpPr>
        <p:spPr>
          <a:xfrm>
            <a:off x="-210525" y="9850647"/>
            <a:ext cx="18709051" cy="0"/>
          </a:xfrm>
          <a:prstGeom prst="line">
            <a:avLst/>
          </a:prstGeom>
          <a:ln w="9525" cap="flat">
            <a:solidFill>
              <a:srgbClr val="4E73E1"/>
            </a:solidFill>
            <a:prstDash val="solid"/>
            <a:headEnd type="none" w="sm" len="sm"/>
            <a:tailEnd type="none" w="sm" len="sm"/>
          </a:ln>
        </p:spPr>
      </p:sp>
      <p:sp>
        <p:nvSpPr>
          <p:cNvPr id="4" name="AutoShape 4"/>
          <p:cNvSpPr/>
          <p:nvPr/>
        </p:nvSpPr>
        <p:spPr>
          <a:xfrm>
            <a:off x="-210525" y="436353"/>
            <a:ext cx="18709051" cy="0"/>
          </a:xfrm>
          <a:prstGeom prst="line">
            <a:avLst/>
          </a:prstGeom>
          <a:ln w="9525" cap="flat">
            <a:solidFill>
              <a:srgbClr val="4E73E1"/>
            </a:solidFill>
            <a:prstDash val="solid"/>
            <a:headEnd type="none" w="sm" len="sm"/>
            <a:tailEnd type="none" w="sm" len="sm"/>
          </a:ln>
        </p:spPr>
      </p:sp>
      <p:grpSp>
        <p:nvGrpSpPr>
          <p:cNvPr id="5" name="Group 5"/>
          <p:cNvGrpSpPr/>
          <p:nvPr/>
        </p:nvGrpSpPr>
        <p:grpSpPr>
          <a:xfrm>
            <a:off x="1333148" y="-2672206"/>
            <a:ext cx="15631411" cy="1563141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3DC6"/>
            </a:solidFill>
            <a:ln w="9525" cap="sq">
              <a:solidFill>
                <a:srgbClr val="4E73E1"/>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999445" y="9719199"/>
            <a:ext cx="289110" cy="145735"/>
            <a:chOff x="0" y="0"/>
            <a:chExt cx="385480" cy="194313"/>
          </a:xfrm>
        </p:grpSpPr>
        <p:sp>
          <p:nvSpPr>
            <p:cNvPr id="9" name="AutoShape 9"/>
            <p:cNvSpPr/>
            <p:nvPr/>
          </p:nvSpPr>
          <p:spPr>
            <a:xfrm>
              <a:off x="0" y="181613"/>
              <a:ext cx="385480" cy="0"/>
            </a:xfrm>
            <a:prstGeom prst="line">
              <a:avLst/>
            </a:prstGeom>
            <a:ln w="12700" cap="flat">
              <a:solidFill>
                <a:srgbClr val="4E73E1"/>
              </a:solidFill>
              <a:prstDash val="solid"/>
              <a:headEnd type="none" w="sm" len="sm"/>
              <a:tailEnd type="none" w="sm" len="sm"/>
            </a:ln>
          </p:spPr>
        </p:sp>
        <p:sp>
          <p:nvSpPr>
            <p:cNvPr id="10" name="AutoShape 10"/>
            <p:cNvSpPr/>
            <p:nvPr/>
          </p:nvSpPr>
          <p:spPr>
            <a:xfrm rot="-5400000">
              <a:off x="105109" y="87632"/>
              <a:ext cx="187963" cy="0"/>
            </a:xfrm>
            <a:prstGeom prst="line">
              <a:avLst/>
            </a:prstGeom>
            <a:ln w="12700" cap="flat">
              <a:solidFill>
                <a:srgbClr val="4E73E1"/>
              </a:solidFill>
              <a:prstDash val="solid"/>
              <a:headEnd type="none" w="sm" len="sm"/>
              <a:tailEnd type="none" w="sm" len="sm"/>
            </a:ln>
          </p:spPr>
        </p:sp>
      </p:grpSp>
      <p:grpSp>
        <p:nvGrpSpPr>
          <p:cNvPr id="11" name="Group 11"/>
          <p:cNvGrpSpPr/>
          <p:nvPr/>
        </p:nvGrpSpPr>
        <p:grpSpPr>
          <a:xfrm rot="-10800000">
            <a:off x="8999445" y="436353"/>
            <a:ext cx="289110" cy="145735"/>
            <a:chOff x="0" y="0"/>
            <a:chExt cx="385480" cy="194313"/>
          </a:xfrm>
        </p:grpSpPr>
        <p:sp>
          <p:nvSpPr>
            <p:cNvPr id="12" name="AutoShape 12"/>
            <p:cNvSpPr/>
            <p:nvPr/>
          </p:nvSpPr>
          <p:spPr>
            <a:xfrm>
              <a:off x="0" y="181613"/>
              <a:ext cx="385480" cy="0"/>
            </a:xfrm>
            <a:prstGeom prst="line">
              <a:avLst/>
            </a:prstGeom>
            <a:ln w="12700" cap="flat">
              <a:solidFill>
                <a:srgbClr val="4E73E1"/>
              </a:solidFill>
              <a:prstDash val="solid"/>
              <a:headEnd type="none" w="sm" len="sm"/>
              <a:tailEnd type="none" w="sm" len="sm"/>
            </a:ln>
          </p:spPr>
        </p:sp>
        <p:sp>
          <p:nvSpPr>
            <p:cNvPr id="13" name="AutoShape 13"/>
            <p:cNvSpPr/>
            <p:nvPr/>
          </p:nvSpPr>
          <p:spPr>
            <a:xfrm rot="-5400000">
              <a:off x="105109" y="87632"/>
              <a:ext cx="187963" cy="0"/>
            </a:xfrm>
            <a:prstGeom prst="line">
              <a:avLst/>
            </a:prstGeom>
            <a:ln w="12700" cap="flat">
              <a:solidFill>
                <a:srgbClr val="4E73E1"/>
              </a:solidFill>
              <a:prstDash val="solid"/>
              <a:headEnd type="none" w="sm" len="sm"/>
              <a:tailEnd type="none" w="sm" len="sm"/>
            </a:ln>
          </p:spPr>
        </p:sp>
      </p:grpSp>
      <p:sp>
        <p:nvSpPr>
          <p:cNvPr id="14" name="TextBox 14"/>
          <p:cNvSpPr txBox="1"/>
          <p:nvPr/>
        </p:nvSpPr>
        <p:spPr>
          <a:xfrm>
            <a:off x="1904999" y="3937000"/>
            <a:ext cx="14478000" cy="1410643"/>
          </a:xfrm>
          <a:prstGeom prst="rect">
            <a:avLst/>
          </a:prstGeom>
        </p:spPr>
        <p:txBody>
          <a:bodyPr lIns="0" tIns="0" rIns="0" bIns="0" rtlCol="0" anchor="t">
            <a:spAutoFit/>
          </a:bodyPr>
          <a:lstStyle/>
          <a:p>
            <a:pPr marL="0" lvl="0" indent="0" algn="ctr">
              <a:lnSpc>
                <a:spcPts val="11032"/>
              </a:lnSpc>
            </a:pPr>
            <a:r>
              <a:rPr lang="en-US" sz="9593" b="1" spc="-172">
                <a:solidFill>
                  <a:srgbClr val="FFFFFF"/>
                </a:solidFill>
                <a:latin typeface="Poppins Semi-Bold"/>
                <a:ea typeface="Poppins Semi-Bold"/>
                <a:cs typeface="Poppins Semi-Bold"/>
                <a:sym typeface="Poppins Semi-Bold"/>
              </a:rPr>
              <a:t>Teşekkür ederiz.</a:t>
            </a:r>
          </a:p>
        </p:txBody>
      </p:sp>
      <p:sp>
        <p:nvSpPr>
          <p:cNvPr id="15" name="TextBox 15"/>
          <p:cNvSpPr txBox="1"/>
          <p:nvPr/>
        </p:nvSpPr>
        <p:spPr>
          <a:xfrm>
            <a:off x="2794000" y="1419225"/>
            <a:ext cx="12700000" cy="566477"/>
          </a:xfrm>
          <a:prstGeom prst="rect">
            <a:avLst/>
          </a:prstGeom>
        </p:spPr>
        <p:txBody>
          <a:bodyPr lIns="0" tIns="0" rIns="0" bIns="0" rtlCol="0" anchor="t">
            <a:spAutoFit/>
          </a:bodyPr>
          <a:lstStyle/>
          <a:p>
            <a:pPr marL="0" lvl="0" indent="0" algn="ctr">
              <a:lnSpc>
                <a:spcPts val="4476"/>
              </a:lnSpc>
              <a:spcBef>
                <a:spcPct val="0"/>
              </a:spcBef>
            </a:pPr>
            <a:r>
              <a:rPr lang="da-DK" sz="3197" b="1">
                <a:solidFill>
                  <a:srgbClr val="FFFFFF"/>
                </a:solidFill>
                <a:latin typeface="Poppins Medium"/>
                <a:ea typeface="Poppins Medium"/>
                <a:cs typeface="Poppins Medium"/>
                <a:sym typeface="Poppins Medium"/>
              </a:rPr>
              <a:t>Köklerden Göklere Eğitimi  •  5. Hafta</a:t>
            </a:r>
            <a:endParaRPr lang="en-US" sz="3197" b="1">
              <a:solidFill>
                <a:srgbClr val="FFFFFF"/>
              </a:solidFill>
              <a:latin typeface="Poppins Medium"/>
              <a:ea typeface="Poppins Medium"/>
              <a:cs typeface="Poppins Medium"/>
              <a:sym typeface="Poppins Medium"/>
            </a:endParaRPr>
          </a:p>
        </p:txBody>
      </p:sp>
      <p:sp>
        <p:nvSpPr>
          <p:cNvPr id="16" name="TextBox 16"/>
          <p:cNvSpPr txBox="1"/>
          <p:nvPr/>
        </p:nvSpPr>
        <p:spPr>
          <a:xfrm>
            <a:off x="9143999" y="7790321"/>
            <a:ext cx="5842000" cy="424858"/>
          </a:xfrm>
          <a:prstGeom prst="rect">
            <a:avLst/>
          </a:prstGeom>
        </p:spPr>
        <p:txBody>
          <a:bodyPr lIns="0" tIns="0" rIns="0" bIns="0" rtlCol="0" anchor="t">
            <a:spAutoFit/>
          </a:bodyPr>
          <a:lstStyle/>
          <a:p>
            <a:pPr marL="0" lvl="0" indent="0" algn="ctr">
              <a:lnSpc>
                <a:spcPts val="3357"/>
              </a:lnSpc>
              <a:spcBef>
                <a:spcPct val="0"/>
              </a:spcBef>
            </a:pPr>
            <a:r>
              <a:rPr lang="en-US" sz="2398" spc="47">
                <a:solidFill>
                  <a:srgbClr val="6A89E6"/>
                </a:solidFill>
                <a:latin typeface="Poppins"/>
                <a:ea typeface="Poppins"/>
                <a:cs typeface="Poppins"/>
                <a:sym typeface="Poppins"/>
              </a:rPr>
              <a:t>Kurum / Görev</a:t>
            </a:r>
          </a:p>
        </p:txBody>
      </p:sp>
      <p:sp>
        <p:nvSpPr>
          <p:cNvPr id="17" name="TextBox 17"/>
          <p:cNvSpPr txBox="1"/>
          <p:nvPr/>
        </p:nvSpPr>
        <p:spPr>
          <a:xfrm>
            <a:off x="3936999" y="7790321"/>
            <a:ext cx="4826000" cy="424858"/>
          </a:xfrm>
          <a:prstGeom prst="rect">
            <a:avLst/>
          </a:prstGeom>
        </p:spPr>
        <p:txBody>
          <a:bodyPr lIns="0" tIns="0" rIns="0" bIns="0" rtlCol="0" anchor="t">
            <a:spAutoFit/>
          </a:bodyPr>
          <a:lstStyle/>
          <a:p>
            <a:pPr marL="0" lvl="0" indent="0" algn="ctr">
              <a:lnSpc>
                <a:spcPts val="3357"/>
              </a:lnSpc>
              <a:spcBef>
                <a:spcPct val="0"/>
              </a:spcBef>
            </a:pPr>
            <a:r>
              <a:rPr lang="en-US" sz="2398" spc="47">
                <a:solidFill>
                  <a:srgbClr val="6A89E6"/>
                </a:solidFill>
                <a:latin typeface="Poppins"/>
                <a:ea typeface="Poppins"/>
                <a:cs typeface="Poppins"/>
                <a:sym typeface="Poppins"/>
              </a:rPr>
              <a:t>Eğitmen</a:t>
            </a:r>
          </a:p>
        </p:txBody>
      </p:sp>
      <p:sp>
        <p:nvSpPr>
          <p:cNvPr id="18" name="TextBox 18"/>
          <p:cNvSpPr txBox="1"/>
          <p:nvPr/>
        </p:nvSpPr>
        <p:spPr>
          <a:xfrm>
            <a:off x="9143999" y="8224318"/>
            <a:ext cx="5842000" cy="511807"/>
          </a:xfrm>
          <a:prstGeom prst="rect">
            <a:avLst/>
          </a:prstGeom>
        </p:spPr>
        <p:txBody>
          <a:bodyPr lIns="0" tIns="0" rIns="0" bIns="0" rtlCol="0" anchor="t">
            <a:spAutoFit/>
          </a:bodyPr>
          <a:lstStyle/>
          <a:p>
            <a:pPr marL="0" lvl="0" indent="0" algn="ctr">
              <a:lnSpc>
                <a:spcPts val="4476"/>
              </a:lnSpc>
              <a:spcBef>
                <a:spcPct val="0"/>
              </a:spcBef>
            </a:pPr>
            <a:r>
              <a:rPr lang="en-US" sz="2200" spc="63">
                <a:solidFill>
                  <a:srgbClr val="FFFFFF"/>
                </a:solidFill>
                <a:latin typeface="Poppins"/>
                <a:ea typeface="Poppins"/>
                <a:cs typeface="Poppins"/>
                <a:sym typeface="Poppins"/>
              </a:rPr>
              <a:t>Deneyap Isparta Eğitmen Mentor</a:t>
            </a:r>
          </a:p>
        </p:txBody>
      </p:sp>
      <p:sp>
        <p:nvSpPr>
          <p:cNvPr id="19" name="TextBox 19"/>
          <p:cNvSpPr txBox="1"/>
          <p:nvPr/>
        </p:nvSpPr>
        <p:spPr>
          <a:xfrm>
            <a:off x="3936999" y="8224318"/>
            <a:ext cx="4826000" cy="511807"/>
          </a:xfrm>
          <a:prstGeom prst="rect">
            <a:avLst/>
          </a:prstGeom>
        </p:spPr>
        <p:txBody>
          <a:bodyPr lIns="0" tIns="0" rIns="0" bIns="0" rtlCol="0" anchor="t">
            <a:spAutoFit/>
          </a:bodyPr>
          <a:lstStyle/>
          <a:p>
            <a:pPr marL="0" lvl="0" indent="0" algn="ctr">
              <a:lnSpc>
                <a:spcPts val="4476"/>
              </a:lnSpc>
              <a:spcBef>
                <a:spcPct val="0"/>
              </a:spcBef>
            </a:pPr>
            <a:r>
              <a:rPr lang="en-US" sz="2200" spc="63">
                <a:solidFill>
                  <a:srgbClr val="FFFFFF"/>
                </a:solidFill>
                <a:latin typeface="Poppins"/>
                <a:ea typeface="Poppins"/>
                <a:cs typeface="Poppins"/>
                <a:sym typeface="Poppins"/>
              </a:rPr>
              <a:t>Taha Deniz Akgül</a:t>
            </a:r>
          </a:p>
        </p:txBody>
      </p:sp>
      <p:sp>
        <p:nvSpPr>
          <p:cNvPr id="20" name="Rectangle: Rounded Corners 19">
            <a:extLst>
              <a:ext uri="{FF2B5EF4-FFF2-40B4-BE49-F238E27FC236}">
                <a16:creationId xmlns:a16="http://schemas.microsoft.com/office/drawing/2014/main" id="{57016374-373B-A72D-B7F9-DA7D353B9996}"/>
              </a:ext>
            </a:extLst>
          </p:cNvPr>
          <p:cNvSpPr/>
          <p:nvPr/>
        </p:nvSpPr>
        <p:spPr>
          <a:xfrm>
            <a:off x="2794000" y="6032500"/>
            <a:ext cx="12700000" cy="990600"/>
          </a:xfrm>
          <a:prstGeom prst="roundRect">
            <a:avLst>
              <a:gd name="adj" fmla="val 30000"/>
            </a:avLst>
          </a:prstGeom>
          <a:solidFill>
            <a:srgbClr val="0A2574"/>
          </a:solidFill>
          <a:ln w="19050">
            <a:solidFill>
              <a:srgbClr val="4E7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Poppins" panose="00000500000000000000" pitchFamily="2" charset="-94"/>
              </a:rPr>
              <a:t>'Bir elektronun hareketiyle başlayan yolculuk, sizin kuracağınız algoritmalarla göklere ulaşacak!'</a:t>
            </a:r>
          </a:p>
          <a:p>
            <a:pPr algn="ctr"/>
            <a:r>
              <a:rPr lang="en-US" sz="1600" b="1">
                <a:solidFill>
                  <a:srgbClr val="FFFFFF"/>
                </a:solidFill>
                <a:latin typeface="Poppins" panose="00000500000000000000" pitchFamily="2" charset="-94"/>
              </a:rPr>
              <a:t>Soru &amp; Cevap  •  Uygulama Atölyesi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6580</Words>
  <Application>Microsoft Office PowerPoint</Application>
  <PresentationFormat>Custom</PresentationFormat>
  <Paragraphs>545</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Poppins Semi-Bold</vt:lpstr>
      <vt:lpstr>IBM Plex Sans</vt:lpstr>
      <vt:lpstr>Poppins Medium</vt:lpstr>
      <vt:lpstr>Calibri</vt:lpstr>
      <vt:lpstr>Poppins Light</vt:lpstr>
      <vt:lpstr>Poppins</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Paragraf metniniz</dc:title>
  <cp:lastModifiedBy>taha deniz akgul</cp:lastModifiedBy>
  <cp:revision>2</cp:revision>
  <dcterms:created xsi:type="dcterms:W3CDTF">2006-08-16T00:00:00Z</dcterms:created>
  <dcterms:modified xsi:type="dcterms:W3CDTF">2026-10-18T14:11:16Z</dcterms:modified>
  <dc:identifier>DAHUy2ZNA3k</dc:identifier>
</cp:coreProperties>
</file>